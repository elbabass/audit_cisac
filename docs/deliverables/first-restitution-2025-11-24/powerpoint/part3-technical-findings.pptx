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dive into the technical details. Starting with architecture.</a:t>
            </a:r>
          </a:p>
          <a:p/>
          <a:p>
            <a:r>
              <a:t>We documented the complete C4 model - four levels from system context down to component internals. What you see here is the highest level: how the ISWC platform fits into CISAC's ecosystem.</a:t>
            </a:r>
          </a:p>
          <a:p/>
          <a:p>
            <a:r>
              <a:t>**Key architectural strengths:**</a:t>
            </a:r>
          </a:p>
          <a:p/>
          <a:p>
            <a:r>
              <a:t>1. **Clean separation of concerns** - UI layer (React portals), API layer (.NET 8 services), processing layer (Databricks + Functions), data layer (SQL + Cosmos + Storage). Each layer has clear responsibilities.</a:t>
            </a:r>
          </a:p>
          <a:p/>
          <a:p>
            <a:r>
              <a:t>2. **Matching Engine physical separation** - This was one of our key concerns going into the audit. Is the Matching Engine embedded code or properly separated? Answer: **Properly separated.** The integration is via REST API only, with clean interface abstraction (`IMatchingEngineMatchingService.cs`).</a:t>
            </a:r>
          </a:p>
          <a:p/>
          <a:p>
            <a:r>
              <a:t>   </a:t>
            </a:r>
          </a:p>
          <a:p/>
          <a:p>
            <a:r>
              <a:t>   This means replacing the Matching Engine is _technically_ feasible (though strategically complex).</a:t>
            </a:r>
          </a:p>
          <a:p/>
          <a:p>
            <a:r>
              <a:t>3. **Databricks asynchronous only** - We worried Databricks might be in the critical path for front-end performance. Clarified in the November 5 workshop: Databricks handles ONLY asynchronous file processing (SFTP uploads) and reporting. Front-end APIs don't wait for Databricks.</a:t>
            </a:r>
          </a:p>
          <a:p/>
          <a:p>
            <a:r>
              <a:t>   </a:t>
            </a:r>
          </a:p>
          <a:p/>
          <a:p>
            <a:r>
              <a:t>4. **Azure-native patterns** - API Management as gateway, Application Insights for monitoring, Key Vault for secrets, managed identities where possible. This follows Microsoft best practices.</a:t>
            </a:r>
          </a:p>
          <a:p/>
          <a:p>
            <a:r>
              <a:t>**The architecture is sound. No fundamental redesign needed.**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got access to the .NET 8 source code on November 4, our first task was a code quality assessment.</a:t>
            </a:r>
          </a:p>
          <a:p/>
          <a:p>
            <a:r>
              <a:t>**The good:**</a:t>
            </a:r>
          </a:p>
          <a:p/>
          <a:p>
            <a:r>
              <a:t>The codebase is well-structured. It's not spaghetti code. It's not a mess. Projects are logically organized. The separation between Controllers (HTTP endpoints), Services (business logic), and Repositories (data access) is clear. Dependency injection is used correctly. Interface abstractions enable testing and swapping implementations.</a:t>
            </a:r>
          </a:p>
          <a:p/>
          <a:p>
            <a:r>
              <a:t>Modern .NET 8 patterns are used - async/await for non-blocking operations, Entity Framework Core 8.0 for data access. This is competent, professional code.</a:t>
            </a:r>
          </a:p>
          <a:p/>
          <a:p>
            <a:r>
              <a:t>**The concerns:**</a:t>
            </a:r>
          </a:p>
          <a:p/>
          <a:p>
            <a:r>
              <a:t>1. **Minimal code comments** - Business logic is not documented in the code itself. You can read the code and understand _what_ it does, but understanding _why_ it does it requires external context. This knowledge is "locked in people's heads" as Guillaume put it.</a:t>
            </a:r>
          </a:p>
          <a:p/>
          <a:p>
            <a:r>
              <a:t>2. **Significant code duplication** - We found repeated patterns across modules. Copy-paste-modify appears to be common. This is a maintainability risk - bug fixes must be replicated in multiple places, and it's easy to miss one.</a:t>
            </a:r>
          </a:p>
          <a:p/>
          <a:p>
            <a:r>
              <a:t>3. **No onboarding process** - There's no "README for developers," no "how to contribute" guide, no onboarding checklist. Spanish Point themselves warned us that the code "has its own life cycles" and "many developers touched it and modified it."</a:t>
            </a:r>
          </a:p>
          <a:p/>
          <a:p>
            <a:r>
              <a:t>   </a:t>
            </a:r>
          </a:p>
          <a:p/>
          <a:p>
            <a:r>
              <a:t>4. **High implicit knowledge** - To make even small changes, you need to understand how components interact. Spanish Point said setting up a local development environment wasn't feasible within our audit timeframe. Dependencies are "tentacular."</a:t>
            </a:r>
          </a:p>
          <a:p/>
          <a:p>
            <a:r>
              <a:t>**Our October 30 assessment: "Even for them, onboarding new developers must be hard."**</a:t>
            </a:r>
          </a:p>
          <a:p/>
          <a:p>
            <a:r>
              <a:t>This is the source of our "knowledge transfer viability unknown" critical finding. The code quality is acceptable for the current team. But can a new team take over? Unproven.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debt tells an interesting story.</a:t>
            </a:r>
          </a:p>
          <a:p/>
          <a:p>
            <a:r>
              <a:t>**The wins (recently addressed):**</a:t>
            </a:r>
          </a:p>
          <a:p/>
          <a:p>
            <a:r>
              <a:t>Spanish Point upgraded the entire platform from .NET 3.1 to .NET 8 just before our audit started (delivered November 4). This is significant. .NET 3.1 went end-of-life in December 2022 - it's been unsupported for nearly 3 years. Security vulnerabilities were accumulating.</a:t>
            </a:r>
          </a:p>
          <a:p/>
          <a:p>
            <a:r>
              <a:t>Yann mentioned in our October 21 discussion that Spanish Point initially wanted to charge separately for this upgrade. His position: "If maintenance doesn't cover framework upgrades, I don't know what to say."</a:t>
            </a:r>
          </a:p>
          <a:p/>
          <a:p>
            <a:r>
              <a:t>Eventually they did the upgrade (presumably included in maintenance after all). React, TypeScript, Entity Framework all modernized. Outdated packages from 2019-2020 updated. This addresses a major technical debt item.</a:t>
            </a:r>
          </a:p>
          <a:p/>
          <a:p>
            <a:r>
              <a:t>**The medium priorities:**</a:t>
            </a:r>
          </a:p>
          <a:p/>
          <a:p>
            <a:r>
              <a:t>.NET 8 support ends November 2026 - only 2 years away. This means another upgrade cycle soon. We recommend considering .NET 9 or 10 for longer support windows (3-year LTS cycles).</a:t>
            </a:r>
          </a:p>
          <a:p/>
          <a:p>
            <a:r>
              <a:t>Code duplication should be refactored gradually over 6-12 months. Not urgent, but will improve maintainability.</a:t>
            </a:r>
          </a:p>
          <a:p/>
          <a:p>
            <a:r>
              <a:t>Documentation drift is ongoing - specifications from 2019-2020 may not match current implementation. However, when we used LLM-assisted reconciliation against the .NET 3.1 code, we found minimal drift. This suggests the system hasn't evolved much since launch, which has pros and cons.</a:t>
            </a:r>
          </a:p>
          <a:p/>
          <a:p>
            <a:r>
              <a:t>**The urgent items:**</a:t>
            </a:r>
          </a:p>
          <a:p/>
          <a:p>
            <a:r>
              <a:t>1. **Databricks 10.4 LTS outdated** - Yann mentioned in October 21 discussion that Databricks is "several versions behind" and they're missing modern AI features.</a:t>
            </a:r>
          </a:p>
          <a:p/>
          <a:p>
            <a:r>
              <a:t>   </a:t>
            </a:r>
          </a:p>
          <a:p/>
          <a:p>
            <a:r>
              <a:t>   We don't know the security implications or upgrade path complexity. This should be prioritized.</a:t>
            </a:r>
          </a:p>
          <a:p/>
          <a:p>
            <a:r>
              <a:t>2. **Pipeline test runner blocked** - Post-.NET 8 upgrade, the automated test runner in the CI/CD pipeline is blocked. Spanish Point logged a bug. Current workaround: tests run locally and pass, but the automated gate is disabled.</a:t>
            </a:r>
          </a:p>
          <a:p/>
          <a:p>
            <a:r>
              <a:t>   </a:t>
            </a:r>
          </a:p>
          <a:p/>
          <a:p>
            <a:r>
              <a:t>   This removes a critical safety net. Needs urgent fix.</a:t>
            </a:r>
          </a:p>
          <a:p/>
          <a:p>
            <a:r>
              <a:t>3. **Test stability** - Some integration tests are brittle (timeouts, networking issues). The team is aware and mitigating, but there's a risk that test failures become "normal background noise" and mask real problems.</a:t>
            </a:r>
          </a:p>
          <a:p/>
          <a:p>
            <a:r>
              <a:t>**Discussion Prompt:** Is the Databricks upgrade already planned, or should we prioritize this?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Infrastructure and DevOps show a mixed picture: excellent automation, but a critical lock-in gap.</a:t>
            </a:r>
          </a:p>
          <a:p/>
          <a:p>
            <a:r>
              <a:t>**The positives:**</a:t>
            </a:r>
          </a:p>
          <a:p/>
          <a:p>
            <a:r>
              <a:t>The CI/CD pipeline is mature. Fully automated build, test, deploy - zero manual steps. 700+ tests run on every pipeline execution. Multi-stage deployment with approval gates for UAT and Production. Fast (20-30 minutes end-to-end).</a:t>
            </a:r>
          </a:p>
          <a:p/>
          <a:p>
            <a:r>
              <a:t>This is professional DevOps. Changes can be deployed quickly and safely. The automation reduces human error.</a:t>
            </a:r>
          </a:p>
          <a:p/>
          <a:p>
            <a:r>
              <a:t>Azure infrastructure is comprehensive - 343 resources deployed across 4 environments. We inventoried everything: App Services, databases, data processing, storage, networking, management services.</a:t>
            </a:r>
          </a:p>
          <a:p/>
          <a:p>
            <a:r>
              <a:t>**The critical gap:**</a:t>
            </a:r>
          </a:p>
          <a:p/>
          <a:p>
            <a:r>
              <a:t>The infrastructure-as-code templates and CI/CD pipeline definitions are **NOT included in the source code delivery.**</a:t>
            </a:r>
          </a:p>
          <a:p/>
          <a:p>
            <a:r>
              <a:t>In our November 5 workshop, when we asked about IaC access, Spanish Point's position was clear: these are part of their proprietary "Smart AIM library." They have a licensing program for third-party vendors who need access.</a:t>
            </a:r>
          </a:p>
          <a:p/>
          <a:p>
            <a:r>
              <a:t>This creates a vendor lock-in. If CISAC switches to a new vendor, that vendor must either:</a:t>
            </a:r>
          </a:p>
          <a:p/>
          <a:p>
            <a:r>
              <a:t>1. **Rebuild IaC from scratch** - Reverse-engineer 343 Azure resources from the portal or export templates. Estimated 1-2 months effort. Error-prone (configuration drift, missing dependencies).</a:t>
            </a:r>
          </a:p>
          <a:p/>
          <a:p>
            <a:r>
              <a:t>2. **License the Smart AIM library** - Pay Spanish Point for access to their IaC templates. Cost unknown. Creates ongoing dependency even after vendor switch.</a:t>
            </a:r>
          </a:p>
          <a:p/>
          <a:p>
            <a:r>
              <a:t>**This is unacceptable for vendor independence.**</a:t>
            </a:r>
          </a:p>
          <a:p/>
          <a:p>
            <a:r>
              <a:t>Compare this to the environment replication cost issue Yann described in our October 21 discussion:</a:t>
            </a:r>
          </a:p>
          <a:p/>
          <a:p>
            <a:r>
              <a:t>&gt; "You can't ask me for an environment size extension, 20 days of work... Normally it's done in two hours or half a day."</a:t>
            </a:r>
          </a:p>
          <a:p/>
          <a:p>
            <a:r>
              <a:t>If IaC were properly automated and included in deliverables, environment replication should be 0.5 days, not 20 days. The fact that Spanish Point quotes 20 person-days suggests their IaC automation has gaps OR they're pricing as custom work rather than executing existing scripts.</a:t>
            </a:r>
          </a:p>
          <a:p/>
          <a:p>
            <a:r>
              <a:t>**Recommendation:** Negotiate IaC template inclusion in source code delivery as part of contract renegotiation. This should be standard deliverable, not proprietary asset.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is where we have mixed data. Spanish Point claims the system performs well. Our analysis suggests they're mostly right, but there are gaps in visibility.</a:t>
            </a:r>
          </a:p>
          <a:p/>
          <a:p>
            <a:r>
              <a:t>**Historical performance:**</a:t>
            </a:r>
          </a:p>
          <a:p/>
          <a:p>
            <a:r>
              <a:t>Spanish Point states no significant performance issues in the past year. The one exception: ISWCs with 8,000+ works in a single submission caused SQL exceptions. They've proposed pagination as a solution.</a:t>
            </a:r>
          </a:p>
          <a:p/>
          <a:p>
            <a:r>
              <a:t>Monitoring is configured - Azure Monitor with CPU &gt;80% alerts, Application Insights for tracing. But there are no formal performance SLAs, only incident response time commitments. No proactive dashboards showing business KPIs like "submission success rate" or "validation failure rate."</a:t>
            </a:r>
          </a:p>
          <a:p/>
          <a:p>
            <a:r>
              <a:t>**Auto-scaling evidence:**</a:t>
            </a:r>
          </a:p>
          <a:p/>
          <a:p>
            <a:r>
              <a:t>The monthly cost variations are actually PROOF that auto-scaling is working correctly. Costs drop in December (low usage), peak in February (high usage). If resources were fixed-size, costs would be constant.</a:t>
            </a:r>
          </a:p>
          <a:p/>
          <a:p>
            <a:r>
              <a:t>Spanish Point's Xiyuan explained: "The environment is autoscale... cost is never fixed, it's all based on the amount of workload."</a:t>
            </a:r>
          </a:p>
          <a:p/>
          <a:p>
            <a:r>
              <a:t>**Key clarifications from workshops:**</a:t>
            </a:r>
          </a:p>
          <a:p/>
          <a:p>
            <a:r>
              <a:t>1. **Databricks is NOT a bottleneck** - We initially worried Databricks might block front-end performance. Clarified: it's only used for asynchronous SFTP file processing and reporting. Front-end APIs don't wait for it.</a:t>
            </a:r>
          </a:p>
          <a:p/>
          <a:p>
            <a:r>
              <a:t>2. **Cosmos DB is NOT a query bottleneck** - Primary use is audit tracking (append-only logs). Reporting queries run against Delta Lake in Databricks (replicated every 20 minutes via change feed), not directly against Cosmos DB.</a:t>
            </a:r>
          </a:p>
          <a:p/>
          <a:p>
            <a:r>
              <a:t>**Performance concerns to investigate:**</a:t>
            </a:r>
          </a:p>
          <a:p/>
          <a:p>
            <a:r>
              <a:t>1. **ISWC API rate limiting** - Yann mentioned in our October 30 meeting that the API is "limited to 3 to 5 requests per second - that's not much." This wasn't confirmed in our November 5 workshop. We need to validate with Moïse (CISAC's technical expert with operational experience). If true, this could be a bottleneck for high-volume agency integrations.</a:t>
            </a:r>
          </a:p>
          <a:p/>
          <a:p>
            <a:r>
              <a:t>   </a:t>
            </a:r>
          </a:p>
          <a:p/>
          <a:p>
            <a:r>
              <a:t>2. **Synchronous Matching Engine calls** - Our code analysis found the Matching Engine integration uses synchronous HTTP calls (blocking). This means submission API calls wait for matching to complete before responding. For large submissions (10+ works), this could cause timeouts or poor user experience.</a:t>
            </a:r>
          </a:p>
          <a:p/>
          <a:p>
            <a:r>
              <a:t>   </a:t>
            </a:r>
          </a:p>
          <a:p/>
          <a:p>
            <a:r>
              <a:t>   Alternative: A queue-based async pattern (submit works → return immediately → matching happens in background → webhook/polling for results) would decouple submission from matching performance.</a:t>
            </a:r>
          </a:p>
          <a:p/>
          <a:p>
            <a:r>
              <a:t>**Overall assessment:** Performance appears adequate for current usage. The architecture can scale. But visibility is limited - we're relying on Spanish Point's claims rather than objective metrics shared proactively with CISAC.</a:t>
            </a:r>
          </a:p>
          <a:p/>
          <a:p>
            <a:r>
              <a:t>**Discussion Prompt:** What performance issues do CISAC staff or agencies complain about? Moïse's operational experience would provide valuable validation.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 is where governance gaps become financially tangible. €600,000 per year is being spent without adequate visibility.</a:t>
            </a:r>
          </a:p>
          <a:p/>
          <a:p>
            <a:r>
              <a:t>**Cost breakdown:**</a:t>
            </a:r>
          </a:p>
          <a:p/>
          <a:p>
            <a:r>
              <a:t>We analyzed the Azure Costs spreadsheet (October 2024 - October 2025) and workshop discussions. The primary drivers are:</a:t>
            </a:r>
          </a:p>
          <a:p/>
          <a:p>
            <a:r>
              <a:t>1. **Cosmos DB** - Largest portion. Used primarily for audit tracking (append-only logs). Auto-scaling RU/s varies with usage. This is expensive for an audit-only use case - we'll discuss optimization opportunities.</a:t>
            </a:r>
          </a:p>
          <a:p/>
          <a:p>
            <a:r>
              <a:t>2. **SQL Server** - Business Critical tier, fixed provisioned capacity. This is the target of the Hyperscale proposal (potential €3,300/month savings).</a:t>
            </a:r>
          </a:p>
          <a:p/>
          <a:p>
            <a:r>
              <a:t>3. **Databricks** - Usage-based, cluster runtime costs. Auto-scaling enabled.</a:t>
            </a:r>
          </a:p>
          <a:p/>
          <a:p>
            <a:r>
              <a:t>4. **Data Factory** - Pipeline orchestration, activity runs.</a:t>
            </a:r>
          </a:p>
          <a:p/>
          <a:p>
            <a:r>
              <a:t>5. **App Services** - APIs and portals, auto-scaling 2-8 instances.</a:t>
            </a:r>
          </a:p>
          <a:p/>
          <a:p>
            <a:r>
              <a:t>**Cost variation patterns:**</a:t>
            </a:r>
          </a:p>
          <a:p/>
          <a:p>
            <a:r>
              <a:t>We observed ±10% month-to-month variation. For example, February 2025 peaked about 10% above baseline. In our November 6 workshop, we showed this chart to Spanish Point and asked for explanation.</a:t>
            </a:r>
          </a:p>
          <a:p/>
          <a:p>
            <a:r>
              <a:t>Xiyuan's response: this is expected because the environment auto-scales. Cost is never fixed - it's based on workload. December drops (holiday period, lower usage), February peaks (higher agency submissions).</a:t>
            </a:r>
          </a:p>
          <a:p/>
          <a:p>
            <a:r>
              <a:t>**This is actually evidence that auto-scaling is WORKING CORRECTLY.** CISAC pays less when usage is lower. This is a feature, not inefficiency.</a:t>
            </a:r>
          </a:p>
          <a:p/>
          <a:p>
            <a:r>
              <a:t>**The critical gap: No correlation tooling**</a:t>
            </a:r>
          </a:p>
          <a:p/>
          <a:p>
            <a:r>
              <a:t>Here's where it becomes a problem. When we asked Spanish Point: "Is there somewhere on your side or CISAC's side, something that can summarize usage and correlate with costs in order to automate this?"</a:t>
            </a:r>
          </a:p>
          <a:p/>
          <a:p>
            <a:r>
              <a:t>Xiyuan's answer: "Not really... There's no tooling going to [correlate] causes because the system has so many components."</a:t>
            </a:r>
          </a:p>
          <a:p/>
          <a:p>
            <a:r>
              <a:t>The current process:</a:t>
            </a:r>
          </a:p>
          <a:p/>
          <a:p>
            <a:r>
              <a:t>- Cost spikes require manual support ticket investigation</a:t>
            </a:r>
          </a:p>
          <a:p>
            <a:r>
              <a:t>- Spanish Point can dig into specific months if asked</a:t>
            </a:r>
          </a:p>
          <a:p>
            <a:r>
              <a:t>- Logs are kept only 3 months</a:t>
            </a:r>
          </a:p>
          <a:p>
            <a:r>
              <a:t>- No proactive cost monitoring</a:t>
            </a:r>
          </a:p>
          <a:p>
            <a:r>
              <a:t>- No automated dashboard showing "API calls up 15% → Cosmos DB scaled up → €5K additional spend"</a:t>
            </a:r>
          </a:p>
          <a:p/>
          <a:p>
            <a:r>
              <a:t>**Impact on CISAC:**</a:t>
            </a:r>
          </a:p>
          <a:p/>
          <a:p>
            <a:r>
              <a:t>Financial stakeholders cannot explain to leadership why costs went up 10% in February. There's no way to forecast spending based on expected usage patterns (e.g., "If we onboard 10 new agencies, costs will increase by X%"). Cost optimization opportunities are invisible.</a:t>
            </a:r>
          </a:p>
          <a:p/>
          <a:p>
            <a:r>
              <a:t>This is a **governance failure**. €600K/year spending requires transparency and control.</a:t>
            </a:r>
          </a:p>
          <a:p/>
          <a:p>
            <a:r>
              <a:t>**"Noisy neighbor" acknowledgment:**</a:t>
            </a:r>
          </a:p>
          <a:p/>
          <a:p>
            <a:r>
              <a:t>We raised the concept of cost allocation per agency. Xiyuan acknowledged: "You are absolutely correct. There can be a term called noisy neighbor... That agency or very few model agencies use the system the most. I think that's actually the case."</a:t>
            </a:r>
          </a:p>
          <a:p/>
          <a:p>
            <a:r>
              <a:t>So Spanish Point knows that some agencies drive the majority of costs, but no allocation model exists. All agencies pay flat-rate pricing regardless of whether they submit 100 works/month or 10,000 works/month.</a:t>
            </a:r>
          </a:p>
          <a:p/>
          <a:p>
            <a:r>
              <a:t>CISAC could potentially implement usage-based pricing per agency, but this requires Spanish Point to develop correlation tooling, or CISAC to build it themselves.</a:t>
            </a:r>
          </a:p>
          <a:p/>
          <a:p>
            <a:r>
              <a:t>**Recommendations for cost control:**</a:t>
            </a:r>
          </a:p>
          <a:p/>
          <a:p>
            <a:r>
              <a:t>1. **Implement cost correlation tooling** (high priority) - Either Spanish Point develops it, or CISAC builds using API Management analytics + Azure Cost Management APIs. Estimated 2-3 months development, €10-20K.</a:t>
            </a:r>
          </a:p>
          <a:p/>
          <a:p>
            <a:r>
              <a:t>2. **Reserved instances strategy** - SQL Server already has reservation ✅. Cosmos DB could benefit if workload is stable (Spanish Point recommendation). Databricks should NOT be reserved (only 4-6% savings, risky with variable usage).</a:t>
            </a:r>
          </a:p>
          <a:p/>
          <a:p>
            <a:r>
              <a:t>3. **Cosmos DB archive policy** - Old audit logs (90+ days) should be archived to cheaper Blob Storage instead of expensive Cosmos DB.</a:t>
            </a:r>
          </a:p>
          <a:p/>
          <a:p>
            <a:r>
              <a:t>4. **Monthly cost review meetings** - CISAC + Spanish Point review Azure spending monthly, correlate with usage, identify anomalies and optimization opportunities.</a:t>
            </a:r>
          </a:p>
          <a:p/>
          <a:p>
            <a:r>
              <a:t>**Discussion Prompt:** How do you currently explain cost variations to CISAC financial stakeholders?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10362895" cy="1371600"/>
          </a:xfrm>
          <a:prstGeom prst="rect">
            <a:avLst/>
          </a:prstGeom>
          <a:noFill/>
        </p:spPr>
        <p:txBody>
          <a:bodyPr wrap="none">
            <a:spAutoFit/>
          </a:bodyPr>
          <a:lstStyle/>
          <a:p>
            <a:pPr algn="ctr">
              <a:defRPr sz="5400" b="1">
                <a:solidFill>
                  <a:srgbClr val="4169E1"/>
                </a:solidFill>
              </a:defRPr>
            </a:pPr>
            <a:r>
              <a:t>PART 3: Technical Findings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Slide  Architecture Assessment - Clean Separation</a:t>
            </a:r>
          </a:p>
        </p:txBody>
      </p:sp>
      <p:sp>
        <p:nvSpPr>
          <p:cNvPr id="3" name="TextBox 2"/>
          <p:cNvSpPr txBox="1"/>
          <p:nvPr/>
        </p:nvSpPr>
        <p:spPr>
          <a:xfrm>
            <a:off x="457200" y="1005840"/>
            <a:ext cx="11277295" cy="5486400"/>
          </a:xfrm>
          <a:prstGeom prst="rect">
            <a:avLst/>
          </a:prstGeom>
          <a:noFill/>
        </p:spPr>
        <p:txBody>
          <a:bodyPr wrap="square">
            <a:spAutoFit/>
          </a:bodyPr>
          <a:lstStyle/>
          <a:p>
            <a:pPr>
              <a:defRPr sz="1800" b="1">
                <a:solidFill>
                  <a:srgbClr val="000000"/>
                </a:solidFill>
              </a:defRPr>
            </a:pPr>
            <a:r>
              <a:t>System Context (C4 Level 1)</a:t>
            </a:r>
          </a:p>
          <a:p>
            <a:pPr>
              <a:defRPr sz="1400">
                <a:solidFill>
                  <a:srgbClr val="000000"/>
                </a:solidFill>
              </a:defRPr>
            </a:pPr>
          </a:p>
          <a:p>
            <a:pPr>
              <a:defRPr sz="1800" b="1">
                <a:solidFill>
                  <a:srgbClr val="000000"/>
                </a:solidFill>
              </a:defRPr>
            </a:pPr>
            <a:r>
              <a:t>External Systems          ISWC Platform          External Users</a:t>
            </a:r>
          </a:p>
          <a:p>
            <a:pPr>
              <a:defRPr sz="1400">
                <a:solidFill>
                  <a:srgbClr val="000000"/>
                </a:solidFill>
              </a:defRPr>
            </a:pPr>
            <a:r>
              <a:t>┌─────────────┐          ┌─────────────┐         ┌──────────────┐</a:t>
            </a:r>
          </a:p>
          <a:p>
            <a:pPr>
              <a:defRPr sz="1400">
                <a:solidFill>
                  <a:srgbClr val="000000"/>
                </a:solidFill>
              </a:defRPr>
            </a:pPr>
            <a:r>
              <a:t>│ FastTrack   │─────────▶│   Agency    │◀────────│   Music      │</a:t>
            </a:r>
          </a:p>
          <a:p>
            <a:pPr>
              <a:defRPr sz="1400">
                <a:solidFill>
                  <a:srgbClr val="000000"/>
                </a:solidFill>
              </a:defRPr>
            </a:pPr>
            <a:r>
              <a:t>│ SSO         │          │   Portal    │         │   Societies  │</a:t>
            </a:r>
          </a:p>
          <a:p>
            <a:pPr>
              <a:defRPr sz="1400">
                <a:solidFill>
                  <a:srgbClr val="000000"/>
                </a:solidFill>
              </a:defRPr>
            </a:pPr>
            <a:r>
              <a:t>•────────────┘│ (React) │ │ (Agencies) │</a:t>
            </a:r>
          </a:p>
          <a:p>
            <a:pPr lvl="1">
              <a:defRPr sz="1400">
                <a:solidFill>
                  <a:srgbClr val="000000"/>
                </a:solidFill>
              </a:defRPr>
            </a:pPr>
            <a:r>
              <a:t>•────────────┘ •─────────────┘</a:t>
            </a:r>
          </a:p>
          <a:p>
            <a:pPr>
              <a:defRPr sz="1400">
                <a:solidFill>
                  <a:srgbClr val="000000"/>
                </a:solidFill>
              </a:defRPr>
            </a:pPr>
            <a:r>
              <a:t>┌─────────────┐                 │</a:t>
            </a:r>
          </a:p>
          <a:p>
            <a:pPr>
              <a:defRPr sz="1400">
                <a:solidFill>
                  <a:srgbClr val="000000"/>
                </a:solidFill>
              </a:defRPr>
            </a:pPr>
            <a:r>
              <a:t>│ Swiss API   │─────────▶┌─────────────┐         ┌──────────────┐</a:t>
            </a:r>
          </a:p>
          <a:p>
            <a:pPr>
              <a:defRPr sz="1400">
                <a:solidFill>
                  <a:srgbClr val="000000"/>
                </a:solidFill>
              </a:defRPr>
            </a:pPr>
            <a:r>
              <a:t>│ (External)  │          │  Agency API │         │   CISAC      │</a:t>
            </a:r>
          </a:p>
          <a:p>
            <a:pPr>
              <a:defRPr sz="1400">
                <a:solidFill>
                  <a:srgbClr val="000000"/>
                </a:solidFill>
              </a:defRPr>
            </a:pPr>
            <a:r>
              <a:t>•────────────┘│(.NET 8) │◀────────│ Staff│</a:t>
            </a:r>
          </a:p>
          <a:p>
            <a:pPr lvl="1">
              <a:defRPr sz="1400">
                <a:solidFill>
                  <a:srgbClr val="000000"/>
                </a:solidFill>
              </a:defRPr>
            </a:pPr>
            <a:r>
              <a:t>•────────────┘ •─────────────┘</a:t>
            </a:r>
          </a:p>
          <a:p>
            <a:pPr>
              <a:defRPr sz="1400">
                <a:solidFill>
                  <a:srgbClr val="000000"/>
                </a:solidFill>
              </a:defRPr>
            </a:pPr>
            <a:r>
              <a:t>┌─────────────┐                 │</a:t>
            </a:r>
          </a:p>
          <a:p>
            <a:pPr>
              <a:defRPr sz="1400">
                <a:solidFill>
                  <a:srgbClr val="000000"/>
                </a:solidFill>
              </a:defRPr>
            </a:pPr>
            <a:r>
              <a:t>│ Matching    │◀────────┐       │                ┌──────────────┐</a:t>
            </a:r>
          </a:p>
          <a:p>
            <a:pPr>
              <a:defRPr sz="1400">
                <a:solidFill>
                  <a:srgbClr val="000000"/>
                </a:solidFill>
              </a:defRPr>
            </a:pPr>
            <a:r>
              <a:t>│ Engine      │         │       │                │   Public     │</a:t>
            </a:r>
          </a:p>
          <a:p>
            <a:pPr>
              <a:defRPr sz="1400">
                <a:solidFill>
                  <a:srgbClr val="000000"/>
                </a:solidFill>
              </a:defRPr>
            </a:pPr>
            <a:r>
              <a:t>│ (Spanish    │         │       ▼                │   Users      │</a:t>
            </a:r>
          </a:p>
          <a:p>
            <a:pPr>
              <a:defRPr sz="1400">
                <a:solidFill>
                  <a:srgbClr val="000000"/>
                </a:solidFill>
              </a:defRPr>
            </a:pPr>
            <a:r>
              <a:t>│  Point)     │         │  ┌─────────────┐       │   (Search)   │</a:t>
            </a:r>
          </a:p>
          <a:p>
            <a:pPr>
              <a:defRPr sz="1400">
                <a:solidFill>
                  <a:srgbClr val="000000"/>
                </a:solidFill>
              </a:defRPr>
            </a:pPr>
            <a:r>
              <a:t>•────────────┘ ││ Background│ •─────────────┘</a:t>
            </a:r>
          </a:p>
          <a:p>
            <a:pPr>
              <a:defRPr sz="1400">
                <a:solidFill>
                  <a:srgbClr val="000000"/>
                </a:solidFill>
              </a:defRPr>
            </a:pPr>
            <a:r>
              <a:t>│  │ Processing  │              │</a:t>
            </a:r>
          </a:p>
          <a:p>
            <a:pPr>
              <a:defRPr sz="1400">
                <a:solidFill>
                  <a:srgbClr val="000000"/>
                </a:solidFill>
              </a:defRPr>
            </a:pPr>
            <a:r>
              <a:t>│  │ (Databricks)│              ▼</a:t>
            </a:r>
          </a:p>
          <a:p>
            <a:pPr>
              <a:defRPr sz="1400">
                <a:solidFill>
                  <a:srgbClr val="000000"/>
                </a:solidFill>
              </a:defRPr>
            </a:pPr>
            <a:r>
              <a:t>│  └─────────────┘       ┌──────────────┐</a:t>
            </a:r>
          </a:p>
          <a:p>
            <a:pPr>
              <a:defRPr sz="1400">
                <a:solidFill>
                  <a:srgbClr val="000000"/>
                </a:solidFill>
              </a:defRPr>
            </a:pPr>
            <a:r>
              <a:t>│       │                │   Public     │</a:t>
            </a:r>
          </a:p>
          <a:p>
            <a:pPr>
              <a:defRPr sz="1400">
                <a:solidFill>
                  <a:srgbClr val="000000"/>
                </a:solidFill>
              </a:defRPr>
            </a:pPr>
            <a:r>
              <a:t>│       ▼                │   Portal     │</a:t>
            </a:r>
          </a:p>
          <a:p>
            <a:pPr>
              <a:defRPr sz="1400">
                <a:solidFill>
                  <a:srgbClr val="000000"/>
                </a:solidFill>
              </a:defRPr>
            </a:pPr>
            <a:r>
              <a:t>│  ┌─────────────┐       │   (React)    │</a:t>
            </a:r>
          </a:p>
          <a:p>
            <a:pPr lvl="1">
              <a:defRPr sz="1400">
                <a:solidFill>
                  <a:srgbClr val="000000"/>
                </a:solidFill>
              </a:defRPr>
            </a:pPr>
            <a:r>
              <a:t>•─│SQL Server │ •─────────────┘</a:t>
            </a:r>
          </a:p>
          <a:p>
            <a:pPr>
              <a:defRPr sz="1400">
                <a:solidFill>
                  <a:srgbClr val="000000"/>
                </a:solidFill>
              </a:defRPr>
            </a:pPr>
            <a:r>
              <a:t>│  Cosmos DB  │</a:t>
            </a:r>
          </a:p>
          <a:p>
            <a:pPr>
              <a:defRPr sz="1400">
                <a:solidFill>
                  <a:srgbClr val="000000"/>
                </a:solidFill>
              </a:defRPr>
            </a:pPr>
            <a:r>
              <a:t>│  Storage    │</a:t>
            </a:r>
          </a:p>
          <a:p>
            <a:pPr lvl="1">
              <a:defRPr sz="1400">
                <a:solidFill>
                  <a:srgbClr val="000000"/>
                </a:solidFill>
              </a:defRPr>
            </a:pP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Slide  Code Quality - "Not Bad, But..."</a:t>
            </a:r>
          </a:p>
        </p:txBody>
      </p:sp>
      <p:sp>
        <p:nvSpPr>
          <p:cNvPr id="3" name="TextBox 2"/>
          <p:cNvSpPr txBox="1"/>
          <p:nvPr/>
        </p:nvSpPr>
        <p:spPr>
          <a:xfrm>
            <a:off x="457200" y="1005840"/>
            <a:ext cx="11277295" cy="5486400"/>
          </a:xfrm>
          <a:prstGeom prst="rect">
            <a:avLst/>
          </a:prstGeom>
          <a:noFill/>
        </p:spPr>
        <p:txBody>
          <a:bodyPr wrap="square">
            <a:spAutoFit/>
          </a:bodyPr>
          <a:lstStyle/>
          <a:p>
            <a:pPr>
              <a:defRPr sz="1600">
                <a:solidFill>
                  <a:srgbClr val="228B22"/>
                </a:solidFill>
              </a:defRPr>
            </a:pPr>
            <a:r>
              <a:t>✅ Code Quality Strengths          ⚠️  Code Quality Concerns</a:t>
            </a:r>
          </a:p>
          <a:p>
            <a:pPr>
              <a:defRPr sz="1400">
                <a:solidFill>
                  <a:srgbClr val="000000"/>
                </a:solidFill>
              </a:defRPr>
            </a:pPr>
          </a:p>
          <a:p>
            <a:pPr>
              <a:defRPr sz="1800" b="1">
                <a:solidFill>
                  <a:srgbClr val="000000"/>
                </a:solidFill>
              </a:defRPr>
            </a:pPr>
            <a:r>
              <a:t>Well-structured codebase           Minimal code comments</a:t>
            </a:r>
          </a:p>
          <a:p>
            <a:pPr lvl="1">
              <a:defRPr sz="1400">
                <a:solidFill>
                  <a:srgbClr val="000000"/>
                </a:solidFill>
              </a:defRPr>
            </a:pPr>
            <a:r>
              <a:t>• Logical project organization • Business logic not documented</a:t>
            </a:r>
          </a:p>
          <a:p>
            <a:pPr lvl="1">
              <a:defRPr sz="1400">
                <a:solidFill>
                  <a:srgbClr val="000000"/>
                </a:solidFill>
              </a:defRPr>
            </a:pPr>
            <a:r>
              <a:t>• Easy to navigate • "Locked in people's heads"</a:t>
            </a:r>
          </a:p>
          <a:p>
            <a:pPr>
              <a:defRPr sz="1400">
                <a:solidFill>
                  <a:srgbClr val="000000"/>
                </a:solidFill>
              </a:defRPr>
            </a:pPr>
          </a:p>
          <a:p>
            <a:pPr>
              <a:defRPr sz="1800" b="1">
                <a:solidFill>
                  <a:srgbClr val="000000"/>
                </a:solidFill>
              </a:defRPr>
            </a:pPr>
            <a:r>
              <a:t>Clean separation of concerns       Significant code duplication</a:t>
            </a:r>
          </a:p>
          <a:p>
            <a:pPr lvl="1">
              <a:defRPr sz="1400">
                <a:solidFill>
                  <a:srgbClr val="000000"/>
                </a:solidFill>
              </a:defRPr>
            </a:pPr>
            <a:r>
              <a:t>• Controllers, Services, Repos • Repeated patterns across modules</a:t>
            </a:r>
          </a:p>
          <a:p>
            <a:pPr lvl="1">
              <a:defRPr sz="1400">
                <a:solidFill>
                  <a:srgbClr val="000000"/>
                </a:solidFill>
              </a:defRPr>
            </a:pPr>
            <a:r>
              <a:t>• Good layering• Maintainability risk</a:t>
            </a:r>
          </a:p>
          <a:p>
            <a:pPr>
              <a:defRPr sz="1400">
                <a:solidFill>
                  <a:srgbClr val="000000"/>
                </a:solidFill>
              </a:defRPr>
            </a:pPr>
          </a:p>
          <a:p>
            <a:pPr>
              <a:defRPr sz="1800" b="1">
                <a:solidFill>
                  <a:srgbClr val="000000"/>
                </a:solidFill>
              </a:defRPr>
            </a:pPr>
            <a:r>
              <a:t>Dependency injection patterns      No developer onboarding guide</a:t>
            </a:r>
          </a:p>
          <a:p>
            <a:pPr lvl="1">
              <a:defRPr sz="1400">
                <a:solidFill>
                  <a:srgbClr val="000000"/>
                </a:solidFill>
              </a:defRPr>
            </a:pPr>
            <a:r>
              <a:t>• Interface abstractions • Steep learning curve</a:t>
            </a:r>
          </a:p>
          <a:p>
            <a:pPr lvl="1">
              <a:defRPr sz="1400">
                <a:solidFill>
                  <a:srgbClr val="000000"/>
                </a:solidFill>
              </a:defRPr>
            </a:pPr>
            <a:r>
              <a:t>• Testability enabled• No "how to contribute"</a:t>
            </a:r>
          </a:p>
          <a:p>
            <a:pPr>
              <a:defRPr sz="1400">
                <a:solidFill>
                  <a:srgbClr val="000000"/>
                </a:solidFill>
              </a:defRPr>
            </a:pPr>
          </a:p>
          <a:p>
            <a:pPr>
              <a:defRPr sz="1800" b="1">
                <a:solidFill>
                  <a:srgbClr val="000000"/>
                </a:solidFill>
              </a:defRPr>
            </a:pPr>
            <a:r>
              <a:t>Modern .NET 8 patterns            High implicit knowledge</a:t>
            </a:r>
          </a:p>
          <a:p>
            <a:pPr lvl="1">
              <a:defRPr sz="1400">
                <a:solidFill>
                  <a:srgbClr val="000000"/>
                </a:solidFill>
              </a:defRPr>
            </a:pPr>
            <a:r>
              <a:t>• Async/await usage• Contextual understanding required</a:t>
            </a:r>
          </a:p>
          <a:p>
            <a:pPr lvl="1">
              <a:defRPr sz="1400">
                <a:solidFill>
                  <a:srgbClr val="000000"/>
                </a:solidFill>
              </a:defRPr>
            </a:pPr>
            <a:r>
              <a:t>• Entity Framework Core 8.0• "Tentacular" dependencies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Slide  Technical Debt Status - Mixed Picture</a:t>
            </a:r>
          </a:p>
        </p:txBody>
      </p:sp>
      <p:sp>
        <p:nvSpPr>
          <p:cNvPr id="3" name="TextBox 2"/>
          <p:cNvSpPr txBox="1"/>
          <p:nvPr/>
        </p:nvSpPr>
        <p:spPr>
          <a:xfrm>
            <a:off x="457200" y="1005840"/>
            <a:ext cx="11277295" cy="5486400"/>
          </a:xfrm>
          <a:prstGeom prst="rect">
            <a:avLst/>
          </a:prstGeom>
          <a:noFill/>
        </p:spPr>
        <p:txBody>
          <a:bodyPr wrap="square">
            <a:spAutoFit/>
          </a:bodyPr>
          <a:lstStyle/>
          <a:p>
            <a:pPr>
              <a:defRPr sz="1800" b="1">
                <a:solidFill>
                  <a:srgbClr val="000000"/>
                </a:solidFill>
              </a:defRPr>
            </a:pPr>
            <a:r>
              <a:t>Technical Debt Assessment</a:t>
            </a:r>
          </a:p>
          <a:p>
            <a:pPr>
              <a:defRPr sz="1400">
                <a:solidFill>
                  <a:srgbClr val="000000"/>
                </a:solidFill>
              </a:defRPr>
            </a:pPr>
          </a:p>
          <a:p>
            <a:pPr>
              <a:defRPr sz="1600">
                <a:solidFill>
                  <a:srgbClr val="228B22"/>
                </a:solidFill>
              </a:defRPr>
            </a:pPr>
            <a:r>
              <a:t>✅ RESOLVED (Recently Addressed)</a:t>
            </a:r>
          </a:p>
          <a:p>
            <a:pPr lvl="1">
              <a:defRPr sz="1400">
                <a:solidFill>
                  <a:srgbClr val="000000"/>
                </a:solidFill>
              </a:defRPr>
            </a:pPr>
            <a:r>
              <a:t>• .NET Core 3.1 → 8.0 (EOL Dec 2022 → Active support until Nov 2026)</a:t>
            </a:r>
          </a:p>
          <a:p>
            <a:pPr lvl="1">
              <a:defRPr sz="1400">
                <a:solidFill>
                  <a:srgbClr val="000000"/>
                </a:solidFill>
              </a:defRPr>
            </a:pPr>
            <a:r>
              <a:t>• React 16.12.0 → 18.3.1 (Modern version)</a:t>
            </a:r>
          </a:p>
          <a:p>
            <a:pPr lvl="1">
              <a:defRPr sz="1400">
                <a:solidFill>
                  <a:srgbClr val="000000"/>
                </a:solidFill>
              </a:defRPr>
            </a:pPr>
            <a:r>
              <a:t>• TypeScript 3.7.3 → 5.6.3 (Modern version)</a:t>
            </a:r>
          </a:p>
          <a:p>
            <a:pPr lvl="1">
              <a:defRPr sz="1400">
                <a:solidFill>
                  <a:srgbClr val="000000"/>
                </a:solidFill>
              </a:defRPr>
            </a:pPr>
            <a:r>
              <a:t>• Entity Framework 3.1 → 8.0 (Modern ORM)</a:t>
            </a:r>
          </a:p>
          <a:p>
            <a:pPr lvl="1">
              <a:defRPr sz="1400">
                <a:solidFill>
                  <a:srgbClr val="000000"/>
                </a:solidFill>
              </a:defRPr>
            </a:pPr>
            <a:r>
              <a:t>• Outdated packages → Security vulnerabilities addressed</a:t>
            </a:r>
          </a:p>
          <a:p>
            <a:pPr>
              <a:defRPr sz="1400">
                <a:solidFill>
                  <a:srgbClr val="000000"/>
                </a:solidFill>
              </a:defRPr>
            </a:pPr>
          </a:p>
          <a:p>
            <a:pPr>
              <a:defRPr sz="1600">
                <a:solidFill>
                  <a:srgbClr val="FF8C00"/>
                </a:solidFill>
              </a:defRPr>
            </a:pPr>
            <a:r>
              <a:t>⚠️  MEDIUM PRIORITY</a:t>
            </a:r>
          </a:p>
          <a:p>
            <a:pPr lvl="1">
              <a:defRPr sz="1400">
                <a:solidFill>
                  <a:srgbClr val="000000"/>
                </a:solidFill>
              </a:defRPr>
            </a:pPr>
            <a:r>
              <a:t>• .NET 8 support ends Nov 2026 (only 2 years remaining)</a:t>
            </a:r>
          </a:p>
          <a:p>
            <a:pPr lvl="1">
              <a:defRPr sz="1400">
                <a:solidFill>
                  <a:srgbClr val="000000"/>
                </a:solidFill>
              </a:defRPr>
            </a:pPr>
            <a:r>
              <a:t>• Consider .NET 9/10 for longer support window</a:t>
            </a:r>
          </a:p>
          <a:p>
            <a:pPr lvl="1">
              <a:defRPr sz="1400">
                <a:solidFill>
                  <a:srgbClr val="000000"/>
                </a:solidFill>
              </a:defRPr>
            </a:pPr>
            <a:r>
              <a:t>• Code duplication needs refactoring (gradual, 6-12 months)</a:t>
            </a:r>
          </a:p>
          <a:p>
            <a:pPr lvl="1">
              <a:defRPr sz="1400">
                <a:solidFill>
                  <a:srgbClr val="000000"/>
                </a:solidFill>
              </a:defRPr>
            </a:pPr>
            <a:r>
              <a:t>• Documentation drift (specs from 2019-2020)</a:t>
            </a:r>
          </a:p>
          <a:p>
            <a:pPr>
              <a:defRPr sz="1400">
                <a:solidFill>
                  <a:srgbClr val="000000"/>
                </a:solidFill>
              </a:defRPr>
            </a:pPr>
          </a:p>
          <a:p>
            <a:pPr>
              <a:defRPr sz="1600">
                <a:solidFill>
                  <a:srgbClr val="DC143C"/>
                </a:solidFill>
              </a:defRPr>
            </a:pPr>
            <a:r>
              <a:t>🔴 URGENT</a:t>
            </a:r>
          </a:p>
          <a:p>
            <a:pPr lvl="1">
              <a:defRPr sz="1400">
                <a:solidFill>
                  <a:srgbClr val="000000"/>
                </a:solidFill>
              </a:defRPr>
            </a:pPr>
            <a:r>
              <a:t>• Databricks 10.4 LTS outdated (unknown EOL, missing modern features)</a:t>
            </a:r>
          </a:p>
          <a:p>
            <a:pPr lvl="1">
              <a:defRPr sz="1400">
                <a:solidFill>
                  <a:srgbClr val="000000"/>
                </a:solidFill>
              </a:defRPr>
            </a:pPr>
            <a:r>
              <a:t>• Pipeline test runner blocked post-.NET 8 upgrade (workaround active)</a:t>
            </a:r>
          </a:p>
          <a:p>
            <a:pPr lvl="1">
              <a:defRPr sz="1400">
                <a:solidFill>
                  <a:srgbClr val="000000"/>
                </a:solidFill>
              </a:defRPr>
            </a:pPr>
            <a:r>
              <a:t>• Test stability issues (some tests brittle, 99.5% pass rate)</a:t>
            </a:r>
          </a:p>
          <a:p>
            <a:pPr>
              <a:defRPr sz="1400">
                <a:solidFill>
                  <a:srgbClr val="000000"/>
                </a:solidFill>
              </a:defRPr>
            </a:pPr>
          </a:p>
          <a:p>
            <a:pPr>
              <a:defRPr sz="1400">
                <a:solidFill>
                  <a:srgbClr val="000000"/>
                </a:solidFill>
              </a:defRPr>
            </a:pPr>
            <a:r>
              <a:t>🟡 MONITORING REQUIRED</a:t>
            </a:r>
          </a:p>
          <a:p>
            <a:pPr lvl="1">
              <a:defRPr sz="1400">
                <a:solidFill>
                  <a:srgbClr val="000000"/>
                </a:solidFill>
              </a:defRPr>
            </a:pPr>
            <a:r>
              <a:t>• Git commit history not provided (compliance review pending)</a:t>
            </a:r>
          </a:p>
          <a:p>
            <a:pPr lvl="1">
              <a:defRPr sz="1400">
                <a:solidFill>
                  <a:srgbClr val="000000"/>
                </a:solidFill>
              </a:defRPr>
            </a:pPr>
            <a:r>
              <a:t>• IaC templates not included (proprietary Smart AIM library)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Slide  Infrastructure &amp; DevOps - Mature Pipeline, IaC Gap</a:t>
            </a:r>
          </a:p>
        </p:txBody>
      </p:sp>
      <p:sp>
        <p:nvSpPr>
          <p:cNvPr id="3" name="TextBox 2"/>
          <p:cNvSpPr txBox="1"/>
          <p:nvPr/>
        </p:nvSpPr>
        <p:spPr>
          <a:xfrm>
            <a:off x="457200" y="1005840"/>
            <a:ext cx="11277295" cy="5486400"/>
          </a:xfrm>
          <a:prstGeom prst="rect">
            <a:avLst/>
          </a:prstGeom>
          <a:noFill/>
        </p:spPr>
        <p:txBody>
          <a:bodyPr wrap="square">
            <a:spAutoFit/>
          </a:bodyPr>
          <a:lstStyle/>
          <a:p>
            <a:pPr>
              <a:defRPr sz="1800" b="1">
                <a:solidFill>
                  <a:srgbClr val="000000"/>
                </a:solidFill>
              </a:defRPr>
            </a:pPr>
            <a:r>
              <a:t>Azure Resource Inventory</a:t>
            </a:r>
          </a:p>
          <a:p>
            <a:pPr>
              <a:defRPr sz="1400">
                <a:solidFill>
                  <a:srgbClr val="000000"/>
                </a:solidFill>
              </a:defRPr>
            </a:pPr>
          </a:p>
          <a:p>
            <a:pPr>
              <a:defRPr sz="1400">
                <a:solidFill>
                  <a:srgbClr val="000000"/>
                </a:solidFill>
              </a:defRPr>
            </a:pPr>
            <a:r>
              <a:t>343 Resources Across 4 Environments</a:t>
            </a:r>
          </a:p>
          <a:p>
            <a:pPr>
              <a:defRPr sz="1400">
                <a:solidFill>
                  <a:srgbClr val="000000"/>
                </a:solidFill>
              </a:defRPr>
            </a:pPr>
            <a:r>
              <a:t>• Production (primary)</a:t>
            </a:r>
          </a:p>
          <a:p>
            <a:pPr>
              <a:defRPr sz="1400">
                <a:solidFill>
                  <a:srgbClr val="000000"/>
                </a:solidFill>
              </a:defRPr>
            </a:pPr>
            <a:r>
              <a:t>• UAT (user acceptance testing)</a:t>
            </a:r>
          </a:p>
          <a:p>
            <a:pPr>
              <a:defRPr sz="1400">
                <a:solidFill>
                  <a:srgbClr val="000000"/>
                </a:solidFill>
              </a:defRPr>
            </a:pPr>
            <a:r>
              <a:t>• Dev (development)</a:t>
            </a:r>
          </a:p>
          <a:p>
            <a:pPr>
              <a:defRPr sz="1400">
                <a:solidFill>
                  <a:srgbClr val="000000"/>
                </a:solidFill>
              </a:defRPr>
            </a:pPr>
            <a:r>
              <a:t>• Matching Engine (separate environment)</a:t>
            </a:r>
          </a:p>
          <a:p>
            <a:pPr>
              <a:defRPr sz="1400">
                <a:solidFill>
                  <a:srgbClr val="000000"/>
                </a:solidFill>
              </a:defRPr>
            </a:pPr>
          </a:p>
          <a:p>
            <a:pPr>
              <a:defRPr sz="1800" b="1">
                <a:solidFill>
                  <a:srgbClr val="000000"/>
                </a:solidFill>
              </a:defRPr>
            </a:pPr>
            <a:r>
              <a:t>Resource Categories</a:t>
            </a:r>
          </a:p>
          <a:p>
            <a:pPr>
              <a:defRPr sz="1400">
                <a:solidFill>
                  <a:srgbClr val="000000"/>
                </a:solidFill>
              </a:defRPr>
            </a:pPr>
            <a:r>
              <a:t>┌────────────────────────────────────────────┐</a:t>
            </a:r>
          </a:p>
          <a:p>
            <a:pPr>
              <a:defRPr sz="1400">
                <a:solidFill>
                  <a:srgbClr val="000000"/>
                </a:solidFill>
              </a:defRPr>
            </a:pPr>
            <a:r>
              <a:t>│ App Services        12+ instances          │</a:t>
            </a:r>
          </a:p>
          <a:p>
            <a:pPr>
              <a:defRPr sz="1400">
                <a:solidFill>
                  <a:srgbClr val="000000"/>
                </a:solidFill>
              </a:defRPr>
            </a:pPr>
            <a:r>
              <a:t>│ Databases           SQL Server, Cosmos DB  │</a:t>
            </a:r>
          </a:p>
          <a:p>
            <a:pPr>
              <a:defRPr sz="1400">
                <a:solidFill>
                  <a:srgbClr val="000000"/>
                </a:solidFill>
              </a:defRPr>
            </a:pPr>
            <a:r>
              <a:t>│ Data Processing     Databricks, Data       │</a:t>
            </a:r>
          </a:p>
          <a:p>
            <a:pPr>
              <a:defRPr sz="1400">
                <a:solidFill>
                  <a:srgbClr val="000000"/>
                </a:solidFill>
              </a:defRPr>
            </a:pPr>
            <a:r>
              <a:t>│                     Factory                │</a:t>
            </a:r>
          </a:p>
          <a:p>
            <a:pPr>
              <a:defRPr sz="1400">
                <a:solidFill>
                  <a:srgbClr val="000000"/>
                </a:solidFill>
              </a:defRPr>
            </a:pPr>
            <a:r>
              <a:t>│ Storage             Storage Accounts       │</a:t>
            </a:r>
          </a:p>
          <a:p>
            <a:pPr>
              <a:defRPr sz="1400">
                <a:solidFill>
                  <a:srgbClr val="000000"/>
                </a:solidFill>
              </a:defRPr>
            </a:pPr>
            <a:r>
              <a:t>│                     (SFTP, Data Lake)      │</a:t>
            </a:r>
          </a:p>
          <a:p>
            <a:pPr>
              <a:defRPr sz="1400">
                <a:solidFill>
                  <a:srgbClr val="000000"/>
                </a:solidFill>
              </a:defRPr>
            </a:pPr>
            <a:r>
              <a:t>│ Networking          VPN Gateway, Private   │</a:t>
            </a:r>
          </a:p>
          <a:p>
            <a:pPr>
              <a:defRPr sz="1400">
                <a:solidFill>
                  <a:srgbClr val="000000"/>
                </a:solidFill>
              </a:defRPr>
            </a:pPr>
            <a:r>
              <a:t>│                     Endpoints, DNS         │</a:t>
            </a:r>
          </a:p>
          <a:p>
            <a:pPr>
              <a:defRPr sz="1400">
                <a:solidFill>
                  <a:srgbClr val="000000"/>
                </a:solidFill>
              </a:defRPr>
            </a:pPr>
            <a:r>
              <a:t>│ Management          Key Vault, App         │</a:t>
            </a:r>
          </a:p>
          <a:p>
            <a:pPr>
              <a:defRPr sz="1400">
                <a:solidFill>
                  <a:srgbClr val="000000"/>
                </a:solidFill>
              </a:defRPr>
            </a:pPr>
            <a:r>
              <a:t>│                     Insights, Log Analytics│</a:t>
            </a:r>
          </a:p>
          <a:p>
            <a:pPr>
              <a:defRPr sz="1400">
                <a:solidFill>
                  <a:srgbClr val="000000"/>
                </a:solidFill>
              </a:defRPr>
            </a:pPr>
            <a:r>
              <a:t>│ API Management      Gateway (4 variants)   │</a:t>
            </a:r>
          </a:p>
          <a:p>
            <a:pPr>
              <a:defRPr sz="1400">
                <a:solidFill>
                  <a:srgbClr val="000000"/>
                </a:solidFill>
              </a:defRPr>
            </a:pPr>
            <a:r>
              <a:t>•───────────────────────────────────────────┘</a:t>
            </a:r>
          </a:p>
          <a:p>
            <a:pPr>
              <a:defRPr sz="1600">
                <a:solidFill>
                  <a:srgbClr val="228B22"/>
                </a:solidFill>
              </a:defRPr>
            </a:pPr>
            <a:r>
              <a:t>✅ Fully Automated Deployment Pipeline</a:t>
            </a:r>
          </a:p>
          <a:p>
            <a:pPr>
              <a:defRPr sz="1400">
                <a:solidFill>
                  <a:srgbClr val="000000"/>
                </a:solidFill>
              </a:defRPr>
            </a:pPr>
          </a:p>
          <a:p>
            <a:pPr>
              <a:defRPr sz="1800" b="1">
                <a:solidFill>
                  <a:srgbClr val="000000"/>
                </a:solidFill>
              </a:defRPr>
            </a:pPr>
            <a:r>
              <a:t>Build Stage (5-10 min)</a:t>
            </a:r>
          </a:p>
          <a:p>
            <a:pPr>
              <a:defRPr sz="1400">
                <a:solidFill>
                  <a:srgbClr val="000000"/>
                </a:solidFill>
              </a:defRPr>
            </a:pPr>
            <a:r>
              <a:t>• Source code compilation</a:t>
            </a:r>
          </a:p>
          <a:p>
            <a:pPr>
              <a:defRPr sz="1400">
                <a:solidFill>
                  <a:srgbClr val="000000"/>
                </a:solidFill>
              </a:defRPr>
            </a:pPr>
            <a:r>
              <a:t>• NuGet package restore</a:t>
            </a:r>
          </a:p>
          <a:p>
            <a:pPr>
              <a:defRPr sz="1400">
                <a:solidFill>
                  <a:srgbClr val="000000"/>
                </a:solidFill>
              </a:defRPr>
            </a:pPr>
            <a:r>
              <a:t>• Frontend build (React + TypeScript)</a:t>
            </a:r>
          </a:p>
          <a:p>
            <a:pPr>
              <a:defRPr sz="1400">
                <a:solidFill>
                  <a:srgbClr val="000000"/>
                </a:solidFill>
              </a:defRPr>
            </a:pPr>
            <a:r>
              <a:t>• Docker image creation</a:t>
            </a:r>
          </a:p>
          <a:p>
            <a:pPr>
              <a:defRPr sz="1400">
                <a:solidFill>
                  <a:srgbClr val="000000"/>
                </a:solidFill>
              </a:defRPr>
            </a:pPr>
          </a:p>
          <a:p>
            <a:pPr>
              <a:defRPr sz="1800" b="1">
                <a:solidFill>
                  <a:srgbClr val="000000"/>
                </a:solidFill>
              </a:defRPr>
            </a:pPr>
            <a:r>
              <a:t>Test Stage (10-15 min)</a:t>
            </a:r>
          </a:p>
          <a:p>
            <a:pPr>
              <a:defRPr sz="1400">
                <a:solidFill>
                  <a:srgbClr val="000000"/>
                </a:solidFill>
              </a:defRPr>
            </a:pPr>
            <a:r>
              <a:t>• 700+ automated tests</a:t>
            </a:r>
          </a:p>
          <a:p>
            <a:pPr>
              <a:defRPr sz="1400">
                <a:solidFill>
                  <a:srgbClr val="000000"/>
                </a:solidFill>
              </a:defRPr>
            </a:pPr>
            <a:r>
              <a:t>│   ├─ Unit tests</a:t>
            </a:r>
          </a:p>
          <a:p>
            <a:pPr>
              <a:defRPr sz="1400">
                <a:solidFill>
                  <a:srgbClr val="000000"/>
                </a:solidFill>
              </a:defRPr>
            </a:pPr>
            <a:r>
              <a:t>│   ├─ Integration tests</a:t>
            </a:r>
          </a:p>
          <a:p>
            <a:pPr>
              <a:defRPr sz="1400">
                <a:solidFill>
                  <a:srgbClr val="000000"/>
                </a:solidFill>
              </a:defRPr>
            </a:pPr>
            <a:r>
              <a:t>│   └─ UI tests</a:t>
            </a:r>
          </a:p>
          <a:p>
            <a:pPr>
              <a:defRPr sz="1400">
                <a:solidFill>
                  <a:srgbClr val="000000"/>
                </a:solidFill>
              </a:defRPr>
            </a:pPr>
            <a:r>
              <a:t>• 99.5% pass rate (recent runs)</a:t>
            </a:r>
          </a:p>
          <a:p>
            <a:pPr>
              <a:defRPr sz="1400">
                <a:solidFill>
                  <a:srgbClr val="000000"/>
                </a:solidFill>
              </a:defRPr>
            </a:pPr>
          </a:p>
          <a:p>
            <a:pPr>
              <a:defRPr sz="1800" b="1">
                <a:solidFill>
                  <a:srgbClr val="000000"/>
                </a:solidFill>
              </a:defRPr>
            </a:pPr>
            <a:r>
              <a:t>Deploy Stage (5-10 min)</a:t>
            </a:r>
          </a:p>
          <a:p>
            <a:pPr>
              <a:defRPr sz="1400">
                <a:solidFill>
                  <a:srgbClr val="000000"/>
                </a:solidFill>
              </a:defRPr>
            </a:pPr>
            <a:r>
              <a:t>• Dev environment (automatic)</a:t>
            </a:r>
          </a:p>
          <a:p>
            <a:pPr>
              <a:defRPr sz="1400">
                <a:solidFill>
                  <a:srgbClr val="000000"/>
                </a:solidFill>
              </a:defRPr>
            </a:pPr>
            <a:r>
              <a:t>• UAT environment (approval required)</a:t>
            </a:r>
          </a:p>
          <a:p>
            <a:pPr>
              <a:defRPr sz="1400">
                <a:solidFill>
                  <a:srgbClr val="000000"/>
                </a:solidFill>
              </a:defRPr>
            </a:pPr>
            <a:r>
              <a:t>• Production environment (approval required)</a:t>
            </a:r>
          </a:p>
          <a:p>
            <a:pPr>
              <a:defRPr sz="1400">
                <a:solidFill>
                  <a:srgbClr val="000000"/>
                </a:solidFill>
              </a:defRPr>
            </a:pPr>
          </a:p>
          <a:p>
            <a:pPr>
              <a:defRPr sz="1800" b="1">
                <a:solidFill>
                  <a:srgbClr val="000000"/>
                </a:solidFill>
              </a:defRPr>
            </a:pPr>
            <a:r>
              <a:t>Total Duration: 20-30 minutes</a:t>
            </a:r>
          </a:p>
          <a:p>
            <a:pPr>
              <a:defRPr sz="1800" b="1">
                <a:solidFill>
                  <a:srgbClr val="000000"/>
                </a:solidFill>
              </a:defRPr>
            </a:pPr>
            <a:r>
              <a:t>Manual Steps: ZERO (fully automated)</a:t>
            </a:r>
          </a:p>
          <a:p>
            <a:pPr>
              <a:defRPr sz="1800" b="1">
                <a:solidFill>
                  <a:srgbClr val="000000"/>
                </a:solidFill>
              </a:defRPr>
            </a:pPr>
            <a:r>
              <a:t>Infrastructure-as-Code Status: ⚠️  PROPRIETARY</a:t>
            </a:r>
          </a:p>
          <a:p>
            <a:pPr>
              <a:defRPr sz="1400">
                <a:solidFill>
                  <a:srgbClr val="000000"/>
                </a:solidFill>
              </a:defRPr>
            </a:pPr>
          </a:p>
          <a:p>
            <a:pPr>
              <a:defRPr sz="1800" b="1">
                <a:solidFill>
                  <a:srgbClr val="000000"/>
                </a:solidFill>
              </a:defRPr>
            </a:pPr>
            <a:r>
              <a:t>Spanish Point Position:</a:t>
            </a:r>
          </a:p>
          <a:p>
            <a:pPr>
              <a:defRPr sz="1400">
                <a:solidFill>
                  <a:srgbClr val="000000"/>
                </a:solidFill>
              </a:defRPr>
            </a:pPr>
            <a:r>
              <a:t>• IaC templates = "Smart AIM library" (proprietary)</a:t>
            </a:r>
          </a:p>
          <a:p>
            <a:pPr>
              <a:defRPr sz="1400">
                <a:solidFill>
                  <a:srgbClr val="000000"/>
                </a:solidFill>
              </a:defRPr>
            </a:pPr>
            <a:r>
              <a:t>• NOT included in source code delivery</a:t>
            </a:r>
          </a:p>
          <a:p>
            <a:pPr>
              <a:defRPr sz="1400">
                <a:solidFill>
                  <a:srgbClr val="000000"/>
                </a:solidFill>
              </a:defRPr>
            </a:pPr>
            <a:r>
              <a:t>• Licensing program exists for third-party vendors</a:t>
            </a:r>
          </a:p>
          <a:p>
            <a:pPr>
              <a:defRPr sz="1400">
                <a:solidFill>
                  <a:srgbClr val="000000"/>
                </a:solidFill>
              </a:defRPr>
            </a:pPr>
          </a:p>
          <a:p>
            <a:pPr>
              <a:defRPr sz="1800" b="1">
                <a:solidFill>
                  <a:srgbClr val="000000"/>
                </a:solidFill>
              </a:defRPr>
            </a:pPr>
            <a:r>
              <a:t>CISAC Options for Vendor Switch:</a:t>
            </a:r>
          </a:p>
          <a:p>
            <a:pPr>
              <a:defRPr sz="1400">
                <a:solidFill>
                  <a:srgbClr val="000000"/>
                </a:solidFill>
              </a:defRPr>
            </a:pPr>
            <a:r>
              <a:t>1. Rebuild IaC from scratch (reverse-engineer 343 resources)</a:t>
            </a:r>
          </a:p>
          <a:p>
            <a:pPr>
              <a:defRPr sz="1400">
                <a:solidFill>
                  <a:srgbClr val="000000"/>
                </a:solidFill>
              </a:defRPr>
            </a:pPr>
            <a:r>
              <a:t>2. License Smart AIM library for new vendor (cost unknown)</a:t>
            </a:r>
          </a:p>
          <a:p>
            <a:pPr>
              <a:defRPr sz="1400">
                <a:solidFill>
                  <a:srgbClr val="000000"/>
                </a:solidFill>
              </a:defRPr>
            </a:pPr>
          </a:p>
          <a:p>
            <a:pPr>
              <a:defRPr sz="1800" b="1">
                <a:solidFill>
                  <a:srgbClr val="000000"/>
                </a:solidFill>
              </a:defRPr>
            </a:pPr>
            <a:r>
              <a:t>Impact: Adds 1-2 months to vendor switch timeline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Slide  Performance &amp; Scalability - Auto-Scaling Works</a:t>
            </a:r>
          </a:p>
        </p:txBody>
      </p:sp>
      <p:sp>
        <p:nvSpPr>
          <p:cNvPr id="3" name="TextBox 2"/>
          <p:cNvSpPr txBox="1"/>
          <p:nvPr/>
        </p:nvSpPr>
        <p:spPr>
          <a:xfrm>
            <a:off x="457200" y="1005840"/>
            <a:ext cx="11277295" cy="5486400"/>
          </a:xfrm>
          <a:prstGeom prst="rect">
            <a:avLst/>
          </a:prstGeom>
          <a:noFill/>
        </p:spPr>
        <p:txBody>
          <a:bodyPr wrap="square">
            <a:spAutoFit/>
          </a:bodyPr>
          <a:lstStyle/>
          <a:p>
            <a:pPr>
              <a:defRPr sz="1800" b="1">
                <a:solidFill>
                  <a:srgbClr val="000000"/>
                </a:solidFill>
              </a:defRPr>
            </a:pPr>
            <a:r>
              <a:t>Performance Assessment</a:t>
            </a:r>
          </a:p>
          <a:p>
            <a:pPr>
              <a:defRPr sz="1400">
                <a:solidFill>
                  <a:srgbClr val="000000"/>
                </a:solidFill>
              </a:defRPr>
            </a:pPr>
          </a:p>
          <a:p>
            <a:pPr>
              <a:defRPr sz="1800" b="1">
                <a:solidFill>
                  <a:srgbClr val="000000"/>
                </a:solidFill>
              </a:defRPr>
            </a:pPr>
            <a:r>
              <a:t>Historical Performance (Past 12 Months)</a:t>
            </a:r>
          </a:p>
          <a:p>
            <a:pPr>
              <a:defRPr sz="1600">
                <a:solidFill>
                  <a:srgbClr val="228B22"/>
                </a:solidFill>
              </a:defRPr>
            </a:pPr>
            <a:r>
              <a:t>✅ No significant issues reported (Spanish Point claim)</a:t>
            </a:r>
          </a:p>
          <a:p>
            <a:pPr>
              <a:defRPr sz="1600">
                <a:solidFill>
                  <a:srgbClr val="228B22"/>
                </a:solidFill>
              </a:defRPr>
            </a:pPr>
            <a:r>
              <a:t>✅ Auto-scaling handling load variations</a:t>
            </a:r>
          </a:p>
          <a:p>
            <a:pPr>
              <a:defRPr sz="1600">
                <a:solidFill>
                  <a:srgbClr val="FF8C00"/>
                </a:solidFill>
              </a:defRPr>
            </a:pPr>
            <a:r>
              <a:t>⚠️  One exception: ISWCs with 8,000+ works caused SQL exceptions</a:t>
            </a:r>
          </a:p>
          <a:p>
            <a:pPr>
              <a:defRPr sz="1400">
                <a:solidFill>
                  <a:srgbClr val="000000"/>
                </a:solidFill>
              </a:defRPr>
            </a:pPr>
            <a:r>
              <a:t>→ Proposed solution: Pagination for large submissions</a:t>
            </a:r>
          </a:p>
          <a:p>
            <a:pPr>
              <a:defRPr sz="1400">
                <a:solidFill>
                  <a:srgbClr val="000000"/>
                </a:solidFill>
              </a:defRPr>
            </a:pPr>
          </a:p>
          <a:p>
            <a:pPr>
              <a:defRPr sz="1800" b="1">
                <a:solidFill>
                  <a:srgbClr val="000000"/>
                </a:solidFill>
              </a:defRPr>
            </a:pPr>
            <a:r>
              <a:t>Monitoring &amp; Alerts</a:t>
            </a:r>
          </a:p>
          <a:p>
            <a:pPr>
              <a:defRPr sz="1600">
                <a:solidFill>
                  <a:srgbClr val="228B22"/>
                </a:solidFill>
              </a:defRPr>
            </a:pPr>
            <a:r>
              <a:t>✅ Azure Monitor configured (platform-native metrics)</a:t>
            </a:r>
          </a:p>
          <a:p>
            <a:pPr>
              <a:defRPr sz="1600">
                <a:solidFill>
                  <a:srgbClr val="228B22"/>
                </a:solidFill>
              </a:defRPr>
            </a:pPr>
            <a:r>
              <a:t>✅ Alerts: CPU &gt;80% for 5 minutes → email to support team</a:t>
            </a:r>
          </a:p>
          <a:p>
            <a:pPr>
              <a:defRPr sz="1600">
                <a:solidFill>
                  <a:srgbClr val="228B22"/>
                </a:solidFill>
              </a:defRPr>
            </a:pPr>
            <a:r>
              <a:t>✅ Application Insights available (accessible to audit team)</a:t>
            </a:r>
          </a:p>
          <a:p>
            <a:pPr>
              <a:defRPr sz="1600">
                <a:solidFill>
                  <a:srgbClr val="FF8C00"/>
                </a:solidFill>
              </a:defRPr>
            </a:pPr>
            <a:r>
              <a:t>⚠️  No formal performance SLAs (only incident response time SLAs)</a:t>
            </a:r>
          </a:p>
          <a:p>
            <a:pPr>
              <a:defRPr sz="1600">
                <a:solidFill>
                  <a:srgbClr val="FF8C00"/>
                </a:solidFill>
              </a:defRPr>
            </a:pPr>
            <a:r>
              <a:t>⚠️  No proactive performance dashboards or business KPIs</a:t>
            </a:r>
          </a:p>
          <a:p>
            <a:pPr>
              <a:defRPr sz="1400">
                <a:solidFill>
                  <a:srgbClr val="000000"/>
                </a:solidFill>
              </a:defRPr>
            </a:pPr>
          </a:p>
          <a:p>
            <a:pPr>
              <a:defRPr sz="1800" b="1">
                <a:solidFill>
                  <a:srgbClr val="000000"/>
                </a:solidFill>
              </a:defRPr>
            </a:pPr>
            <a:r>
              <a:t>Auto-Scaling Configuration</a:t>
            </a:r>
          </a:p>
          <a:p>
            <a:pPr>
              <a:defRPr sz="1600">
                <a:solidFill>
                  <a:srgbClr val="228B22"/>
                </a:solidFill>
              </a:defRPr>
            </a:pPr>
            <a:r>
              <a:t>✅ App Services: 2-8 instances (CPU/memory-based)</a:t>
            </a:r>
          </a:p>
          <a:p>
            <a:pPr>
              <a:defRPr sz="1600">
                <a:solidFill>
                  <a:srgbClr val="228B22"/>
                </a:solidFill>
              </a:defRPr>
            </a:pPr>
            <a:r>
              <a:t>✅ Cosmos DB: Request Units auto-scale (usage-based)</a:t>
            </a:r>
          </a:p>
          <a:p>
            <a:pPr>
              <a:defRPr sz="1600">
                <a:solidFill>
                  <a:srgbClr val="228B22"/>
                </a:solidFill>
              </a:defRPr>
            </a:pPr>
            <a:r>
              <a:t>✅ Databricks: Cluster sizing adjusts to workload</a:t>
            </a:r>
          </a:p>
          <a:p>
            <a:pPr>
              <a:defRPr sz="1600">
                <a:solidFill>
                  <a:srgbClr val="228B22"/>
                </a:solidFill>
              </a:defRPr>
            </a:pPr>
            <a:r>
              <a:t>✅ Evidence: Monthly cost variations match usage patterns</a:t>
            </a:r>
          </a:p>
          <a:p>
            <a:pPr>
              <a:defRPr sz="1600">
                <a:solidFill>
                  <a:srgbClr val="228B22"/>
                </a:solidFill>
              </a:defRPr>
            </a:pPr>
            <a:r>
              <a:t>✓ Databricks NOT in critical path</a:t>
            </a:r>
          </a:p>
          <a:p>
            <a:pPr>
              <a:defRPr sz="1400">
                <a:solidFill>
                  <a:srgbClr val="000000"/>
                </a:solidFill>
              </a:defRPr>
            </a:pPr>
            <a:r>
              <a:t>→ Asynchronous file processing only (SFTP uploads)</a:t>
            </a:r>
          </a:p>
          <a:p>
            <a:pPr>
              <a:defRPr sz="1400">
                <a:solidFill>
                  <a:srgbClr val="000000"/>
                </a:solidFill>
              </a:defRPr>
            </a:pPr>
            <a:r>
              <a:t>→ Reporting via Delta Lake replication</a:t>
            </a:r>
          </a:p>
          <a:p>
            <a:pPr>
              <a:defRPr sz="1400">
                <a:solidFill>
                  <a:srgbClr val="000000"/>
                </a:solidFill>
              </a:defRPr>
            </a:pPr>
            <a:r>
              <a:t>→ Front-end APIs do NOT wait for Databricks</a:t>
            </a:r>
          </a:p>
          <a:p>
            <a:pPr>
              <a:defRPr sz="1400">
                <a:solidFill>
                  <a:srgbClr val="000000"/>
                </a:solidFill>
              </a:defRPr>
            </a:pPr>
          </a:p>
          <a:p>
            <a:pPr>
              <a:defRPr sz="1600">
                <a:solidFill>
                  <a:srgbClr val="228B22"/>
                </a:solidFill>
              </a:defRPr>
            </a:pPr>
            <a:r>
              <a:t>✓ Cosmos DB NOT performance bottleneck</a:t>
            </a:r>
          </a:p>
          <a:p>
            <a:pPr>
              <a:defRPr sz="1400">
                <a:solidFill>
                  <a:srgbClr val="000000"/>
                </a:solidFill>
              </a:defRPr>
            </a:pPr>
            <a:r>
              <a:t>→ Primary use: Audit tracking container (append-only logs)</a:t>
            </a:r>
          </a:p>
          <a:p>
            <a:pPr>
              <a:defRPr sz="1400">
                <a:solidFill>
                  <a:srgbClr val="000000"/>
                </a:solidFill>
              </a:defRPr>
            </a:pPr>
            <a:r>
              <a:t>→ Change feed replicates to Delta Lake every 20 minutes</a:t>
            </a:r>
          </a:p>
          <a:p>
            <a:pPr>
              <a:defRPr sz="1400">
                <a:solidFill>
                  <a:srgbClr val="000000"/>
                </a:solidFill>
              </a:defRPr>
            </a:pPr>
            <a:r>
              <a:t>→ Avoids Cosmos DB query load for reporting</a:t>
            </a:r>
          </a:p>
          <a:p>
            <a:pPr>
              <a:defRPr sz="1400">
                <a:solidFill>
                  <a:srgbClr val="000000"/>
                </a:solidFill>
              </a:defRPr>
            </a:pPr>
          </a:p>
          <a:p>
            <a:pPr>
              <a:defRPr sz="1600">
                <a:solidFill>
                  <a:srgbClr val="FF8C00"/>
                </a:solidFill>
              </a:defRPr>
            </a:pPr>
            <a:r>
              <a:t>⚠️ ISWC API Rate Limiting (UNVERIFIED)</a:t>
            </a:r>
          </a:p>
          <a:p>
            <a:pPr>
              <a:defRPr sz="1400">
                <a:solidFill>
                  <a:srgbClr val="000000"/>
                </a:solidFill>
              </a:defRPr>
            </a:pPr>
            <a:r>
              <a:t>→ Yann Oct 30 claim: "3-5 requests per second limit"</a:t>
            </a:r>
          </a:p>
          <a:p>
            <a:pPr>
              <a:defRPr sz="1400">
                <a:solidFill>
                  <a:srgbClr val="000000"/>
                </a:solidFill>
              </a:defRPr>
            </a:pPr>
            <a:r>
              <a:t>→ NOT confirmed in Nov 5 workshop</a:t>
            </a:r>
          </a:p>
          <a:p>
            <a:pPr>
              <a:defRPr sz="1400">
                <a:solidFill>
                  <a:srgbClr val="000000"/>
                </a:solidFill>
              </a:defRPr>
            </a:pPr>
            <a:r>
              <a:t>→ Requires validation with Moïse (CISAC technical expert)</a:t>
            </a:r>
          </a:p>
          <a:p>
            <a:pPr>
              <a:defRPr sz="1400">
                <a:solidFill>
                  <a:srgbClr val="000000"/>
                </a:solidFill>
              </a:defRPr>
            </a:pPr>
          </a:p>
          <a:p>
            <a:pPr>
              <a:defRPr sz="1600">
                <a:solidFill>
                  <a:srgbClr val="FF8C00"/>
                </a:solidFill>
              </a:defRPr>
            </a:pPr>
            <a:r>
              <a:t>⚠️ Synchronous Matching Engine Calls</a:t>
            </a:r>
          </a:p>
          <a:p>
            <a:pPr>
              <a:defRPr sz="1400">
                <a:solidFill>
                  <a:srgbClr val="000000"/>
                </a:solidFill>
              </a:defRPr>
            </a:pPr>
            <a:r>
              <a:t>→ Blocking HTTP calls (performance coupling)</a:t>
            </a:r>
          </a:p>
          <a:p>
            <a:pPr>
              <a:defRPr sz="1400">
                <a:solidFill>
                  <a:srgbClr val="000000"/>
                </a:solidFill>
              </a:defRPr>
            </a:pPr>
            <a:r>
              <a:t>→ Large submissions may cause latency</a:t>
            </a:r>
          </a:p>
          <a:p>
            <a:pPr>
              <a:defRPr sz="1400">
                <a:solidFill>
                  <a:srgbClr val="000000"/>
                </a:solidFill>
              </a:defRPr>
            </a:pPr>
            <a:r>
              <a:t>→ Alternative: Queue-based async pattern would decouple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Slide  Cost Analysis - €600K/Year, Visibility Gap</a:t>
            </a:r>
          </a:p>
        </p:txBody>
      </p:sp>
      <p:sp>
        <p:nvSpPr>
          <p:cNvPr id="3" name="TextBox 2"/>
          <p:cNvSpPr txBox="1"/>
          <p:nvPr/>
        </p:nvSpPr>
        <p:spPr>
          <a:xfrm>
            <a:off x="457200" y="1005840"/>
            <a:ext cx="11277295" cy="5486400"/>
          </a:xfrm>
          <a:prstGeom prst="rect">
            <a:avLst/>
          </a:prstGeom>
          <a:noFill/>
        </p:spPr>
        <p:txBody>
          <a:bodyPr wrap="square">
            <a:spAutoFit/>
          </a:bodyPr>
          <a:lstStyle/>
          <a:p>
            <a:pPr>
              <a:defRPr sz="1800" b="1">
                <a:solidFill>
                  <a:srgbClr val="000000"/>
                </a:solidFill>
              </a:defRPr>
            </a:pPr>
            <a:r>
              <a:t>Annual Cloud Spending: ~€600,000 (~€50K/month average)</a:t>
            </a:r>
          </a:p>
          <a:p>
            <a:pPr>
              <a:defRPr sz="1400">
                <a:solidFill>
                  <a:srgbClr val="000000"/>
                </a:solidFill>
              </a:defRPr>
            </a:pPr>
          </a:p>
          <a:p>
            <a:pPr>
              <a:defRPr sz="1800" b="1">
                <a:solidFill>
                  <a:srgbClr val="000000"/>
                </a:solidFill>
              </a:defRPr>
            </a:pPr>
            <a:r>
              <a:t>Primary Cost Drivers (Oct 2024 - Oct 2025)</a:t>
            </a:r>
          </a:p>
          <a:p>
            <a:pPr>
              <a:defRPr sz="1400">
                <a:solidFill>
                  <a:srgbClr val="000000"/>
                </a:solidFill>
              </a:defRPr>
            </a:pPr>
          </a:p>
          <a:p>
            <a:pPr>
              <a:defRPr sz="1400">
                <a:solidFill>
                  <a:srgbClr val="000000"/>
                </a:solidFill>
              </a:defRPr>
            </a:pPr>
            <a:r>
              <a:t>1. Cosmos DB (Largest portion)</a:t>
            </a:r>
          </a:p>
          <a:p>
            <a:pPr lvl="1">
              <a:defRPr sz="1400">
                <a:solidFill>
                  <a:srgbClr val="000000"/>
                </a:solidFill>
              </a:defRPr>
            </a:pPr>
            <a:r>
              <a:t>• Use case: Audit tracking container (append-only logs)</a:t>
            </a:r>
          </a:p>
          <a:p>
            <a:pPr lvl="1">
              <a:defRPr sz="1400">
                <a:solidFill>
                  <a:srgbClr val="000000"/>
                </a:solidFill>
              </a:defRPr>
            </a:pPr>
            <a:r>
              <a:t>• Auto-scaling: Request Units vary with usage</a:t>
            </a:r>
          </a:p>
          <a:p>
            <a:pPr lvl="1">
              <a:defRPr sz="1400">
                <a:solidFill>
                  <a:srgbClr val="000000"/>
                </a:solidFill>
              </a:defRPr>
            </a:pPr>
            <a:r>
              <a:t>• Concern: Expensive for audit-only use case</a:t>
            </a:r>
          </a:p>
          <a:p>
            <a:pPr>
              <a:defRPr sz="1400">
                <a:solidFill>
                  <a:srgbClr val="000000"/>
                </a:solidFill>
              </a:defRPr>
            </a:pPr>
          </a:p>
          <a:p>
            <a:pPr>
              <a:defRPr sz="1400">
                <a:solidFill>
                  <a:srgbClr val="000000"/>
                </a:solidFill>
              </a:defRPr>
            </a:pPr>
            <a:r>
              <a:t>2. SQL Server (Business Critical tier)</a:t>
            </a:r>
          </a:p>
          <a:p>
            <a:pPr lvl="1">
              <a:defRPr sz="1400">
                <a:solidFill>
                  <a:srgbClr val="000000"/>
                </a:solidFill>
              </a:defRPr>
            </a:pPr>
            <a:r>
              <a:t>• Fixed provisioned capacity</a:t>
            </a:r>
          </a:p>
          <a:p>
            <a:pPr lvl="1">
              <a:defRPr sz="1400">
                <a:solidFill>
                  <a:srgbClr val="000000"/>
                </a:solidFill>
              </a:defRPr>
            </a:pPr>
            <a:r>
              <a:t>• Target of Hyperscale proposal (-€3,300/month potential)</a:t>
            </a:r>
          </a:p>
          <a:p>
            <a:pPr>
              <a:defRPr sz="1400">
                <a:solidFill>
                  <a:srgbClr val="000000"/>
                </a:solidFill>
              </a:defRPr>
            </a:pPr>
          </a:p>
          <a:p>
            <a:pPr>
              <a:defRPr sz="1400">
                <a:solidFill>
                  <a:srgbClr val="000000"/>
                </a:solidFill>
              </a:defRPr>
            </a:pPr>
            <a:r>
              <a:t>3. Databricks (Usage-based)</a:t>
            </a:r>
          </a:p>
          <a:p>
            <a:pPr lvl="1">
              <a:defRPr sz="1400">
                <a:solidFill>
                  <a:srgbClr val="000000"/>
                </a:solidFill>
              </a:defRPr>
            </a:pPr>
            <a:r>
              <a:t>• File processing workloads</a:t>
            </a:r>
          </a:p>
          <a:p>
            <a:pPr lvl="1">
              <a:defRPr sz="1400">
                <a:solidFill>
                  <a:srgbClr val="000000"/>
                </a:solidFill>
              </a:defRPr>
            </a:pPr>
            <a:r>
              <a:t>• Auto-scaling enabled (cluster runtime costs)</a:t>
            </a:r>
          </a:p>
          <a:p>
            <a:pPr>
              <a:defRPr sz="1400">
                <a:solidFill>
                  <a:srgbClr val="000000"/>
                </a:solidFill>
              </a:defRPr>
            </a:pPr>
          </a:p>
          <a:p>
            <a:pPr>
              <a:defRPr sz="1400">
                <a:solidFill>
                  <a:srgbClr val="000000"/>
                </a:solidFill>
              </a:defRPr>
            </a:pPr>
            <a:r>
              <a:t>4. Data Factory (Pipeline orchestration)</a:t>
            </a:r>
          </a:p>
          <a:p>
            <a:pPr lvl="1">
              <a:defRPr sz="1400">
                <a:solidFill>
                  <a:srgbClr val="000000"/>
                </a:solidFill>
              </a:defRPr>
            </a:pPr>
            <a:r>
              <a:t>• Activity runs, data movement</a:t>
            </a:r>
          </a:p>
          <a:p>
            <a:pPr>
              <a:defRPr sz="1400">
                <a:solidFill>
                  <a:srgbClr val="000000"/>
                </a:solidFill>
              </a:defRPr>
            </a:pPr>
          </a:p>
          <a:p>
            <a:pPr>
              <a:defRPr sz="1400">
                <a:solidFill>
                  <a:srgbClr val="000000"/>
                </a:solidFill>
              </a:defRPr>
            </a:pPr>
            <a:r>
              <a:t>5. App Services (APIs, portals)</a:t>
            </a:r>
          </a:p>
          <a:p>
            <a:pPr lvl="1">
              <a:defRPr sz="1400">
                <a:solidFill>
                  <a:srgbClr val="000000"/>
                </a:solidFill>
              </a:defRPr>
            </a:pPr>
            <a:r>
              <a:t>• Auto-scaling 2-8 instances</a:t>
            </a:r>
          </a:p>
          <a:p>
            <a:pPr lvl="1">
              <a:defRPr sz="1400">
                <a:solidFill>
                  <a:srgbClr val="000000"/>
                </a:solidFill>
              </a:defRPr>
            </a:pPr>
            <a:r>
              <a:t>• Less expensive than Databricks/Cosmos per unit</a:t>
            </a:r>
          </a:p>
          <a:p>
            <a:pPr>
              <a:defRPr sz="1400">
                <a:solidFill>
                  <a:srgbClr val="000000"/>
                </a:solidFill>
              </a:defRPr>
            </a:pPr>
            <a:r>
              <a:t>±10% month-to-month variation observed</a:t>
            </a:r>
          </a:p>
          <a:p>
            <a:pPr>
              <a:defRPr sz="1800" b="1">
                <a:solidFill>
                  <a:srgbClr val="000000"/>
                </a:solidFill>
              </a:defRPr>
            </a:pPr>
            <a:r>
              <a:t>Example: February 2025 peak (~10% above baseline)</a:t>
            </a:r>
          </a:p>
          <a:p>
            <a:pPr>
              <a:defRPr sz="1400">
                <a:solidFill>
                  <a:srgbClr val="000000"/>
                </a:solidFill>
              </a:defRPr>
            </a:pPr>
          </a:p>
          <a:p>
            <a:pPr>
              <a:defRPr sz="1800" b="1">
                <a:solidFill>
                  <a:srgbClr val="000000"/>
                </a:solidFill>
              </a:defRPr>
            </a:pPr>
            <a:r>
              <a:t>Spanish Point Explanation:</a:t>
            </a:r>
          </a:p>
          <a:p>
            <a:pPr>
              <a:defRPr sz="1400">
                <a:solidFill>
                  <a:srgbClr val="000000"/>
                </a:solidFill>
              </a:defRPr>
            </a:pPr>
            <a:r>
              <a:t>"The environment is autoscale... cost is never fixed,</a:t>
            </a:r>
          </a:p>
          <a:p>
            <a:pPr>
              <a:defRPr sz="1400">
                <a:solidFill>
                  <a:srgbClr val="000000"/>
                </a:solidFill>
              </a:defRPr>
            </a:pPr>
            <a:r>
              <a:t>it's all based on the amount of workload."</a:t>
            </a:r>
          </a:p>
          <a:p>
            <a:pPr>
              <a:defRPr sz="1400">
                <a:solidFill>
                  <a:srgbClr val="000000"/>
                </a:solidFill>
              </a:defRPr>
            </a:pPr>
          </a:p>
          <a:p>
            <a:pPr>
              <a:defRPr sz="1800" b="1">
                <a:solidFill>
                  <a:srgbClr val="000000"/>
                </a:solidFill>
              </a:defRPr>
            </a:pPr>
            <a:r>
              <a:t>December Drop: Lower usage during holidays</a:t>
            </a:r>
          </a:p>
          <a:p>
            <a:pPr>
              <a:defRPr sz="1800" b="1">
                <a:solidFill>
                  <a:srgbClr val="000000"/>
                </a:solidFill>
              </a:defRPr>
            </a:pPr>
            <a:r>
              <a:t>February Peak: Higher agency file uploads and API calls</a:t>
            </a:r>
          </a:p>
          <a:p>
            <a:pPr>
              <a:defRPr sz="1400">
                <a:solidFill>
                  <a:srgbClr val="000000"/>
                </a:solidFill>
              </a:defRPr>
            </a:pPr>
          </a:p>
          <a:p>
            <a:pPr>
              <a:defRPr sz="1800" b="1">
                <a:solidFill>
                  <a:srgbClr val="000000"/>
                </a:solidFill>
              </a:defRPr>
            </a:pPr>
            <a:r>
              <a:t>Assessment: ✅ Auto-scaling working as designed</a:t>
            </a:r>
          </a:p>
          <a:p>
            <a:pPr>
              <a:defRPr sz="1400">
                <a:solidFill>
                  <a:srgbClr val="000000"/>
                </a:solidFill>
              </a:defRPr>
            </a:pPr>
            <a:r>
              <a:t>(cost variations = feature, not bug)</a:t>
            </a:r>
          </a:p>
          <a:p>
            <a:pPr>
              <a:defRPr sz="1800" b="1">
                <a:solidFill>
                  <a:srgbClr val="000000"/>
                </a:solidFill>
              </a:defRPr>
            </a:pPr>
            <a:r>
              <a:t>Audit Team Question (Nov 6 Workshop):</a:t>
            </a:r>
          </a:p>
          <a:p>
            <a:pPr>
              <a:defRPr sz="1400">
                <a:solidFill>
                  <a:srgbClr val="000000"/>
                </a:solidFill>
              </a:defRPr>
            </a:pPr>
            <a:r>
              <a:t>"Is there tooling to correlate usage metrics with Azure spending?"</a:t>
            </a:r>
          </a:p>
          <a:p>
            <a:pPr>
              <a:defRPr sz="1400">
                <a:solidFill>
                  <a:srgbClr val="000000"/>
                </a:solidFill>
              </a:defRPr>
            </a:pPr>
          </a:p>
          <a:p>
            <a:pPr>
              <a:defRPr sz="1800" b="1">
                <a:solidFill>
                  <a:srgbClr val="000000"/>
                </a:solidFill>
              </a:defRPr>
            </a:pPr>
            <a:r>
              <a:t>Spanish Point Response (Xiyuan Zeng):</a:t>
            </a:r>
          </a:p>
          <a:p>
            <a:pPr>
              <a:defRPr sz="1400">
                <a:solidFill>
                  <a:srgbClr val="000000"/>
                </a:solidFill>
              </a:defRPr>
            </a:pPr>
            <a:r>
              <a:t>"Not really... There's no tooling going to [correlate] causes</a:t>
            </a:r>
          </a:p>
          <a:p>
            <a:pPr>
              <a:defRPr sz="1400">
                <a:solidFill>
                  <a:srgbClr val="000000"/>
                </a:solidFill>
              </a:defRPr>
            </a:pPr>
            <a:r>
              <a:t>because the system has so many components."</a:t>
            </a:r>
          </a:p>
          <a:p>
            <a:pPr>
              <a:defRPr sz="1400">
                <a:solidFill>
                  <a:srgbClr val="000000"/>
                </a:solidFill>
              </a:defRPr>
            </a:pPr>
          </a:p>
          <a:p>
            <a:pPr>
              <a:defRPr sz="1800" b="1">
                <a:solidFill>
                  <a:srgbClr val="000000"/>
                </a:solidFill>
              </a:defRPr>
            </a:pPr>
            <a:r>
              <a:t>Current Process:</a:t>
            </a:r>
          </a:p>
          <a:p>
            <a:pPr>
              <a:defRPr sz="1400">
                <a:solidFill>
                  <a:srgbClr val="000000"/>
                </a:solidFill>
              </a:defRPr>
            </a:pPr>
            <a:r>
              <a:t>• Cost spikes require MANUAL support ticket investigation</a:t>
            </a:r>
          </a:p>
          <a:p>
            <a:pPr>
              <a:defRPr sz="1400">
                <a:solidFill>
                  <a:srgbClr val="000000"/>
                </a:solidFill>
              </a:defRPr>
            </a:pPr>
            <a:r>
              <a:t>• Spanish Point can analyze specific months on request</a:t>
            </a:r>
          </a:p>
          <a:p>
            <a:pPr>
              <a:defRPr sz="1400">
                <a:solidFill>
                  <a:srgbClr val="000000"/>
                </a:solidFill>
              </a:defRPr>
            </a:pPr>
            <a:r>
              <a:t>• Logs kept only 3 months</a:t>
            </a:r>
          </a:p>
          <a:p>
            <a:pPr>
              <a:defRPr sz="1400">
                <a:solidFill>
                  <a:srgbClr val="000000"/>
                </a:solidFill>
              </a:defRPr>
            </a:pPr>
            <a:r>
              <a:t>• No proactive monitoring</a:t>
            </a:r>
          </a:p>
          <a:p>
            <a:pPr>
              <a:defRPr sz="1400">
                <a:solidFill>
                  <a:srgbClr val="000000"/>
                </a:solidFill>
              </a:defRPr>
            </a:pPr>
            <a:r>
              <a:t>• No automated correlation dashboard</a:t>
            </a:r>
          </a:p>
          <a:p>
            <a:pPr>
              <a:defRPr sz="1400">
                <a:solidFill>
                  <a:srgbClr val="000000"/>
                </a:solidFill>
              </a:defRPr>
            </a:pPr>
          </a:p>
          <a:p>
            <a:pPr>
              <a:defRPr sz="1800" b="1">
                <a:solidFill>
                  <a:srgbClr val="000000"/>
                </a:solidFill>
              </a:defRPr>
            </a:pPr>
            <a:r>
              <a:t>Impact on CISAC:</a:t>
            </a:r>
          </a:p>
          <a:p>
            <a:pPr>
              <a:defRPr sz="1600">
                <a:solidFill>
                  <a:srgbClr val="DC143C"/>
                </a:solidFill>
              </a:defRPr>
            </a:pPr>
            <a:r>
              <a:t>❌ Cannot explain monthly variations to stakeholders</a:t>
            </a:r>
          </a:p>
          <a:p>
            <a:pPr>
              <a:defRPr sz="1600">
                <a:solidFill>
                  <a:srgbClr val="DC143C"/>
                </a:solidFill>
              </a:defRPr>
            </a:pPr>
            <a:r>
              <a:t>❌ Cannot forecast spending based on expected usage</a:t>
            </a:r>
          </a:p>
          <a:p>
            <a:pPr>
              <a:defRPr sz="1600">
                <a:solidFill>
                  <a:srgbClr val="DC143C"/>
                </a:solidFill>
              </a:defRPr>
            </a:pPr>
            <a:r>
              <a:t>❌ Cannot identify cost optimization opportunities proactively</a:t>
            </a:r>
          </a:p>
          <a:p>
            <a:pPr>
              <a:defRPr sz="1600">
                <a:solidFill>
                  <a:srgbClr val="DC143C"/>
                </a:solidFill>
              </a:defRPr>
            </a:pPr>
            <a:r>
              <a:t>❌ Financial stakeholders lack visibility</a:t>
            </a:r>
          </a:p>
          <a:p>
            <a:pPr>
              <a:defRPr sz="1800" b="1">
                <a:solidFill>
                  <a:srgbClr val="000000"/>
                </a:solidFill>
              </a:defRPr>
            </a:pPr>
            <a:r>
              <a:t>Spanish Point Acknowledgment:</a:t>
            </a:r>
          </a:p>
          <a:p>
            <a:pPr>
              <a:defRPr sz="1400">
                <a:solidFill>
                  <a:srgbClr val="000000"/>
                </a:solidFill>
              </a:defRPr>
            </a:pPr>
            <a:r>
              <a:t>"There can be a term called noisy neighbor... That agency or</a:t>
            </a:r>
          </a:p>
          <a:p>
            <a:pPr>
              <a:defRPr sz="1400">
                <a:solidFill>
                  <a:srgbClr val="000000"/>
                </a:solidFill>
              </a:defRPr>
            </a:pPr>
            <a:r>
              <a:t>very few model agency use the system the most. I think that's</a:t>
            </a:r>
          </a:p>
          <a:p>
            <a:pPr>
              <a:defRPr sz="1400">
                <a:solidFill>
                  <a:srgbClr val="000000"/>
                </a:solidFill>
              </a:defRPr>
            </a:pPr>
            <a:r>
              <a:t>actually the case."</a:t>
            </a:r>
          </a:p>
          <a:p>
            <a:pPr>
              <a:defRPr sz="1400">
                <a:solidFill>
                  <a:srgbClr val="000000"/>
                </a:solidFill>
              </a:defRPr>
            </a:pPr>
          </a:p>
          <a:p>
            <a:pPr>
              <a:defRPr sz="1800" b="1">
                <a:solidFill>
                  <a:srgbClr val="000000"/>
                </a:solidFill>
              </a:defRPr>
            </a:pPr>
            <a:r>
              <a:t>Finding:</a:t>
            </a:r>
          </a:p>
          <a:p>
            <a:pPr>
              <a:defRPr sz="1400">
                <a:solidFill>
                  <a:srgbClr val="000000"/>
                </a:solidFill>
              </a:defRPr>
            </a:pPr>
            <a:r>
              <a:t>• Some agencies drive majority of costs</a:t>
            </a:r>
          </a:p>
          <a:p>
            <a:pPr>
              <a:defRPr sz="1400">
                <a:solidFill>
                  <a:srgbClr val="000000"/>
                </a:solidFill>
              </a:defRPr>
            </a:pPr>
            <a:r>
              <a:t>• No cost allocation model exists</a:t>
            </a:r>
          </a:p>
          <a:p>
            <a:pPr>
              <a:defRPr sz="1400">
                <a:solidFill>
                  <a:srgbClr val="000000"/>
                </a:solidFill>
              </a:defRPr>
            </a:pPr>
            <a:r>
              <a:t>• All agencies pay flat-rate pricing regardless of usage</a:t>
            </a:r>
          </a:p>
          <a:p>
            <a:pPr>
              <a:defRPr sz="1400">
                <a:solidFill>
                  <a:srgbClr val="000000"/>
                </a:solidFill>
              </a:defRPr>
            </a:pPr>
          </a:p>
          <a:p>
            <a:pPr>
              <a:defRPr sz="1800" b="1">
                <a:solidFill>
                  <a:srgbClr val="000000"/>
                </a:solidFill>
              </a:defRPr>
            </a:pPr>
            <a:r>
              <a:t>Potential Future:</a:t>
            </a:r>
          </a:p>
          <a:p>
            <a:pPr>
              <a:defRPr sz="1400">
                <a:solidFill>
                  <a:srgbClr val="000000"/>
                </a:solidFill>
              </a:defRPr>
            </a:pPr>
            <a:r>
              <a:t>• Usage-based pricing per agency (would require tooling development)</a:t>
            </a:r>
          </a:p>
          <a:p>
            <a:pPr>
              <a:defRPr sz="1400">
                <a:solidFill>
                  <a:srgbClr val="000000"/>
                </a:solidFill>
              </a:defRPr>
            </a:pPr>
            <a:r>
              <a:t>• Fair cost distribution based on actual consumption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