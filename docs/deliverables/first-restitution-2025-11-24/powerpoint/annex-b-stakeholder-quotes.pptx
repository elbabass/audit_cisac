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62895" cy="1371600"/>
          </a:xfrm>
          <a:prstGeom prst="rect">
            <a:avLst/>
          </a:prstGeom>
          <a:noFill/>
        </p:spPr>
        <p:txBody>
          <a:bodyPr wrap="none">
            <a:spAutoFit/>
          </a:bodyPr>
          <a:lstStyle/>
          <a:p>
            <a:pPr algn="ctr">
              <a:defRPr sz="5400" b="1">
                <a:solidFill>
                  <a:srgbClr val="4169E1"/>
                </a:solidFill>
              </a:defRPr>
            </a:pPr>
            <a:r>
              <a:t>Annex B: Stakeholder Quotes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Yann Lebreuilly (CISAC - Head of Programs)</a:t>
            </a:r>
          </a:p>
        </p:txBody>
      </p:sp>
      <p:sp>
        <p:nvSpPr>
          <p:cNvPr id="3" name="TextBox 2"/>
          <p:cNvSpPr txBox="1"/>
          <p:nvPr/>
        </p:nvSpPr>
        <p:spPr>
          <a:xfrm>
            <a:off x="457200" y="1005840"/>
            <a:ext cx="11277295" cy="5486400"/>
          </a:xfrm>
          <a:prstGeom prst="rect">
            <a:avLst/>
          </a:prstGeom>
          <a:noFill/>
        </p:spPr>
        <p:txBody>
          <a:bodyPr wrap="square">
            <a:spAutoFit/>
          </a:bodyPr>
          <a:lstStyle/>
          <a:p>
            <a:pPr>
              <a:defRPr sz="1400">
                <a:solidFill>
                  <a:srgbClr val="000000"/>
                </a:solidFill>
              </a:defRPr>
            </a:pPr>
          </a:p>
          <a:p>
            <a:pPr>
              <a:defRPr sz="1400">
                <a:solidFill>
                  <a:srgbClr val="000000"/>
                </a:solidFill>
              </a:defRPr>
            </a:pPr>
            <a:r>
              <a:t>### On Strategic Vision</a:t>
            </a:r>
          </a:p>
          <a:p>
            <a:pPr>
              <a:defRPr sz="1400">
                <a:solidFill>
                  <a:srgbClr val="000000"/>
                </a:solidFill>
              </a:defRPr>
            </a:pPr>
          </a:p>
          <a:p>
            <a:pPr>
              <a:defRPr sz="1400">
                <a:solidFill>
                  <a:srgbClr val="000000"/>
                </a:solidFill>
              </a:defRPr>
            </a:pPr>
            <a:r>
              <a:t>&gt; "Ma vision moyen terme, c'est de me passer de eux, en fait, tout simplement. C'est ça la réalité aujourd'hui, parce que je ne peux pas gérer un SI sur lequel je n'ai pas la main, et actuellement je n'ai pas la main du tout."</a:t>
            </a:r>
          </a:p>
          <a:p>
            <a:pPr>
              <a:defRPr sz="1400">
                <a:solidFill>
                  <a:srgbClr val="000000"/>
                </a:solidFill>
              </a:defRPr>
            </a:pPr>
            <a:r>
              <a:t>&gt;</a:t>
            </a:r>
          </a:p>
          <a:p>
            <a:pPr>
              <a:defRPr sz="1400">
                <a:solidFill>
                  <a:srgbClr val="000000"/>
                </a:solidFill>
              </a:defRPr>
            </a:pPr>
            <a:r>
              <a:t>&gt; _Translation:_ "My medium-term vision is to get rid of them, quite simply. That's the reality today, because I cannot manage an IS that I don't control, and currently I have no control at all."</a:t>
            </a:r>
          </a:p>
          <a:p>
            <a:pPr>
              <a:defRPr sz="1400">
                <a:solidFill>
                  <a:srgbClr val="000000"/>
                </a:solidFill>
              </a:defRPr>
            </a:pPr>
            <a:r>
              <a:t>&gt;</a:t>
            </a:r>
          </a:p>
          <a:p>
            <a:pPr>
              <a:defRPr sz="1400">
                <a:solidFill>
                  <a:srgbClr val="000000"/>
                </a:solidFill>
              </a:defRPr>
            </a:pPr>
            <a:r>
              <a:t>&gt; Source: docs/meetings/20251021-ISWC - Discussion Yann_Guillaume_Bastien.txt, Line 27:54</a:t>
            </a:r>
          </a:p>
          <a:p>
            <a:pPr>
              <a:defRPr sz="1400">
                <a:solidFill>
                  <a:srgbClr val="000000"/>
                </a:solidFill>
              </a:defRPr>
            </a:pPr>
          </a:p>
          <a:p>
            <a:pPr>
              <a:defRPr sz="1400">
                <a:solidFill>
                  <a:srgbClr val="000000"/>
                </a:solidFill>
              </a:defRPr>
            </a:pPr>
            <a:r>
              <a:t>### On Governance</a:t>
            </a:r>
          </a:p>
          <a:p>
            <a:pPr>
              <a:defRPr sz="1400">
                <a:solidFill>
                  <a:srgbClr val="000000"/>
                </a:solidFill>
              </a:defRPr>
            </a:pPr>
          </a:p>
          <a:p>
            <a:pPr>
              <a:defRPr sz="1400">
                <a:solidFill>
                  <a:srgbClr val="000000"/>
                </a:solidFill>
              </a:defRPr>
            </a:pPr>
            <a:r>
              <a:t>&gt; "Pour moi, il y a beaucoup de choses qui ne vont pas sur le management de ce produit... la gouvernance est bancale... Donc, pour moi, c'est un marasme, ce truc-là."</a:t>
            </a:r>
          </a:p>
          <a:p>
            <a:pPr>
              <a:defRPr sz="1400">
                <a:solidFill>
                  <a:srgbClr val="000000"/>
                </a:solidFill>
              </a:defRPr>
            </a:pPr>
            <a:r>
              <a:t>&gt;</a:t>
            </a:r>
          </a:p>
          <a:p>
            <a:pPr>
              <a:defRPr sz="1400">
                <a:solidFill>
                  <a:srgbClr val="000000"/>
                </a:solidFill>
              </a:defRPr>
            </a:pPr>
            <a:r>
              <a:t>&gt; _Translation:_ "For me, there are many things that are not working in the management of this product... governance is shaky... So for me, it's a mess, this thing."</a:t>
            </a:r>
          </a:p>
          <a:p>
            <a:pPr>
              <a:defRPr sz="1400">
                <a:solidFill>
                  <a:srgbClr val="000000"/>
                </a:solidFill>
              </a:defRPr>
            </a:pPr>
            <a:r>
              <a:t>&gt;</a:t>
            </a:r>
          </a:p>
          <a:p>
            <a:pPr>
              <a:defRPr sz="1400">
                <a:solidFill>
                  <a:srgbClr val="000000"/>
                </a:solidFill>
              </a:defRPr>
            </a:pPr>
            <a:r>
              <a:t>&gt; Source: Same transcript, Line 03:20</a:t>
            </a:r>
          </a:p>
          <a:p>
            <a:pPr>
              <a:defRPr sz="1400">
                <a:solidFill>
                  <a:srgbClr val="000000"/>
                </a:solidFill>
              </a:defRPr>
            </a:pPr>
          </a:p>
          <a:p>
            <a:pPr>
              <a:defRPr sz="1400">
                <a:solidFill>
                  <a:srgbClr val="000000"/>
                </a:solidFill>
              </a:defRPr>
            </a:pPr>
            <a:r>
              <a:t>### On May 2024 Production Incident</a:t>
            </a:r>
          </a:p>
          <a:p>
            <a:pPr>
              <a:defRPr sz="1400">
                <a:solidFill>
                  <a:srgbClr val="000000"/>
                </a:solidFill>
              </a:defRPr>
            </a:pPr>
          </a:p>
          <a:p>
            <a:pPr>
              <a:defRPr sz="1400">
                <a:solidFill>
                  <a:srgbClr val="000000"/>
                </a:solidFill>
              </a:defRPr>
            </a:pPr>
            <a:r>
              <a:t>&gt; "On a mis six mois à fixer tous les problèmes qu'il y a eu à ce moment-là. Il y a eu un merge qui a eu lieu avec du code qui était en POC. Un POC sur un autre projet, ça a été mergé avec la branche principale et c'est sorti en prod."</a:t>
            </a:r>
          </a:p>
          <a:p>
            <a:pPr>
              <a:defRPr sz="1400">
                <a:solidFill>
                  <a:srgbClr val="000000"/>
                </a:solidFill>
              </a:defRPr>
            </a:pPr>
            <a:r>
              <a:t>&gt;</a:t>
            </a:r>
          </a:p>
          <a:p>
            <a:pPr>
              <a:defRPr sz="1400">
                <a:solidFill>
                  <a:srgbClr val="000000"/>
                </a:solidFill>
              </a:defRPr>
            </a:pPr>
            <a:r>
              <a:t>&gt; _Translation:_ "It took us six months to fix all the problems. There was a merge with POC code from another project, merged to the main branch and deployed to production."</a:t>
            </a:r>
          </a:p>
          <a:p>
            <a:pPr>
              <a:defRPr sz="1400">
                <a:solidFill>
                  <a:srgbClr val="000000"/>
                </a:solidFill>
              </a:defRPr>
            </a:pPr>
            <a:r>
              <a:t>&gt;</a:t>
            </a:r>
          </a:p>
          <a:p>
            <a:pPr>
              <a:defRPr sz="1400">
                <a:solidFill>
                  <a:srgbClr val="000000"/>
                </a:solidFill>
              </a:defRPr>
            </a:pPr>
            <a:r>
              <a:t>&gt; Source: Same transcript, Line 41:40</a:t>
            </a:r>
          </a:p>
          <a:p>
            <a:pPr>
              <a:defRPr sz="1400">
                <a:solidFill>
                  <a:srgbClr val="000000"/>
                </a:solidFill>
              </a:defRPr>
            </a:pPr>
          </a:p>
          <a:p>
            <a:pPr>
              <a:defRPr sz="1400">
                <a:solidFill>
                  <a:srgbClr val="000000"/>
                </a:solidFill>
              </a:defRPr>
            </a:pPr>
            <a:r>
              <a:t>### On CAB Implementation</a:t>
            </a:r>
          </a:p>
          <a:p>
            <a:pPr>
              <a:defRPr sz="1400">
                <a:solidFill>
                  <a:srgbClr val="000000"/>
                </a:solidFill>
              </a:defRPr>
            </a:pPr>
          </a:p>
          <a:p>
            <a:pPr>
              <a:defRPr sz="1400">
                <a:solidFill>
                  <a:srgbClr val="000000"/>
                </a:solidFill>
              </a:defRPr>
            </a:pPr>
            <a:r>
              <a:t>&gt; "J'ai mis en place un CAB pour les déploie</a:t>
            </a:r>
          </a:p>
          <a:p>
            <a:pPr>
              <a:defRPr sz="1400">
                <a:solidFill>
                  <a:srgbClr val="000000"/>
                </a:solidFill>
              </a:defRPr>
            </a:pPr>
          </a:p>
          <a:p>
            <a:pPr>
              <a:defRPr sz="1400">
                <a:solidFill>
                  <a:srgbClr val="000000"/>
                </a:solidFill>
              </a:defRPr>
            </a:pPr>
            <a:r>
              <a:t>[Content truncated - see full documentation]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Guillaume Jay (Audit Team)</a:t>
            </a:r>
          </a:p>
        </p:txBody>
      </p:sp>
      <p:sp>
        <p:nvSpPr>
          <p:cNvPr id="3" name="TextBox 2"/>
          <p:cNvSpPr txBox="1"/>
          <p:nvPr/>
        </p:nvSpPr>
        <p:spPr>
          <a:xfrm>
            <a:off x="457200" y="1005840"/>
            <a:ext cx="11277295" cy="5486400"/>
          </a:xfrm>
          <a:prstGeom prst="rect">
            <a:avLst/>
          </a:prstGeom>
          <a:noFill/>
        </p:spPr>
        <p:txBody>
          <a:bodyPr wrap="square">
            <a:spAutoFit/>
          </a:bodyPr>
          <a:lstStyle/>
          <a:p>
            <a:pPr>
              <a:defRPr sz="1400">
                <a:solidFill>
                  <a:srgbClr val="000000"/>
                </a:solidFill>
              </a:defRPr>
            </a:pPr>
          </a:p>
          <a:p>
            <a:pPr>
              <a:defRPr sz="1400">
                <a:solidFill>
                  <a:srgbClr val="000000"/>
                </a:solidFill>
              </a:defRPr>
            </a:pPr>
            <a:r>
              <a:t>### On Workshop 1 Experience</a:t>
            </a:r>
          </a:p>
          <a:p>
            <a:pPr>
              <a:defRPr sz="1400">
                <a:solidFill>
                  <a:srgbClr val="000000"/>
                </a:solidFill>
              </a:defRPr>
            </a:pPr>
          </a:p>
          <a:p>
            <a:pPr>
              <a:defRPr sz="1400">
                <a:solidFill>
                  <a:srgbClr val="000000"/>
                </a:solidFill>
              </a:defRPr>
            </a:pPr>
            <a:r>
              <a:t>&gt; "J'ai pris une telle baffe hier, une telle froideur... eux aussi ils ont plein de trucs hyper propriétaires, mais les gens ils étaient enthousiastes, ils participaient au truc, il y avait un partenariat."</a:t>
            </a:r>
          </a:p>
          <a:p>
            <a:pPr>
              <a:defRPr sz="1400">
                <a:solidFill>
                  <a:srgbClr val="000000"/>
                </a:solidFill>
              </a:defRPr>
            </a:pPr>
            <a:r>
              <a:t>&gt;</a:t>
            </a:r>
          </a:p>
          <a:p>
            <a:pPr>
              <a:defRPr sz="1400">
                <a:solidFill>
                  <a:srgbClr val="000000"/>
                </a:solidFill>
              </a:defRPr>
            </a:pPr>
            <a:r>
              <a:t>&gt; _Translation:_ "I took such a slap yesterday, such coldness... they also have lots of proprietary stuff, but people were enthusiastic, they participated, there was a partnership."</a:t>
            </a:r>
          </a:p>
          <a:p>
            <a:pPr>
              <a:defRPr sz="1400">
                <a:solidFill>
                  <a:srgbClr val="000000"/>
                </a:solidFill>
              </a:defRPr>
            </a:pPr>
            <a:r>
              <a:t>&gt;</a:t>
            </a:r>
          </a:p>
          <a:p>
            <a:pPr>
              <a:defRPr sz="1400">
                <a:solidFill>
                  <a:srgbClr val="000000"/>
                </a:solidFill>
              </a:defRPr>
            </a:pPr>
            <a:r>
              <a:t>&gt; Source: Same transcript, Line 08:14</a:t>
            </a:r>
          </a:p>
          <a:p>
            <a:pPr>
              <a:defRPr sz="1400">
                <a:solidFill>
                  <a:srgbClr val="000000"/>
                </a:solidFill>
              </a:defRPr>
            </a:pPr>
          </a:p>
          <a:p>
            <a:pPr>
              <a:defRPr sz="1400">
                <a:solidFill>
                  <a:srgbClr val="000000"/>
                </a:solidFill>
              </a:defRPr>
            </a:pPr>
            <a:r>
              <a:t>### On Spanish Point's Business Model</a:t>
            </a:r>
          </a:p>
          <a:p>
            <a:pPr>
              <a:defRPr sz="1400">
                <a:solidFill>
                  <a:srgbClr val="000000"/>
                </a:solidFill>
              </a:defRPr>
            </a:pPr>
          </a:p>
          <a:p>
            <a:pPr>
              <a:defRPr sz="1400">
                <a:solidFill>
                  <a:srgbClr val="000000"/>
                </a:solidFill>
              </a:defRPr>
            </a:pPr>
            <a:r>
              <a:t>&gt; "Donc, leur business model est basé sur vos données. Il n'existe pas sans vos données."</a:t>
            </a:r>
          </a:p>
          <a:p>
            <a:pPr>
              <a:defRPr sz="1400">
                <a:solidFill>
                  <a:srgbClr val="000000"/>
                </a:solidFill>
              </a:defRPr>
            </a:pPr>
            <a:r>
              <a:t>&gt;</a:t>
            </a:r>
          </a:p>
          <a:p>
            <a:pPr>
              <a:defRPr sz="1400">
                <a:solidFill>
                  <a:srgbClr val="000000"/>
                </a:solidFill>
              </a:defRPr>
            </a:pPr>
            <a:r>
              <a:t>&gt; _Translation:_ "So their business model is based on your data. It doesn't exist without your data."</a:t>
            </a:r>
          </a:p>
          <a:p>
            <a:pPr>
              <a:defRPr sz="1400">
                <a:solidFill>
                  <a:srgbClr val="000000"/>
                </a:solidFill>
              </a:defRPr>
            </a:pPr>
            <a:r>
              <a:t>&gt;</a:t>
            </a:r>
          </a:p>
          <a:p>
            <a:pPr>
              <a:defRPr sz="1400">
                <a:solidFill>
                  <a:srgbClr val="000000"/>
                </a:solidFill>
              </a:defRPr>
            </a:pPr>
            <a:r>
              <a:t>&gt; Source: Same transcript, Line 34:17</a:t>
            </a:r>
          </a:p>
          <a:p>
            <a:pPr>
              <a:defRPr sz="1400">
                <a:solidFill>
                  <a:srgbClr val="000000"/>
                </a:solidFill>
              </a:defRPr>
            </a:p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Bastien Gallay (Audit Team) and Guillaume Jay</a:t>
            </a:r>
          </a:p>
        </p:txBody>
      </p:sp>
      <p:sp>
        <p:nvSpPr>
          <p:cNvPr id="3" name="TextBox 2"/>
          <p:cNvSpPr txBox="1"/>
          <p:nvPr/>
        </p:nvSpPr>
        <p:spPr>
          <a:xfrm>
            <a:off x="457200" y="1005840"/>
            <a:ext cx="11277295" cy="5486400"/>
          </a:xfrm>
          <a:prstGeom prst="rect">
            <a:avLst/>
          </a:prstGeom>
          <a:noFill/>
        </p:spPr>
        <p:txBody>
          <a:bodyPr wrap="square">
            <a:spAutoFit/>
          </a:bodyPr>
          <a:lstStyle/>
          <a:p>
            <a:pPr>
              <a:defRPr sz="1400">
                <a:solidFill>
                  <a:srgbClr val="000000"/>
                </a:solidFill>
              </a:defRPr>
            </a:pPr>
          </a:p>
          <a:p>
            <a:pPr>
              <a:defRPr sz="1400">
                <a:solidFill>
                  <a:srgbClr val="000000"/>
                </a:solidFill>
              </a:defRPr>
            </a:pPr>
            <a:r>
              <a:t>### On Code Quality (Oct 30 Checkpoint)</a:t>
            </a:r>
          </a:p>
          <a:p>
            <a:pPr>
              <a:defRPr sz="1400">
                <a:solidFill>
                  <a:srgbClr val="000000"/>
                </a:solidFill>
              </a:defRPr>
            </a:pPr>
          </a:p>
          <a:p>
            <a:pPr>
              <a:defRPr sz="1400">
                <a:solidFill>
                  <a:srgbClr val="000000"/>
                </a:solidFill>
              </a:defRPr>
            </a:pPr>
            <a:r>
              <a:t>&gt; "Not bad, well-structured, easy to navigate... Very little commenting and significant code duplication... Even for them [Spanish Point], onboarding new developers must be hard."</a:t>
            </a:r>
          </a:p>
          <a:p>
            <a:pPr>
              <a:defRPr sz="1400">
                <a:solidFill>
                  <a:srgbClr val="000000"/>
                </a:solidFill>
              </a:defRPr>
            </a:pPr>
            <a:r>
              <a:t>&gt;</a:t>
            </a:r>
          </a:p>
          <a:p>
            <a:pPr>
              <a:defRPr sz="1400">
                <a:solidFill>
                  <a:srgbClr val="000000"/>
                </a:solidFill>
              </a:defRPr>
            </a:pPr>
            <a:r>
              <a:t>&gt; Source: docs/meetings/20251030-Audit ISWC - Point de passage.txt</a:t>
            </a:r>
          </a:p>
          <a:p>
            <a:pPr>
              <a:defRPr sz="1400">
                <a:solidFill>
                  <a:srgbClr val="000000"/>
                </a:solidFill>
              </a:defRPr>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Xiyuan Zeng (Spanish Point - Infrastructure Architect)</a:t>
            </a:r>
          </a:p>
        </p:txBody>
      </p:sp>
      <p:sp>
        <p:nvSpPr>
          <p:cNvPr id="3" name="TextBox 2"/>
          <p:cNvSpPr txBox="1"/>
          <p:nvPr/>
        </p:nvSpPr>
        <p:spPr>
          <a:xfrm>
            <a:off x="457200" y="1005840"/>
            <a:ext cx="11277295" cy="5486400"/>
          </a:xfrm>
          <a:prstGeom prst="rect">
            <a:avLst/>
          </a:prstGeom>
          <a:noFill/>
        </p:spPr>
        <p:txBody>
          <a:bodyPr wrap="square">
            <a:spAutoFit/>
          </a:bodyPr>
          <a:lstStyle/>
          <a:p>
            <a:pPr>
              <a:defRPr sz="1400">
                <a:solidFill>
                  <a:srgbClr val="000000"/>
                </a:solidFill>
              </a:defRPr>
            </a:pPr>
          </a:p>
          <a:p>
            <a:pPr>
              <a:defRPr sz="1400">
                <a:solidFill>
                  <a:srgbClr val="000000"/>
                </a:solidFill>
              </a:defRPr>
            </a:pPr>
            <a:r>
              <a:t>### On Code Complexity</a:t>
            </a:r>
          </a:p>
          <a:p>
            <a:pPr>
              <a:defRPr sz="1400">
                <a:solidFill>
                  <a:srgbClr val="000000"/>
                </a:solidFill>
              </a:defRPr>
            </a:pPr>
          </a:p>
          <a:p>
            <a:pPr>
              <a:defRPr sz="1400">
                <a:solidFill>
                  <a:srgbClr val="000000"/>
                </a:solidFill>
              </a:defRPr>
            </a:pPr>
            <a:r>
              <a:t>&gt; "You're going to be surprised for the code because code is not just one project... it's actually very complicated... You won't find it easy to read the source code... I think many developers touched it and modified it."</a:t>
            </a:r>
          </a:p>
          <a:p>
            <a:pPr>
              <a:defRPr sz="1400">
                <a:solidFill>
                  <a:srgbClr val="000000"/>
                </a:solidFill>
              </a:defRPr>
            </a:pPr>
            <a:r>
              <a:t>&gt;</a:t>
            </a:r>
          </a:p>
          <a:p>
            <a:pPr>
              <a:defRPr sz="1400">
                <a:solidFill>
                  <a:srgbClr val="000000"/>
                </a:solidFill>
              </a:defRPr>
            </a:pPr>
            <a:r>
              <a:t>&gt; Source: docs/meetings/20251021-ISWC Audit - Workshop 2 - Documentations and infrastructure.txt, Line 1:32:02</a:t>
            </a:r>
          </a:p>
          <a:p>
            <a:pPr>
              <a:defRPr sz="1400">
                <a:solidFill>
                  <a:srgbClr val="000000"/>
                </a:solidFill>
              </a:defRPr>
            </a:pPr>
          </a:p>
          <a:p>
            <a:pPr>
              <a:defRPr sz="1400">
                <a:solidFill>
                  <a:srgbClr val="000000"/>
                </a:solidFill>
              </a:defRPr>
            </a:pPr>
            <a:r>
              <a:t>### On Cost Variations (Nov 6 Workshop)</a:t>
            </a:r>
          </a:p>
          <a:p>
            <a:pPr>
              <a:defRPr sz="1400">
                <a:solidFill>
                  <a:srgbClr val="000000"/>
                </a:solidFill>
              </a:defRPr>
            </a:pPr>
          </a:p>
          <a:p>
            <a:pPr>
              <a:defRPr sz="1400">
                <a:solidFill>
                  <a:srgbClr val="000000"/>
                </a:solidFill>
              </a:defRPr>
            </a:pPr>
            <a:r>
              <a:t>&gt; "The environment is autoscale... cost is never fixed, it's all based on the amount of workload."</a:t>
            </a:r>
          </a:p>
          <a:p>
            <a:pPr>
              <a:defRPr sz="1400">
                <a:solidFill>
                  <a:srgbClr val="000000"/>
                </a:solidFill>
              </a:defRPr>
            </a:pPr>
            <a:r>
              <a:t>&gt;</a:t>
            </a:r>
          </a:p>
          <a:p>
            <a:pPr>
              <a:defRPr sz="1400">
                <a:solidFill>
                  <a:srgbClr val="000000"/>
                </a:solidFill>
              </a:defRPr>
            </a:pPr>
            <a:r>
              <a:t>&gt; Source: docs/meetings/20251106-[ISWC Audit]Cloud Cost Breakdown ＆ Infrastructure Configuration-transcript.txt</a:t>
            </a:r>
          </a:p>
          <a:p>
            <a:pPr>
              <a:defRPr sz="1400">
                <a:solidFill>
                  <a:srgbClr val="000000"/>
                </a:solidFill>
              </a:defRPr>
            </a:pPr>
          </a:p>
          <a:p>
            <a:pPr>
              <a:defRPr sz="1400">
                <a:solidFill>
                  <a:srgbClr val="000000"/>
                </a:solidFill>
              </a:defRPr>
            </a:pPr>
            <a:r>
              <a:t>### On Cost Correlation (Nov 6 Workshop)</a:t>
            </a:r>
          </a:p>
          <a:p>
            <a:pPr>
              <a:defRPr sz="1400">
                <a:solidFill>
                  <a:srgbClr val="000000"/>
                </a:solidFill>
              </a:defRPr>
            </a:pPr>
          </a:p>
          <a:p>
            <a:pPr>
              <a:defRPr sz="1400">
                <a:solidFill>
                  <a:srgbClr val="000000"/>
                </a:solidFill>
              </a:defRPr>
            </a:pPr>
            <a:r>
              <a:t>&gt; "Not really... There's no tooling going to [correlate] causes because the system has so many components."</a:t>
            </a:r>
          </a:p>
          <a:p>
            <a:pPr>
              <a:defRPr sz="1400">
                <a:solidFill>
                  <a:srgbClr val="000000"/>
                </a:solidFill>
              </a:defRPr>
            </a:pPr>
            <a:r>
              <a:t>&gt;</a:t>
            </a:r>
          </a:p>
          <a:p>
            <a:pPr>
              <a:defRPr sz="1400">
                <a:solidFill>
                  <a:srgbClr val="000000"/>
                </a:solidFill>
              </a:defRPr>
            </a:pPr>
            <a:r>
              <a:t>&gt; Source: Same transcript, ~1:15:00 timestamp</a:t>
            </a:r>
          </a:p>
          <a:p>
            <a:pPr>
              <a:defRPr sz="1400">
                <a:solidFill>
                  <a:srgbClr val="000000"/>
                </a:solidFill>
              </a:defRPr>
            </a:pPr>
          </a:p>
          <a:p>
            <a:pPr>
              <a:defRPr sz="1400">
                <a:solidFill>
                  <a:srgbClr val="000000"/>
                </a:solidFill>
              </a:defRPr>
            </a:pPr>
            <a:r>
              <a:t>### On "Noisy Neighbor" (Nov 6 Workshop)</a:t>
            </a:r>
          </a:p>
          <a:p>
            <a:pPr>
              <a:defRPr sz="1400">
                <a:solidFill>
                  <a:srgbClr val="000000"/>
                </a:solidFill>
              </a:defRPr>
            </a:pPr>
          </a:p>
          <a:p>
            <a:pPr>
              <a:defRPr sz="1400">
                <a:solidFill>
                  <a:srgbClr val="000000"/>
                </a:solidFill>
              </a:defRPr>
            </a:pPr>
            <a:r>
              <a:t>&gt; "You are absolutely correct. There can be a term called noisy neighbor... That agency or very few model agencies use the system the most. I think that's actually the case."</a:t>
            </a:r>
          </a:p>
          <a:p>
            <a:pPr>
              <a:defRPr sz="1400">
                <a:solidFill>
                  <a:srgbClr val="000000"/>
                </a:solidFill>
              </a:defRPr>
            </a:pPr>
            <a:r>
              <a:t>&gt;</a:t>
            </a:r>
          </a:p>
          <a:p>
            <a:pPr>
              <a:defRPr sz="1400">
                <a:solidFill>
                  <a:srgbClr val="000000"/>
                </a:solidFill>
              </a:defRPr>
            </a:pPr>
            <a:r>
              <a:t>&gt; Source: Same transcript</a:t>
            </a:r>
          </a:p>
          <a:p>
            <a:pPr>
              <a:defRPr sz="1400">
                <a:solidFill>
                  <a:srgbClr val="000000"/>
                </a:solidFill>
              </a:defRPr>
            </a:pPr>
          </a:p>
          <a:p>
            <a:pPr>
              <a:defRPr sz="1400">
                <a:solidFill>
                  <a:srgbClr val="000000"/>
                </a:solidFill>
              </a:defRPr>
            </a:pPr>
            <a:r>
              <a:t>---</a:t>
            </a:r>
          </a:p>
          <a:p>
            <a:pPr>
              <a:defRPr sz="1400">
                <a:solidFill>
                  <a:srgbClr val="000000"/>
                </a:solidFill>
              </a:defRPr>
            </a:pPr>
          </a:p>
          <a:p>
            <a:pPr>
              <a:defRPr sz="1400">
                <a:solidFill>
                  <a:srgbClr val="000000"/>
                </a:solidFill>
              </a:defRPr>
            </a:pPr>
            <a:r>
              <a:t>|</a:t>
            </a:r>
          </a:p>
          <a:p>
            <a:pPr>
              <a:defRPr sz="1400">
                <a:solidFill>
                  <a:srgbClr val="000000"/>
                </a:solidFill>
              </a:defRPr>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