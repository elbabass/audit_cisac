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everything we've found, here's our recommended strategy.</a:t>
            </a:r>
          </a:p>
          <a:p/>
          <a:p>
            <a:r>
              <a:t>**The hybrid approach: Test → Negotiate → Decide**</a:t>
            </a:r>
          </a:p>
          <a:p/>
          <a:p>
            <a:r>
              <a:t>We don't recommend committing to a vendor switch today. We also don't recommend accepting the status quo. We recommend a phased approach that gathers data, reduces uncertainty, and strengthens CISAC's negotiating position before making major decisions.</a:t>
            </a:r>
          </a:p>
          <a:p/>
          <a:p>
            <a:r>
              <a:t>**Phase 1 (Immediate - Nov/Dec 2025): Gather Data**</a:t>
            </a:r>
          </a:p>
          <a:p/>
          <a:p>
            <a:r>
              <a:t>Three parallel workstreams:</a:t>
            </a:r>
          </a:p>
          <a:p/>
          <a:p>
            <a:r>
              <a:t>1. **Knowledge Transfer Pilot Test** (€10-20K, 2 months)</a:t>
            </a:r>
          </a:p>
          <a:p/>
          <a:p>
            <a:r>
              <a:t>   Assign a small, low-risk feature to an independent vendor. For example: "Add a new validation rule" or "Generate a new report format" or "Implement a minor UI enhancement."</a:t>
            </a:r>
          </a:p>
          <a:p/>
          <a:p>
            <a:r>
              <a:t>   Give them:</a:t>
            </a:r>
          </a:p>
          <a:p/>
          <a:p>
            <a:r>
              <a:t>   - Source code (.NET 8)</a:t>
            </a:r>
          </a:p>
          <a:p>
            <a:r>
              <a:t>   - Existing documentation</a:t>
            </a:r>
          </a:p>
          <a:p>
            <a:r>
              <a:t>   - Feature specification</a:t>
            </a:r>
          </a:p>
          <a:p/>
          <a:p>
            <a:r>
              <a:t>   See if they can deliver. See what questions they ask. See if Spanish Point cooperates with handover materials.</a:t>
            </a:r>
          </a:p>
          <a:p/>
          <a:p>
            <a:r>
              <a:t>   **Success criteria:**</a:t>
            </a:r>
          </a:p>
          <a:p/>
          <a:p>
            <a:r>
              <a:t>   - Feature delivered correctly</a:t>
            </a:r>
          </a:p>
          <a:p>
            <a:r>
              <a:t>   - Timeline reasonable (not 10x longer than expected)</a:t>
            </a:r>
          </a:p>
          <a:p>
            <a:r>
              <a:t>   - Independent vendor doesn't require extensive Spanish Point support</a:t>
            </a:r>
          </a:p>
          <a:p/>
          <a:p>
            <a:r>
              <a:t>   **If pilot fails:** Knowledge transfer viability is low. Vendor switch is high risk. Option B (improve current relationship) becomes preferred.</a:t>
            </a:r>
          </a:p>
          <a:p/>
          <a:p>
            <a:r>
              <a:t>   **If pilot succeeds:** Knowledge transfer is feasible. Vendor switch is an option. Proceed with detailed RFP.</a:t>
            </a:r>
          </a:p>
          <a:p/>
          <a:p>
            <a:r>
              <a:t>2. **Matching Engine Market Research** (€5-10K, 2 months)</a:t>
            </a:r>
          </a:p>
          <a:p/>
          <a:p>
            <a:r>
              <a:t>   Research alternative matching engine vendors. Music rights matching is a specialized domain - who else offers this?</a:t>
            </a:r>
          </a:p>
          <a:p/>
          <a:p>
            <a:r>
              <a:t>   Request proposals, demos, API documentation. Assess:</a:t>
            </a:r>
          </a:p>
          <a:p/>
          <a:p>
            <a:r>
              <a:t>   - Functionality comparison (do they match Spanish Point's capabilities?)</a:t>
            </a:r>
          </a:p>
          <a:p>
            <a:r>
              <a:t>   - API compatibility (can they replace via adapter layer?)</a:t>
            </a:r>
          </a:p>
          <a:p>
            <a:r>
              <a:t>   - Cost comparison</a:t>
            </a:r>
          </a:p>
          <a:p>
            <a:r>
              <a:t>   - Market maturity and references</a:t>
            </a:r>
          </a:p>
          <a:p/>
          <a:p>
            <a:r>
              <a:t>   **If alternatives exist:** Vendor switch is more feasible. Use as leverage in negotiations.</a:t>
            </a:r>
          </a:p>
          <a:p/>
          <a:p>
            <a:r>
              <a:t>   **If no alternatives exist:** Matching Engine lock-in is unavoidable. Accept it, optimize around it.</a:t>
            </a:r>
          </a:p>
          <a:p/>
          <a:p>
            <a:r>
              <a:t>3. **Contract Renegotiation** (Parallel, ongoing)</a:t>
            </a:r>
          </a:p>
          <a:p/>
          <a:p>
            <a:r>
              <a:t>   Use audit findings as leverage to negotiate better terms:</a:t>
            </a:r>
          </a:p>
          <a:p/>
          <a:p>
            <a:r>
              <a:t>   - **Git history access** - Immediate requirement, no longer pending compliance review</a:t>
            </a:r>
          </a:p>
          <a:p>
            <a:r>
              <a:t>   - **IaC templates inclusion** - Standard deliverable, not proprietary asset</a:t>
            </a:r>
          </a:p>
          <a:p>
            <a:r>
              <a:t>   - **Cost correlation tooling** - Automated dashboard, monthly cost reviews</a:t>
            </a:r>
          </a:p>
          <a:p>
            <a:r>
              <a:t>   - **Performance SLAs** - Formal performance commitments (P95 latency, uptime)</a:t>
            </a:r>
          </a:p>
          <a:p>
            <a:r>
              <a:t>   - **Enhanced Definition of Done** - Documentation updates required for all deliveries</a:t>
            </a:r>
          </a:p>
          <a:p>
            <a:r>
              <a:t>   - **Proactive metrics sharing** - Performance dashboards, cost breakdowns</a:t>
            </a:r>
          </a:p>
          <a:p/>
          <a:p>
            <a:r>
              <a:t>   **Leverage:**</a:t>
            </a:r>
          </a:p>
          <a:p/>
          <a:p>
            <a:r>
              <a:t>   - CISAC's data is Spanish Point's business model foundation</a:t>
            </a:r>
          </a:p>
          <a:p>
            <a:r>
              <a:t>   - CISAC is volume leader among music societies</a:t>
            </a:r>
          </a:p>
          <a:p>
            <a:r>
              <a:t>   - CISAC's satisfaction impacts Spanish Point's reputation</a:t>
            </a:r>
          </a:p>
          <a:p>
            <a:r>
              <a:t>   - Audit findings document transparency gaps and governance failures</a:t>
            </a:r>
          </a:p>
          <a:p/>
          <a:p>
            <a:r>
              <a:t>   **Outcome:** Better terms even if you stay with Spanish Point. Reduced lock-in even if you don't switch vendors.</a:t>
            </a:r>
          </a:p>
          <a:p/>
          <a:p>
            <a:r>
              <a:t>**Phase 2 (Q1-Q2 2026 - 6 months): Decide Based on Results**</a:t>
            </a:r>
          </a:p>
          <a:p/>
          <a:p>
            <a:r>
              <a:t>After Phase 1, you'll have data:</a:t>
            </a:r>
          </a:p>
          <a:p/>
          <a:p>
            <a:r>
              <a:t>- Is knowledge transfer feasible? (Pilot results)</a:t>
            </a:r>
          </a:p>
          <a:p>
            <a:r>
              <a:t>- Do alternative matching engines exist? (Market research results)</a:t>
            </a:r>
          </a:p>
          <a:p>
            <a:r>
              <a:t>- Are better contract terms achievable? (Negotiation outcomes)</a:t>
            </a:r>
          </a:p>
          <a:p/>
          <a:p>
            <a:r>
              <a:t>Three possible paths:</a:t>
            </a:r>
          </a:p>
          <a:p/>
          <a:p>
            <a:r>
              <a:t>**Option A - Vendor Transition:** IF pilot successful AND alternatives exist, proceed with full vendor switch RFP. 12-24 months, €300-600K, high risk but full independence.</a:t>
            </a:r>
          </a:p>
          <a:p/>
          <a:p>
            <a:r>
              <a:t>**Option B - Improved Relationship:** IF pilot fails OR no alternatives, stay with Spanish Point under better terms. Use pilot results and audit findings as leverage. Lower risk, proven platform, better governance.</a:t>
            </a:r>
          </a:p>
          <a:p/>
          <a:p>
            <a:r>
              <a:t>**Option C - Partial Independence:** IF pilot shows mixed results, split the model. New vendor for application maintenance, Spanish Point for Matching Engine. Clear interface contracts, improved knowledge management.</a:t>
            </a:r>
          </a:p>
          <a:p/>
          <a:p>
            <a:r>
              <a:t>**Don't decide today which path.** Decide after you have data.</a:t>
            </a:r>
          </a:p>
          <a:p/>
          <a:p>
            <a:r>
              <a:t>**Phase 3 (H2 2026 onwards): Execute**</a:t>
            </a:r>
          </a:p>
          <a:p/>
          <a:p>
            <a:r>
              <a:t>Execute the chosen strategy with confidence, knowing it's based on evidence rather than assumptions.</a:t>
            </a:r>
          </a:p>
          <a:p/>
          <a:p>
            <a:r>
              <a:t>**Why this approach?**</a:t>
            </a:r>
          </a:p>
          <a:p/>
          <a:p>
            <a:r>
              <a:t>- ✅ **Reduces risk** - Test before committing</a:t>
            </a:r>
          </a:p>
          <a:p>
            <a:r>
              <a:t>- ✅ **Gathers data** - Decide with evidence, not guesses</a:t>
            </a:r>
          </a:p>
          <a:p>
            <a:r>
              <a:t>- ✅ **Strengthens leverage** - Research alternatives, document findings</a:t>
            </a:r>
          </a:p>
          <a:p>
            <a:r>
              <a:t>- ✅ **Optimizes outcome** - Better terms even if you don't switch</a:t>
            </a:r>
          </a:p>
          <a:p/>
          <a:p>
            <a:r>
              <a:t>This is how you make a multi-million-euro strategic decision responsibly.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 transfer pilot is the single most important recommendation we're making today. Here's why and how.</a:t>
            </a:r>
          </a:p>
          <a:p/>
          <a:p>
            <a:r>
              <a:t>**Why €10-20K?**</a:t>
            </a:r>
          </a:p>
          <a:p/>
          <a:p>
            <a:r>
              <a:t>This is the cost of engaging an independent vendor for a small feature assignment:</a:t>
            </a:r>
          </a:p>
          <a:p/>
          <a:p>
            <a:r>
              <a:t>- 1-2 weeks development time</a:t>
            </a:r>
          </a:p>
          <a:p>
            <a:r>
              <a:t>- Testing and documentation</a:t>
            </a:r>
          </a:p>
          <a:p>
            <a:r>
              <a:t>- Project management overhead</a:t>
            </a:r>
          </a:p>
          <a:p>
            <a:r>
              <a:t>- Vendor proposal and scoping effort</a:t>
            </a:r>
          </a:p>
          <a:p/>
          <a:p>
            <a:r>
              <a:t>**Why is this critical?**</a:t>
            </a:r>
          </a:p>
          <a:p/>
          <a:p>
            <a:r>
              <a:t>Because **everything else depends on this unknown.** You can estimate infrastructure costs. You can scope Matching Engine alternatives. You can negotiate contract terms. But knowledge transfer viability is binary - either another vendor can maintain this code, or they can't.</a:t>
            </a:r>
          </a:p>
          <a:p/>
          <a:p>
            <a:r>
              <a:t>If they can't, the entire vendor switch strategy is infeasible, regardless of cost or timeline.</a:t>
            </a:r>
          </a:p>
          <a:p/>
          <a:p>
            <a:r>
              <a:t>**How to structure the pilot:**</a:t>
            </a:r>
          </a:p>
          <a:p/>
          <a:p>
            <a:r>
              <a:t>1. **Choose a representative feature** - Not trivial (doesn't test real complexity), not critical (failure is low-risk). Examples:</a:t>
            </a:r>
          </a:p>
          <a:p/>
          <a:p>
            <a:r>
              <a:t>   - Add validation rule (touches validation pipeline, database, business logic)</a:t>
            </a:r>
          </a:p>
          <a:p>
            <a:r>
              <a:t>   - Generate new report (touches data access, Databricks, reporting layer)</a:t>
            </a:r>
          </a:p>
          <a:p>
            <a:r>
              <a:t>   - UI enhancement (touches React, API, state management)</a:t>
            </a:r>
          </a:p>
          <a:p/>
          <a:p>
            <a:r>
              <a:t>2. **Provide standard materials** - Source code, documentation, feature spec, UAT environment. No special support beyond what would be available in a real vendor transition.</a:t>
            </a:r>
          </a:p>
          <a:p/>
          <a:p>
            <a:r>
              <a:t>3. **Set clear success criteria**:</a:t>
            </a:r>
          </a:p>
          <a:p/>
          <a:p>
            <a:r>
              <a:t>   - Feature works correctly</a:t>
            </a:r>
          </a:p>
          <a:p>
            <a:r>
              <a:t>   - Timeline is reasonable (1-2 weeks, not 6+ weeks)</a:t>
            </a:r>
          </a:p>
          <a:p>
            <a:r>
              <a:t>   - Vendor doesn't require constant Spanish Point hand-holding</a:t>
            </a:r>
          </a:p>
          <a:p>
            <a:r>
              <a:t>   - Code quality maintained (follows patterns, no shortcuts)</a:t>
            </a:r>
          </a:p>
          <a:p/>
          <a:p>
            <a:r>
              <a:t>4. **Evaluate multiple dimensions**:</a:t>
            </a:r>
          </a:p>
          <a:p>
            <a:r>
              <a:t>   - **Onboarding time** - How long before they're productive? Days or weeks?</a:t>
            </a:r>
          </a:p>
          <a:p>
            <a:r>
              <a:t>   - **Question types** - Clarifying requirements (good) or basic code comprehension (concerning)?</a:t>
            </a:r>
          </a:p>
          <a:p>
            <a:r>
              <a:t>   - **Spanish Point cooperation** - Helpful with handover or defensive/resistant?</a:t>
            </a:r>
          </a:p>
          <a:p>
            <a:r>
              <a:t>   - **Code comprehension** - Can they navigate and understand the codebase?</a:t>
            </a:r>
          </a:p>
          <a:p>
            <a:r>
              <a:t>   - **Delivery quality** - Professional work or struggling/shortcuts?</a:t>
            </a:r>
          </a:p>
          <a:p/>
          <a:p>
            <a:r>
              <a:t>**Possible outcomes:**</a:t>
            </a:r>
          </a:p>
          <a:p/>
          <a:p>
            <a:r>
              <a:t>**SUCCESS** - Feature delivered correctly, timeline reasonable, minimal hand-holding. This proves knowledge transfer is feasible. Vendor switch becomes viable option. Proceed with detailed RFP.</a:t>
            </a:r>
          </a:p>
          <a:p/>
          <a:p>
            <a:r>
              <a:t>**PARTIAL SUCCESS** - Feature delivered but took longer than expected, or required more Spanish Point support than ideal. Knowledge transfer is challenging but possible with better documentation. Negotiate documentation improvements as contract term.</a:t>
            </a:r>
          </a:p>
          <a:p/>
          <a:p>
            <a:r>
              <a:t>**FAILURE** - Feature not delivered, or timeline 3-5x longer than expected, or quality is poor. Knowledge transfer not viable with current materials. Vendor switch is extremely high risk. Focus on improving current relationship instead.</a:t>
            </a:r>
          </a:p>
          <a:p/>
          <a:p>
            <a:r>
              <a:t>**Why low risk?**</a:t>
            </a:r>
          </a:p>
          <a:p/>
          <a:p>
            <a:r>
              <a:t>- €10-20K investment (vs €300-600K full switch cost)</a:t>
            </a:r>
          </a:p>
          <a:p>
            <a:r>
              <a:t>- Non-critical feature (failure doesn't impact production)</a:t>
            </a:r>
          </a:p>
          <a:p>
            <a:r>
              <a:t>- 2 months timeline (fast feedback)</a:t>
            </a:r>
          </a:p>
          <a:p>
            <a:r>
              <a:t>- Learning value regardless of outcome (either confirms switch viability or proves it's not feasible)</a:t>
            </a:r>
          </a:p>
          <a:p/>
          <a:p>
            <a:r>
              <a:t>**Recommendation:** Start this pilot IMMEDIATELY (December 2025). Don't wait for Phase 2. This is the data point that drives all other decisions.</a:t>
            </a:r>
          </a:p>
          <a:p/>
          <a:p>
            <a:r>
              <a:t>**Discussion Prompt:** What feature would be appropriate for pilot testing? What vendors should we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negotiating leverage. CISAC is not in a weak position here.</a:t>
            </a:r>
          </a:p>
          <a:p/>
          <a:p>
            <a:r>
              <a:t>**Strategic leverage: CISAC's data**</a:t>
            </a:r>
          </a:p>
          <a:p/>
          <a:p>
            <a:r>
              <a:t>Guillaume's observation in our October 21 discussion was spot-on:</a:t>
            </a:r>
          </a:p>
          <a:p/>
          <a:p>
            <a:r>
              <a:t>&gt; "Their business model is based on your data. It doesn't exist without your data."</a:t>
            </a:r>
          </a:p>
          <a:p/>
          <a:p>
            <a:r>
              <a:t>Yann confirmed:</a:t>
            </a:r>
          </a:p>
          <a:p/>
          <a:p>
            <a:r>
              <a:t>&gt; "It's the only authoritative and ISO source. We have this unique repository."</a:t>
            </a:r>
          </a:p>
          <a:p/>
          <a:p>
            <a:r>
              <a:t>Spanish Point's Matching Engine business depends on CISAC's authoritative music works database. Without CISAC's data, the matching engine has nothing to match against. This is foundational leverage.</a:t>
            </a:r>
          </a:p>
          <a:p/>
          <a:p>
            <a:r>
              <a:t>**Five leverage factors:**</a:t>
            </a:r>
          </a:p>
          <a:p/>
          <a:p>
            <a:r>
              <a:t>1. **Data Source Authority** - CISAC holds the ISO authoritative database. Spanish Point needs this more than CISAC needs Spanish Point.</a:t>
            </a:r>
          </a:p>
          <a:p/>
          <a:p>
            <a:r>
              <a:t>2. **Volume Leadership** - CISAC is Spanish Point's largest Matching Engine client. Largest deployment, most works processed, most agencies integrated. This is their showcase client.</a:t>
            </a:r>
          </a:p>
          <a:p/>
          <a:p>
            <a:r>
              <a:t>3. **Market Influence** - Other music societies look to CISAC for vendor recommendations. Yann noted that when other societies consider Spanish Point, they ask CISAC about their experience. CISAC's satisfaction directly impacts Spanish Point's sales pipeline.</a:t>
            </a:r>
          </a:p>
          <a:p/>
          <a:p>
            <a:r>
              <a:t>   </a:t>
            </a:r>
          </a:p>
          <a:p/>
          <a:p>
            <a:r>
              <a:t>4. **Audit Documentation** - We've documented legitimate governance gaps (May 2024 incident), transparency issues (access challenges timeline), cost control gaps (no correlation tooling). These aren't emotional complaints - they're professional findings from an independent audit. This creates a legitimate basis for contract improvements.</a:t>
            </a:r>
          </a:p>
          <a:p/>
          <a:p>
            <a:r>
              <a:t>5. **Alternatives Research** - The pilot test and market research create a credible BATNA (Best Alternative To Negotiated Agreement). Even if CISAC ultimately stays with Spanish Point, demonstrating that you CAN switch vendors strengthens negotiating position.</a:t>
            </a:r>
          </a:p>
          <a:p/>
          <a:p>
            <a:r>
              <a:t>**Negotiation objectives:**</a:t>
            </a:r>
          </a:p>
          <a:p/>
          <a:p>
            <a:r>
              <a:t>**IMMEDIATE (Non-negotiable):**</a:t>
            </a:r>
          </a:p>
          <a:p/>
          <a:p>
            <a:r>
              <a:t>- Git history access - no more multi-week compliance reviews</a:t>
            </a:r>
          </a:p>
          <a:p>
            <a:r>
              <a:t>- IaC templates inclusion - standard deliverable, not proprietary</a:t>
            </a:r>
          </a:p>
          <a:p>
            <a:r>
              <a:t>- Cost correlation tooling - automated dashboard for monthly spending visibility</a:t>
            </a:r>
          </a:p>
          <a:p/>
          <a:p>
            <a:r>
              <a:t>These address critical governance gaps documented in the audit.</a:t>
            </a:r>
          </a:p>
          <a:p/>
          <a:p>
            <a:r>
              <a:t>**HIGH PRIORITY (Strongly push):**</a:t>
            </a:r>
          </a:p>
          <a:p/>
          <a:p>
            <a:r>
              <a:t>- Performance SLAs - formal commitments (P95 latency, uptime)</a:t>
            </a:r>
          </a:p>
          <a:p>
            <a:r>
              <a:t>- Enhanced Definition of Done - documentation updates required</a:t>
            </a:r>
          </a:p>
          <a:p>
            <a:r>
              <a:t>- Proactive metrics sharing - monthly dashboards</a:t>
            </a:r>
          </a:p>
          <a:p>
            <a:r>
              <a:t>- Monthly cost review meetings - correlate usage with spending</a:t>
            </a:r>
          </a:p>
          <a:p/>
          <a:p>
            <a:r>
              <a:t>These address transparency and control gaps.</a:t>
            </a:r>
          </a:p>
          <a:p/>
          <a:p>
            <a:r>
              <a:t>**MEDIUM PRIORITY (Negotiate):**</a:t>
            </a:r>
          </a:p>
          <a:p/>
          <a:p>
            <a:r>
              <a:t>- Knowledge transfer improvements - onboarding documentation</a:t>
            </a:r>
          </a:p>
          <a:p>
            <a:r>
              <a:t>- Architecture Decision Records - document rationale for decisions</a:t>
            </a:r>
          </a:p>
          <a:p>
            <a:r>
              <a:t>- Reduced environment setup costs - automate via IaC</a:t>
            </a:r>
          </a:p>
          <a:p>
            <a:r>
              <a:t>- Smart AIM library licensing - if vendor switch becomes necessary</a:t>
            </a:r>
          </a:p>
          <a:p/>
          <a:p>
            <a:r>
              <a:t>**Negotiation strategy:**</a:t>
            </a:r>
          </a:p>
          <a:p/>
          <a:p>
            <a:r>
              <a:t>**Timing:** Use the pilot test period (December 2025 - February 2026) as negotiation window. The message: "We're testing vendor alternatives while simultaneously negotiating better terms with you. Show us why we should stay."</a:t>
            </a:r>
          </a:p>
          <a:p/>
          <a:p>
            <a:r>
              <a:t>This creates constructive urgency for Spanish Point to improve the relationship.</a:t>
            </a:r>
          </a:p>
          <a:p/>
          <a:p>
            <a:r>
              <a:t>**Framing:** Position as partnership improvement, not compliance demands. "We want to work with you, but we need transparency and control to justify that partnership."</a:t>
            </a:r>
          </a:p>
          <a:p/>
          <a:p>
            <a:r>
              <a:t>**Evidence:** Reference specific audit findings. The May 2024 incident. The access delays. The cost correlation gap. Professional assessment, not emotional complaints.</a:t>
            </a:r>
          </a:p>
          <a:p/>
          <a:p>
            <a:r>
              <a:t>**Fallback:** This isn't all-or-nothing. Prioritize the critical items (git history, IaC, cost tooling). Accept incremental progress on medium priorities. The goal is meaningful improvement, not perfection.</a:t>
            </a:r>
          </a:p>
          <a:p/>
          <a:p>
            <a:r>
              <a:t>**Outcome:** Better terms whether you stay or switch. If you stay, improved governance. If you switch, reduced lock-in eases transition.</a:t>
            </a:r>
          </a:p>
          <a:p/>
          <a:p>
            <a:r>
              <a:t>**Discussion Prompt:** Which contract terms are most important to CISAC leadership?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strategic decisions (vendor switch vs improve relationship) take months, there are technical quick wins CISAC can demand immediately.</a:t>
            </a:r>
          </a:p>
          <a:p/>
          <a:p>
            <a:r>
              <a:t>**HIGH IMPACT, LOW EFFORT (Do Immediately):**</a:t>
            </a:r>
          </a:p>
          <a:p/>
          <a:p>
            <a:r>
              <a:t>1. **Fix Pipeline Test Runner (URGENT)**</a:t>
            </a:r>
          </a:p>
          <a:p/>
          <a:p>
            <a:r>
              <a:t>   Post-.NET 8 upgrade (November 4), the automated test runner in CI/CD pipeline is blocked. Spanish Point logged a bug. Current workaround: tests run locally.</a:t>
            </a:r>
          </a:p>
          <a:p/>
          <a:p>
            <a:r>
              <a:t>   </a:t>
            </a:r>
          </a:p>
          <a:p/>
          <a:p>
            <a:r>
              <a:t>   This removes a critical deployment safety net. Escalate priority with Spanish Point. Demand fix ETA. This should be covered under maintenance - it's a regression from their upgrade.</a:t>
            </a:r>
          </a:p>
          <a:p/>
          <a:p>
            <a:r>
              <a:t>2. **Databricks Upgrade Planning**</a:t>
            </a:r>
          </a:p>
          <a:p/>
          <a:p>
            <a:r>
              <a:t>   Databricks 10.4 LTS is outdated. Yann mentioned missing modern AI features. Security patches unknown.</a:t>
            </a:r>
          </a:p>
          <a:p/>
          <a:p>
            <a:r>
              <a:t>   </a:t>
            </a:r>
          </a:p>
          <a:p/>
          <a:p>
            <a:r>
              <a:t>   Action: Request Databricks upgrade roadmap from Spanish Point by end of December 2025. What version, what timeline, what testing, what cost (should be maintenance, not extra).</a:t>
            </a:r>
          </a:p>
          <a:p/>
          <a:p>
            <a:r>
              <a:t>3. **Monthly Cost Review Meeting**</a:t>
            </a:r>
          </a:p>
          <a:p/>
          <a:p>
            <a:r>
              <a:t>   €600K/year spending with no regular review process. Establish monthly meeting: CISAC + Spanish Point + Finance stakeholder. Review Azure spending, correlate with usage patterns (manually until tooling exists), identify anomalies.</a:t>
            </a:r>
          </a:p>
          <a:p/>
          <a:p>
            <a:r>
              <a:t>   Effort: 1 hour/month. Impact: Visibility and accountability.</a:t>
            </a:r>
          </a:p>
          <a:p/>
          <a:p>
            <a:r>
              <a:t>   Start January 2026.</a:t>
            </a:r>
          </a:p>
          <a:p/>
          <a:p>
            <a:r>
              <a:t>**HIGH IMPACT, MEDIUM EFFORT (Plan for Q1 2026):**</a:t>
            </a:r>
          </a:p>
          <a:p/>
          <a:p>
            <a:r>
              <a:t>4. **Cost Correlation Tooling**</a:t>
            </a:r>
          </a:p>
          <a:p/>
          <a:p>
            <a:r>
              <a:t>   Spanish Point acknowledged no automated tooling exists to correlate usage with costs.</a:t>
            </a:r>
          </a:p>
          <a:p/>
          <a:p>
            <a:r>
              <a:t>   </a:t>
            </a:r>
          </a:p>
          <a:p/>
          <a:p>
            <a:r>
              <a:t>   Options:</a:t>
            </a:r>
          </a:p>
          <a:p/>
          <a:p>
            <a:r>
              <a:t>   - Spanish Point develops (preferred - they have all the context)</a:t>
            </a:r>
          </a:p>
          <a:p>
            <a:r>
              <a:t>   - CISAC builds using API Management analytics + Azure Cost Management APIs</a:t>
            </a:r>
          </a:p>
          <a:p/>
          <a:p>
            <a:r>
              <a:t>   Estimated: 2-3 months, €10-20K. Negotiate as part of contract improvements OR budget for CISAC internal development.</a:t>
            </a:r>
          </a:p>
          <a:p/>
          <a:p>
            <a:r>
              <a:t>5. **Cosmos DB Archive Policy**</a:t>
            </a:r>
          </a:p>
          <a:p/>
          <a:p>
            <a:r>
              <a:t>   Audit tracking logs stored indefinitely in expensive Cosmos DB. Implement tiered archival:</a:t>
            </a:r>
          </a:p>
          <a:p/>
          <a:p>
            <a:r>
              <a:t>   - 0-90 days: Cosmos DB (hot access)</a:t>
            </a:r>
          </a:p>
          <a:p>
            <a:r>
              <a:t>   - 91-365 days: Blob Storage warm tier</a:t>
            </a:r>
          </a:p>
          <a:p>
            <a:r>
              <a:t>   - 365+ days: Blob Storage cool/archive tier</a:t>
            </a:r>
          </a:p>
          <a:p/>
          <a:p>
            <a:r>
              <a:t>   Estimated savings: €5-10K/year (needs data volume analysis to confirm).</a:t>
            </a:r>
          </a:p>
          <a:p/>
          <a:p>
            <a:r>
              <a:t>   Effort: 2-4 weeks implementation.</a:t>
            </a:r>
          </a:p>
          <a:p/>
          <a:p>
            <a:r>
              <a:t>6. **Performance Validation with Moïse**</a:t>
            </a:r>
          </a:p>
          <a:p/>
          <a:p>
            <a:r>
              <a:t>   We haven't validated performance claims with CISAC's operational expert (Moïse - 5+ years experience). Before approving Hyperscale proposal (€40K migration cost), validate:</a:t>
            </a:r>
          </a:p>
          <a:p/>
          <a:p>
            <a:r>
              <a:t>   - What are actual user complaints?</a:t>
            </a:r>
          </a:p>
          <a:p>
            <a:r>
              <a:t>   - What are production performance metrics?</a:t>
            </a:r>
          </a:p>
          <a:p>
            <a:r>
              <a:t>   - Is SQL Server actually the bottleneck?</a:t>
            </a:r>
          </a:p>
          <a:p>
            <a:r>
              <a:t>   - What's the ISWC API rate limiting (Yann's Oct 30 claim of 3-5 req/sec)?</a:t>
            </a:r>
          </a:p>
          <a:p/>
          <a:p>
            <a:r>
              <a:t>   </a:t>
            </a:r>
          </a:p>
          <a:p/>
          <a:p>
            <a:r>
              <a:t>   Effort: 1-2 meetings. Impact: Data-driven Hyperscale decision.</a:t>
            </a:r>
          </a:p>
          <a:p/>
          <a:p>
            <a:r>
              <a:t>**MEDIUM IMPACT, LOW EFFORT (Ongoing Improvements):**</a:t>
            </a:r>
          </a:p>
          <a:p/>
          <a:p>
            <a:r>
              <a:t>7. **Enhanced Definition of Done** - Documentation updates required for all feature deliveries. Negotiate as contract term.</a:t>
            </a:r>
          </a:p>
          <a:p/>
          <a:p>
            <a:r>
              <a:t>8. **Code Documentation Standards** - Business logic must be commented. Apply incrementally to new features (not retroactive refactoring).</a:t>
            </a:r>
          </a:p>
          <a:p/>
          <a:p>
            <a:r>
              <a:t>9. **Architecture Decision Records** - Document WHY architectural decisions are made. Start with next major change.</a:t>
            </a:r>
          </a:p>
          <a:p/>
          <a:p>
            <a:r>
              <a:t>**Timeline:** December 2025 → March 2026 for all quick wins.</a:t>
            </a:r>
          </a:p>
          <a:p/>
          <a:p>
            <a:r>
              <a:t>**These improvements are valuable regardless of vendor strategy decision.** Whether CISAC stays with Spanish Point or switches vendors, better governance, cost visibility, and documentation reduce risk.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address the Hyperscale proposal (PSA 5499). Our recommendation: **HOLD pending validation.**</a:t>
            </a:r>
          </a:p>
          <a:p/>
          <a:p>
            <a:r>
              <a:t>**What Spanish Point proposes:**</a:t>
            </a:r>
          </a:p>
          <a:p/>
          <a:p>
            <a:r>
              <a:t>Three objectives:</a:t>
            </a:r>
          </a:p>
          <a:p/>
          <a:p>
            <a:r>
              <a:t>1. Networking security (public → private endpoints)</a:t>
            </a:r>
          </a:p>
          <a:p>
            <a:r>
              <a:t>2. SQL tier change (Business Critical → Hyperscale)</a:t>
            </a:r>
          </a:p>
          <a:p>
            <a:r>
              <a:t>3. Platform modernization (Microsoft best practices)</a:t>
            </a:r>
          </a:p>
          <a:p/>
          <a:p>
            <a:r>
              <a:t>Net cost: -€1,800/month savings (-€21,600/year)</a:t>
            </a:r>
          </a:p>
          <a:p>
            <a:r>
              <a:t>Migration investment: €40,000 one-time</a:t>
            </a:r>
          </a:p>
          <a:p>
            <a:r>
              <a:t>ROI: ~22 month payback</a:t>
            </a:r>
          </a:p>
          <a:p/>
          <a:p>
            <a:r>
              <a:t>**Why HOLD?**</a:t>
            </a:r>
          </a:p>
          <a:p/>
          <a:p>
            <a:r>
              <a:t>We haven't validated that SQL Server is actually the performance bottleneck. Spanish Point claims no significant performance issues. So why the urgent need for Hyperscale?</a:t>
            </a:r>
          </a:p>
          <a:p/>
          <a:p>
            <a:r>
              <a:t>**Four validation questions:**</a:t>
            </a:r>
          </a:p>
          <a:p/>
          <a:p>
            <a:r>
              <a:t>1. **Is SQL Server the bottleneck?**</a:t>
            </a:r>
          </a:p>
          <a:p/>
          <a:p>
            <a:r>
              <a:t>   We don't have production performance metrics. Spanish Point claims "no issues" but hasn't shared dashboards or query performance data. We need Moïse's operational perspective: What do users actually complain about? Where are the pain points?</a:t>
            </a:r>
          </a:p>
          <a:p/>
          <a:p>
            <a:r>
              <a:t>2. **Can query optimization achieve similar results?**</a:t>
            </a:r>
          </a:p>
          <a:p/>
          <a:p>
            <a:r>
              <a:t>   Hyperscale is expensive (€40K migration + €3,300/month savings requires optimal performance). Have simpler alternatives been tried?</a:t>
            </a:r>
          </a:p>
          <a:p/>
          <a:p>
            <a:r>
              <a:t>   - Missing indexes identified and added?</a:t>
            </a:r>
          </a:p>
          <a:p>
            <a:r>
              <a:t>   - Inefficient queries optimized?</a:t>
            </a:r>
          </a:p>
          <a:p>
            <a:r>
              <a:t>   - Caching implemented where appropriate?</a:t>
            </a:r>
          </a:p>
          <a:p/>
          <a:p>
            <a:r>
              <a:t>   Hyperscale may mask inefficient queries rather than fix root causes.</a:t>
            </a:r>
          </a:p>
          <a:p/>
          <a:p>
            <a:r>
              <a:t>3. **Are cost estimates accurate?**</a:t>
            </a:r>
          </a:p>
          <a:p/>
          <a:p>
            <a:r>
              <a:t>   Spanish Point's estimates are based on a single month average. But auto-scaling means costs vary month-to-month. Reserved instances commit CISAC to 1-year contract. If usage patterns change, savings may not materialize.</a:t>
            </a:r>
          </a:p>
          <a:p/>
          <a:p>
            <a:r>
              <a:t>4. **Can networking upgrade be decoupled?**</a:t>
            </a:r>
          </a:p>
          <a:p/>
          <a:p>
            <a:r>
              <a:t>   Private networking (+€1,500/month) may be valuable for security regardless of SQL tier. Hyperscale migration (-€3,300/month) needs performance justification. Why bundle them? Evaluate each independently.</a:t>
            </a:r>
          </a:p>
          <a:p/>
          <a:p>
            <a:r>
              <a:t>**Alternative approach: Query optimization first**</a:t>
            </a:r>
          </a:p>
          <a:p/>
          <a:p>
            <a:r>
              <a:t>BEFORE committing €40K migration:</a:t>
            </a:r>
          </a:p>
          <a:p/>
          <a:p>
            <a:r>
              <a:t>**Option 1: Performance Audit** (€5-10K, 1-2 months)</a:t>
            </a:r>
          </a:p>
          <a:p/>
          <a:p>
            <a:r>
              <a:t>- Analyze slow queries via Application Insights</a:t>
            </a:r>
          </a:p>
          <a:p>
            <a:r>
              <a:t>- Identify missing indexes</a:t>
            </a:r>
          </a:p>
          <a:p>
            <a:r>
              <a:t>- Implement caching where appropriate</a:t>
            </a:r>
          </a:p>
          <a:p>
            <a:r>
              <a:t>- Measure improvement</a:t>
            </a:r>
          </a:p>
          <a:p/>
          <a:p>
            <a:r>
              <a:t>**IF optimization resolves issues:**</a:t>
            </a:r>
          </a:p>
          <a:p/>
          <a:p>
            <a:r>
              <a:t>- Save €40K migration cost</a:t>
            </a:r>
          </a:p>
          <a:p>
            <a:r>
              <a:t>- Avoid 1-year reserved instance commitment</a:t>
            </a:r>
          </a:p>
          <a:p>
            <a:r>
              <a:t>- Keep Hyperscale as future option if needed</a:t>
            </a:r>
          </a:p>
          <a:p/>
          <a:p>
            <a:r>
              <a:t>**IF issues persist after optimization:**</a:t>
            </a:r>
          </a:p>
          <a:p/>
          <a:p>
            <a:r>
              <a:t>- THEN consider Hyperscale</a:t>
            </a:r>
          </a:p>
          <a:p>
            <a:r>
              <a:t>- Data-driven decision, not assumption</a:t>
            </a:r>
          </a:p>
          <a:p/>
          <a:p>
            <a:r>
              <a:t>**Networking security component:**</a:t>
            </a:r>
          </a:p>
          <a:p/>
          <a:p>
            <a:r>
              <a:t>Private endpoints, VPN Gateway, Private DNS, optional WAF - these may be valuable independently for security posture. Cost: +€1,500/month. This could be approved separately from SQL tier change if security justifies it.</a:t>
            </a:r>
          </a:p>
          <a:p/>
          <a:p>
            <a:r>
              <a:t>**Our recommendation:**</a:t>
            </a:r>
          </a:p>
          <a:p/>
          <a:p>
            <a:r>
              <a:t>**HOLD Hyperscale approval.** Take 2 months (Jan-Feb 2026) to:</a:t>
            </a:r>
          </a:p>
          <a:p/>
          <a:p>
            <a:r>
              <a:t>1. Meet with Moïse - gather production performance data and user complaints</a:t>
            </a:r>
          </a:p>
          <a:p>
            <a:r>
              <a:t>2. Validate SQL Server is actual bottleneck</a:t>
            </a:r>
          </a:p>
          <a:p>
            <a:r>
              <a:t>3. Explore query optimization (€5-10K investment)</a:t>
            </a:r>
          </a:p>
          <a:p>
            <a:r>
              <a:t>4. Separate networking security decision from SQL tier decision</a:t>
            </a:r>
          </a:p>
          <a:p/>
          <a:p>
            <a:r>
              <a:t>Decision by March 2026 with actual data.</a:t>
            </a:r>
          </a:p>
          <a:p/>
          <a:p>
            <a:r>
              <a:t>**Why this is SECONDARY priority:**</a:t>
            </a:r>
          </a:p>
          <a:p/>
          <a:p>
            <a:r>
              <a:t>Strategic vendor decisions (pilot test, contract renegotiation, matching engine research) are MORE IMPORTANT than infrastructure optimization. €40K is material, but €300-600K vendor switch decision or €600K/year cost control are bigger strategic priorities.</a:t>
            </a:r>
          </a:p>
          <a:p/>
          <a:p>
            <a:r>
              <a:t>Don't let Hyperscale distract from the real governance challenges.</a:t>
            </a:r>
          </a:p>
          <a:p/>
          <a:p>
            <a:r>
              <a:t>**Discussion Prompt:** What performance issues have been reported by users or agencies?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4169E1"/>
                </a:solidFill>
              </a:defRPr>
            </a:pPr>
            <a:r>
              <a:t>Part 6: Strategic Recommendations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Our Recommended Strategy - Hybrid Approach</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Recommended Strategy: TEST → NEGOTIATE → DECIDE</a:t>
            </a:r>
          </a:p>
          <a:p>
            <a:pPr>
              <a:defRPr sz="1400">
                <a:solidFill>
                  <a:srgbClr val="000000"/>
                </a:solidFill>
              </a:defRPr>
            </a:pPr>
          </a:p>
          <a:p>
            <a:pPr>
              <a:defRPr sz="1800" b="1">
                <a:solidFill>
                  <a:srgbClr val="000000"/>
                </a:solidFill>
              </a:defRPr>
            </a:pPr>
            <a:r>
              <a:t>Phase 1 (Immediate - Nov/Dec 2025)</a:t>
            </a:r>
          </a:p>
          <a:p>
            <a:pPr>
              <a:defRPr sz="1400">
                <a:solidFill>
                  <a:srgbClr val="000000"/>
                </a:solidFill>
              </a:defRPr>
            </a:pPr>
            <a:r>
              <a:t>┌────────────────────────────────────────────────────────────┐</a:t>
            </a:r>
          </a:p>
          <a:p>
            <a:pPr>
              <a:defRPr sz="1400">
                <a:solidFill>
                  <a:srgbClr val="000000"/>
                </a:solidFill>
              </a:defRPr>
            </a:pPr>
            <a:r>
              <a:t>│ OBJECTIVE: Gather data, reduce uncertainty, establish      │</a:t>
            </a:r>
          </a:p>
          <a:p>
            <a:pPr>
              <a:defRPr sz="1400">
                <a:solidFill>
                  <a:srgbClr val="000000"/>
                </a:solidFill>
              </a:defRPr>
            </a:pPr>
            <a:r>
              <a:t>│            leverage before major decisions                 │</a:t>
            </a:r>
          </a:p>
          <a:p>
            <a:pPr>
              <a:defRPr sz="1400">
                <a:solidFill>
                  <a:srgbClr val="000000"/>
                </a:solidFill>
              </a:defRPr>
            </a:pPr>
            <a:r>
              <a:t>│                                                             │</a:t>
            </a:r>
          </a:p>
          <a:p>
            <a:pPr>
              <a:defRPr sz="1400">
                <a:solidFill>
                  <a:srgbClr val="000000"/>
                </a:solidFill>
              </a:defRPr>
            </a:pPr>
            <a:r>
              <a:t>│ ACTIONS:                                                    │</a:t>
            </a:r>
          </a:p>
          <a:p>
            <a:pPr>
              <a:defRPr sz="1400">
                <a:solidFill>
                  <a:srgbClr val="000000"/>
                </a:solidFill>
              </a:defRPr>
            </a:pPr>
            <a:r>
              <a:t>│ ✓ Knowledge Transfer Pilot Test                            │</a:t>
            </a:r>
          </a:p>
          <a:p>
            <a:pPr>
              <a:defRPr sz="1400">
                <a:solidFill>
                  <a:srgbClr val="000000"/>
                </a:solidFill>
              </a:defRPr>
            </a:pPr>
            <a:r>
              <a:t>│   ├─ Assign €10-20K feature to independent vendor         │</a:t>
            </a:r>
          </a:p>
          <a:p>
            <a:pPr>
              <a:defRPr sz="1400">
                <a:solidFill>
                  <a:srgbClr val="000000"/>
                </a:solidFill>
              </a:defRPr>
            </a:pPr>
            <a:r>
              <a:t>│   ├─ Test maintainability with available materials        │</a:t>
            </a:r>
          </a:p>
          <a:p>
            <a:pPr>
              <a:defRPr sz="1400">
                <a:solidFill>
                  <a:srgbClr val="000000"/>
                </a:solidFill>
              </a:defRPr>
            </a:pPr>
            <a:r>
              <a:t>│   └─ Assess Spanish Point handover cooperation            │</a:t>
            </a:r>
          </a:p>
          <a:p>
            <a:pPr>
              <a:defRPr sz="1400">
                <a:solidFill>
                  <a:srgbClr val="000000"/>
                </a:solidFill>
              </a:defRPr>
            </a:pPr>
            <a:r>
              <a:t>│                                                             │</a:t>
            </a:r>
          </a:p>
          <a:p>
            <a:pPr>
              <a:defRPr sz="1400">
                <a:solidFill>
                  <a:srgbClr val="000000"/>
                </a:solidFill>
              </a:defRPr>
            </a:pPr>
            <a:r>
              <a:t>│ ✓ Matching Engine Market Research                          │</a:t>
            </a:r>
          </a:p>
          <a:p>
            <a:pPr>
              <a:defRPr sz="1400">
                <a:solidFill>
                  <a:srgbClr val="000000"/>
                </a:solidFill>
              </a:defRPr>
            </a:pPr>
            <a:r>
              <a:t>│   ├─ Identify alternative matching engine vendors         │</a:t>
            </a:r>
          </a:p>
          <a:p>
            <a:pPr>
              <a:defRPr sz="1400">
                <a:solidFill>
                  <a:srgbClr val="000000"/>
                </a:solidFill>
              </a:defRPr>
            </a:pPr>
            <a:r>
              <a:t>│   ├─ Request proposals/demos                              │</a:t>
            </a:r>
          </a:p>
          <a:p>
            <a:pPr>
              <a:defRPr sz="1400">
                <a:solidFill>
                  <a:srgbClr val="000000"/>
                </a:solidFill>
              </a:defRPr>
            </a:pPr>
            <a:r>
              <a:t>│   └─ Assess replacement feasibility                       │</a:t>
            </a:r>
          </a:p>
          <a:p>
            <a:pPr>
              <a:defRPr sz="1400">
                <a:solidFill>
                  <a:srgbClr val="000000"/>
                </a:solidFill>
              </a:defRPr>
            </a:pPr>
            <a:r>
              <a:t>│                                                             │</a:t>
            </a:r>
          </a:p>
          <a:p>
            <a:pPr>
              <a:defRPr sz="1400">
                <a:solidFill>
                  <a:srgbClr val="000000"/>
                </a:solidFill>
              </a:defRPr>
            </a:pPr>
            <a:r>
              <a:t>│ ✓ Contract Renegotiation (Parallel)                        │</a:t>
            </a:r>
          </a:p>
          <a:p>
            <a:pPr>
              <a:defRPr sz="1400">
                <a:solidFill>
                  <a:srgbClr val="000000"/>
                </a:solidFill>
              </a:defRPr>
            </a:pPr>
            <a:r>
              <a:t>│   ├─ Git history access (immediate)                       │</a:t>
            </a:r>
          </a:p>
          <a:p>
            <a:pPr>
              <a:defRPr sz="1400">
                <a:solidFill>
                  <a:srgbClr val="000000"/>
                </a:solidFill>
              </a:defRPr>
            </a:pPr>
            <a:r>
              <a:t>│   ├─ IaC templates inclusion in deliverables              │</a:t>
            </a:r>
          </a:p>
          <a:p>
            <a:pPr>
              <a:defRPr sz="1400">
                <a:solidFill>
                  <a:srgbClr val="000000"/>
                </a:solidFill>
              </a:defRPr>
            </a:pPr>
            <a:r>
              <a:t>│   ├─ Cost correlation tooling (automated dashboard)       │</a:t>
            </a:r>
          </a:p>
          <a:p>
            <a:pPr>
              <a:defRPr sz="1400">
                <a:solidFill>
                  <a:srgbClr val="000000"/>
                </a:solidFill>
              </a:defRPr>
            </a:pPr>
            <a:r>
              <a:t>│   ├─ Performance SLAs and proactive metrics              │</a:t>
            </a:r>
          </a:p>
          <a:p>
            <a:pPr>
              <a:defRPr sz="1400">
                <a:solidFill>
                  <a:srgbClr val="000000"/>
                </a:solidFill>
              </a:defRPr>
            </a:pPr>
            <a:r>
              <a:t>│   └─ Enhanced Definition of Done (docs required)          │</a:t>
            </a:r>
          </a:p>
          <a:p>
            <a:pPr>
              <a:defRPr sz="1400">
                <a:solidFill>
                  <a:srgbClr val="000000"/>
                </a:solidFill>
              </a:defRPr>
            </a:pPr>
            <a:r>
              <a:t>│                                                             │</a:t>
            </a:r>
          </a:p>
          <a:p>
            <a:pPr>
              <a:defRPr sz="1400">
                <a:solidFill>
                  <a:srgbClr val="000000"/>
                </a:solidFill>
              </a:defRPr>
            </a:pPr>
            <a:r>
              <a:t>│ TIMELINE: 2-3 months                                       │</a:t>
            </a:r>
          </a:p>
          <a:p>
            <a:pPr>
              <a:defRPr sz="1400">
                <a:solidFill>
                  <a:srgbClr val="000000"/>
                </a:solidFill>
              </a:defRPr>
            </a:pPr>
            <a:r>
              <a:t>│ INVESTMENT: €20-40K (pilot + research)                    │</a:t>
            </a:r>
          </a:p>
          <a:p>
            <a:pPr>
              <a:defRPr sz="1400">
                <a:solidFill>
                  <a:srgbClr val="000000"/>
                </a:solidFill>
              </a:defRPr>
            </a:pPr>
            <a:r>
              <a:t>•───────────────────────────────────────────────────────────┘</a:t>
            </a:r>
          </a:p>
          <a:p>
            <a:pPr>
              <a:defRPr sz="1400">
                <a:solidFill>
                  <a:srgbClr val="000000"/>
                </a:solidFill>
              </a:defRPr>
            </a:pPr>
          </a:p>
          <a:p>
            <a:pPr>
              <a:defRPr sz="1800" b="1">
                <a:solidFill>
                  <a:srgbClr val="000000"/>
                </a:solidFill>
              </a:defRPr>
            </a:pPr>
            <a:r>
              <a:t>Phase 2 (Q1-Q2 2026 - 6 months)</a:t>
            </a:r>
          </a:p>
          <a:p>
            <a:pPr>
              <a:defRPr sz="1400">
                <a:solidFill>
                  <a:srgbClr val="000000"/>
                </a:solidFill>
              </a:defRPr>
            </a:pPr>
            <a:r>
              <a:t>┌────────────────────────────────────────────────────────────┐</a:t>
            </a:r>
          </a:p>
          <a:p>
            <a:pPr>
              <a:defRPr sz="1400">
                <a:solidFill>
                  <a:srgbClr val="000000"/>
                </a:solidFill>
              </a:defRPr>
            </a:pPr>
            <a:r>
              <a:t>│ OBJECTIVE: Based on Phase 1 results, choose strategic path │</a:t>
            </a:r>
          </a:p>
          <a:p>
            <a:pPr>
              <a:defRPr sz="1400">
                <a:solidFill>
                  <a:srgbClr val="000000"/>
                </a:solidFill>
              </a:defRPr>
            </a:pPr>
            <a:r>
              <a:t>│                                                             │</a:t>
            </a:r>
          </a:p>
          <a:p>
            <a:pPr>
              <a:defRPr sz="1400">
                <a:solidFill>
                  <a:srgbClr val="000000"/>
                </a:solidFill>
              </a:defRPr>
            </a:pPr>
            <a:r>
              <a:t>│ DECISION POINT:                                             │</a:t>
            </a:r>
          </a:p>
          <a:p>
            <a:pPr>
              <a:defRPr sz="1400">
                <a:solidFill>
                  <a:srgbClr val="000000"/>
                </a:solidFill>
              </a:defRPr>
            </a:pPr>
            <a:r>
              <a:t>│                                                             │</a:t>
            </a:r>
          </a:p>
          <a:p>
            <a:pPr>
              <a:defRPr sz="1400">
                <a:solidFill>
                  <a:srgbClr val="000000"/>
                </a:solidFill>
              </a:defRPr>
            </a:pPr>
            <a:r>
              <a:t>│ IF Pilot Successful + Alternatives Exist:                  │</a:t>
            </a:r>
          </a:p>
          <a:p>
            <a:pPr>
              <a:defRPr sz="1400">
                <a:solidFill>
                  <a:srgbClr val="000000"/>
                </a:solidFill>
              </a:defRPr>
            </a:pPr>
            <a:r>
              <a:t>│   → Option A: Proceed with vendor transition plan         │</a:t>
            </a:r>
          </a:p>
          <a:p>
            <a:pPr>
              <a:defRPr sz="1400">
                <a:solidFill>
                  <a:srgbClr val="000000"/>
                </a:solidFill>
              </a:defRPr>
            </a:pPr>
            <a:r>
              <a:t>│   → Begin detailed RFP process                             │</a:t>
            </a:r>
          </a:p>
          <a:p>
            <a:pPr>
              <a:defRPr sz="1400">
                <a:solidFill>
                  <a:srgbClr val="000000"/>
                </a:solidFill>
              </a:defRPr>
            </a:pPr>
            <a:r>
              <a:t>│   → Negotiate transition terms                             │</a:t>
            </a:r>
          </a:p>
          <a:p>
            <a:pPr>
              <a:defRPr sz="1400">
                <a:solidFill>
                  <a:srgbClr val="000000"/>
                </a:solidFill>
              </a:defRPr>
            </a:pPr>
            <a:r>
              <a:t>│                                                             │</a:t>
            </a:r>
          </a:p>
          <a:p>
            <a:pPr>
              <a:defRPr sz="1400">
                <a:solidFill>
                  <a:srgbClr val="000000"/>
                </a:solidFill>
              </a:defRPr>
            </a:pPr>
            <a:r>
              <a:t>│ IF Pilot Fails OR No Alternatives:                         │</a:t>
            </a:r>
          </a:p>
          <a:p>
            <a:pPr>
              <a:defRPr sz="1400">
                <a:solidFill>
                  <a:srgbClr val="000000"/>
                </a:solidFill>
              </a:defRPr>
            </a:pPr>
            <a:r>
              <a:t>│   → Option B: Improve current relationship                │</a:t>
            </a:r>
          </a:p>
          <a:p>
            <a:pPr>
              <a:defRPr sz="1400">
                <a:solidFill>
                  <a:srgbClr val="000000"/>
                </a:solidFill>
              </a:defRPr>
            </a:pPr>
            <a:r>
              <a:t>│   → Use pilot results as leverage                          │</a:t>
            </a:r>
          </a:p>
          <a:p>
            <a:pPr>
              <a:defRPr sz="1400">
                <a:solidFill>
                  <a:srgbClr val="000000"/>
                </a:solidFill>
              </a:defRPr>
            </a:pPr>
            <a:r>
              <a:t>│   → Negotiate enhanced governance terms                    │</a:t>
            </a:r>
          </a:p>
          <a:p>
            <a:pPr>
              <a:defRPr sz="1400">
                <a:solidFill>
                  <a:srgbClr val="000000"/>
                </a:solidFill>
              </a:defRPr>
            </a:pPr>
            <a:r>
              <a:t>│   → Accept lock-in, optimize within constraints            │</a:t>
            </a:r>
          </a:p>
          <a:p>
            <a:pPr>
              <a:defRPr sz="1400">
                <a:solidFill>
                  <a:srgbClr val="000000"/>
                </a:solidFill>
              </a:defRPr>
            </a:pPr>
            <a:r>
              <a:t>│                                                             │</a:t>
            </a:r>
          </a:p>
          <a:p>
            <a:pPr>
              <a:defRPr sz="1400">
                <a:solidFill>
                  <a:srgbClr val="000000"/>
                </a:solidFill>
              </a:defRPr>
            </a:pPr>
            <a:r>
              <a:t>│ IF Pilot Mixed Results:                                    │</a:t>
            </a:r>
          </a:p>
          <a:p>
            <a:pPr>
              <a:defRPr sz="1400">
                <a:solidFill>
                  <a:srgbClr val="000000"/>
                </a:solidFill>
              </a:defRPr>
            </a:pPr>
            <a:r>
              <a:t>│   → Option C: Partial independence strategy               │</a:t>
            </a:r>
          </a:p>
          <a:p>
            <a:pPr>
              <a:defRPr sz="1400">
                <a:solidFill>
                  <a:srgbClr val="000000"/>
                </a:solidFill>
              </a:defRPr>
            </a:pPr>
            <a:r>
              <a:t>│   → Keep Spanish Point for Matching Engine                │</a:t>
            </a:r>
          </a:p>
          <a:p>
            <a:pPr>
              <a:defRPr sz="1400">
                <a:solidFill>
                  <a:srgbClr val="000000"/>
                </a:solidFill>
              </a:defRPr>
            </a:pPr>
            <a:r>
              <a:t>│   → New vendor for application maintenance                │</a:t>
            </a:r>
          </a:p>
          <a:p>
            <a:pPr>
              <a:defRPr sz="1400">
                <a:solidFill>
                  <a:srgbClr val="000000"/>
                </a:solidFill>
              </a:defRPr>
            </a:pPr>
            <a:r>
              <a:t>│   → Require knowledge transfer improvements                │</a:t>
            </a:r>
          </a:p>
          <a:p>
            <a:pPr>
              <a:defRPr sz="1400">
                <a:solidFill>
                  <a:srgbClr val="000000"/>
                </a:solidFill>
              </a:defRPr>
            </a:pPr>
            <a:r>
              <a:t>│                                                             │</a:t>
            </a:r>
          </a:p>
          <a:p>
            <a:pPr>
              <a:defRPr sz="1400">
                <a:solidFill>
                  <a:srgbClr val="000000"/>
                </a:solidFill>
              </a:defRPr>
            </a:pPr>
            <a:r>
              <a:t>│ TIMELINE: 6 months                                         │</a:t>
            </a:r>
          </a:p>
          <a:p>
            <a:pPr>
              <a:defRPr sz="1400">
                <a:solidFill>
                  <a:srgbClr val="000000"/>
                </a:solidFill>
              </a:defRPr>
            </a:pPr>
            <a:r>
              <a:t>│ INVESTMENT: Depends on path chosen                        │</a:t>
            </a:r>
          </a:p>
          <a:p>
            <a:pPr>
              <a:defRPr sz="1400">
                <a:solidFill>
                  <a:srgbClr val="000000"/>
                </a:solidFill>
              </a:defRPr>
            </a:pPr>
            <a:r>
              <a:t>•───────────────────────────────────────────────────────────┘</a:t>
            </a:r>
          </a:p>
          <a:p>
            <a:pPr>
              <a:defRPr sz="1400">
                <a:solidFill>
                  <a:srgbClr val="000000"/>
                </a:solidFill>
              </a:defRPr>
            </a:pPr>
          </a:p>
          <a:p>
            <a:pPr>
              <a:defRPr sz="1800" b="1">
                <a:solidFill>
                  <a:srgbClr val="000000"/>
                </a:solidFill>
              </a:defRPr>
            </a:pPr>
            <a:r>
              <a:t>Phase 3 (H2 2026 onwards - 12-18 months)</a:t>
            </a:r>
          </a:p>
          <a:p>
            <a:pPr>
              <a:defRPr sz="1400">
                <a:solidFill>
                  <a:srgbClr val="000000"/>
                </a:solidFill>
              </a:defRPr>
            </a:pPr>
            <a:r>
              <a:t>┌────────────────────────────────────────────────────────────┐</a:t>
            </a:r>
          </a:p>
          <a:p>
            <a:pPr>
              <a:defRPr sz="1400">
                <a:solidFill>
                  <a:srgbClr val="000000"/>
                </a:solidFill>
              </a:defRPr>
            </a:pPr>
            <a:r>
              <a:t>│ OBJECTIVE: Execute chosen strategy                         │</a:t>
            </a:r>
          </a:p>
          <a:p>
            <a:pPr>
              <a:defRPr sz="1400">
                <a:solidFill>
                  <a:srgbClr val="000000"/>
                </a:solidFill>
              </a:defRPr>
            </a:pPr>
            <a:r>
              <a:t>│                                                             │</a:t>
            </a:r>
          </a:p>
          <a:p>
            <a:pPr>
              <a:defRPr sz="1400">
                <a:solidFill>
                  <a:srgbClr val="000000"/>
                </a:solidFill>
              </a:defRPr>
            </a:pPr>
            <a:r>
              <a:t>│ Path A (Vendor Transition):                                │</a:t>
            </a:r>
          </a:p>
          <a:p>
            <a:pPr>
              <a:defRPr sz="1400">
                <a:solidFill>
                  <a:srgbClr val="000000"/>
                </a:solidFill>
              </a:defRPr>
            </a:pPr>
            <a:r>
              <a:t>│   ├─ 12-24 month timeline                                 │</a:t>
            </a:r>
          </a:p>
          <a:p>
            <a:pPr>
              <a:defRPr sz="1400">
                <a:solidFill>
                  <a:srgbClr val="000000"/>
                </a:solidFill>
              </a:defRPr>
            </a:pPr>
            <a:r>
              <a:t>│   ├─ €300-600K investment                                 │</a:t>
            </a:r>
          </a:p>
          <a:p>
            <a:pPr>
              <a:defRPr sz="1400">
                <a:solidFill>
                  <a:srgbClr val="000000"/>
                </a:solidFill>
              </a:defRPr>
            </a:pPr>
            <a:r>
              <a:t>│   ├─ Parallel vendor overlap                              │</a:t>
            </a:r>
          </a:p>
          <a:p>
            <a:pPr>
              <a:defRPr sz="1400">
                <a:solidFill>
                  <a:srgbClr val="000000"/>
                </a:solidFill>
              </a:defRPr>
            </a:pPr>
            <a:r>
              <a:t>│   └─ Gradual feature transition                           │</a:t>
            </a:r>
          </a:p>
          <a:p>
            <a:pPr>
              <a:defRPr sz="1400">
                <a:solidFill>
                  <a:srgbClr val="000000"/>
                </a:solidFill>
              </a:defRPr>
            </a:pPr>
            <a:r>
              <a:t>│                                                             │</a:t>
            </a:r>
          </a:p>
          <a:p>
            <a:pPr>
              <a:defRPr sz="1400">
                <a:solidFill>
                  <a:srgbClr val="000000"/>
                </a:solidFill>
              </a:defRPr>
            </a:pPr>
            <a:r>
              <a:t>│ Path B (Improved Relationship):                            │</a:t>
            </a:r>
          </a:p>
          <a:p>
            <a:pPr>
              <a:defRPr sz="1400">
                <a:solidFill>
                  <a:srgbClr val="000000"/>
                </a:solidFill>
              </a:defRPr>
            </a:pPr>
            <a:r>
              <a:t>│   ├─ Enhanced contract terms in place                     │</a:t>
            </a:r>
          </a:p>
          <a:p>
            <a:pPr>
              <a:defRPr sz="1400">
                <a:solidFill>
                  <a:srgbClr val="000000"/>
                </a:solidFill>
              </a:defRPr>
            </a:pPr>
            <a:r>
              <a:t>│   ├─ Better transparency and governance                   │</a:t>
            </a:r>
          </a:p>
          <a:p>
            <a:pPr>
              <a:defRPr sz="1400">
                <a:solidFill>
                  <a:srgbClr val="000000"/>
                </a:solidFill>
              </a:defRPr>
            </a:pPr>
            <a:r>
              <a:t>│   ├─ Cost optimization implemented                        │</a:t>
            </a:r>
          </a:p>
          <a:p>
            <a:pPr>
              <a:defRPr sz="1400">
                <a:solidFill>
                  <a:srgbClr val="000000"/>
                </a:solidFill>
              </a:defRPr>
            </a:pPr>
            <a:r>
              <a:t>│   └─ Continue with Spanish Point under better terms       │</a:t>
            </a:r>
          </a:p>
          <a:p>
            <a:pPr>
              <a:defRPr sz="1400">
                <a:solidFill>
                  <a:srgbClr val="000000"/>
                </a:solidFill>
              </a:defRPr>
            </a:pPr>
            <a:r>
              <a:t>│                                                             │</a:t>
            </a:r>
          </a:p>
          <a:p>
            <a:pPr>
              <a:defRPr sz="1400">
                <a:solidFill>
                  <a:srgbClr val="000000"/>
                </a:solidFill>
              </a:defRPr>
            </a:pPr>
            <a:r>
              <a:t>│ Path C (Partial Independence):                             │</a:t>
            </a:r>
          </a:p>
          <a:p>
            <a:pPr>
              <a:defRPr sz="1400">
                <a:solidFill>
                  <a:srgbClr val="000000"/>
                </a:solidFill>
              </a:defRPr>
            </a:pPr>
            <a:r>
              <a:t>│   ├─ Split maintenance model                              │</a:t>
            </a:r>
          </a:p>
          <a:p>
            <a:pPr>
              <a:defRPr sz="1400">
                <a:solidFill>
                  <a:srgbClr val="000000"/>
                </a:solidFill>
              </a:defRPr>
            </a:pPr>
            <a:r>
              <a:t>│   ├─ New vendor for app, Spanish Point for Matching       │</a:t>
            </a:r>
          </a:p>
          <a:p>
            <a:pPr>
              <a:defRPr sz="1400">
                <a:solidFill>
                  <a:srgbClr val="000000"/>
                </a:solidFill>
              </a:defRPr>
            </a:pPr>
            <a:r>
              <a:t>│   ├─ Clear interface contracts                            │</a:t>
            </a:r>
          </a:p>
          <a:p>
            <a:pPr>
              <a:defRPr sz="1400">
                <a:solidFill>
                  <a:srgbClr val="000000"/>
                </a:solidFill>
              </a:defRPr>
            </a:pPr>
            <a:r>
              <a:t>│   └─ Improved knowledge management                        │</a:t>
            </a:r>
          </a:p>
          <a:p>
            <a:pPr>
              <a:defRPr sz="1400">
                <a:solidFill>
                  <a:srgbClr val="000000"/>
                </a:solidFill>
              </a:defRPr>
            </a:pPr>
            <a:r>
              <a:t>│                                                             │</a:t>
            </a:r>
          </a:p>
          <a:p>
            <a:pPr>
              <a:defRPr sz="1400">
                <a:solidFill>
                  <a:srgbClr val="000000"/>
                </a:solidFill>
              </a:defRPr>
            </a:pPr>
            <a:r>
              <a:t>│ TIMELINE: 12-18 months                                     │</a:t>
            </a:r>
          </a:p>
          <a:p>
            <a:pPr>
              <a:defRPr sz="1400">
                <a:solidFill>
                  <a:srgbClr val="000000"/>
                </a:solidFill>
              </a:defRPr>
            </a:pPr>
            <a:r>
              <a:t>│ INVESTMENT: €100K-600K (depending on path)                │</a:t>
            </a:r>
          </a:p>
          <a:p>
            <a:pPr>
              <a:defRPr sz="1400">
                <a:solidFill>
                  <a:srgbClr val="000000"/>
                </a:solidFill>
              </a:defRPr>
            </a:pPr>
            <a:r>
              <a:t>•───────────────────────────────────────────────────────────┘</a:t>
            </a:r>
          </a:p>
          <a:p>
            <a:pPr>
              <a:defRPr sz="1600">
                <a:solidFill>
                  <a:srgbClr val="DC143C"/>
                </a:solidFill>
              </a:defRPr>
            </a:pPr>
            <a:r>
              <a:t>❌ DON'T: Commit to vendor switch before testing feasibility</a:t>
            </a:r>
          </a:p>
          <a:p>
            <a:pPr>
              <a:defRPr sz="1600">
                <a:solidFill>
                  <a:srgbClr val="DC143C"/>
                </a:solidFill>
              </a:defRPr>
            </a:pPr>
            <a:r>
              <a:t>❌ DON'T: Accept status quo without negotiating better terms</a:t>
            </a:r>
          </a:p>
          <a:p>
            <a:pPr>
              <a:defRPr sz="1600">
                <a:solidFill>
                  <a:srgbClr val="228B22"/>
                </a:solidFill>
              </a:defRPr>
            </a:pPr>
            <a:r>
              <a:t>✅ DO: Gather data first, decide with evidence, not assumptions</a:t>
            </a:r>
          </a:p>
          <a:p>
            <a:pPr>
              <a:defRPr sz="1600">
                <a:solidFill>
                  <a:srgbClr val="228B22"/>
                </a:solidFill>
              </a:defRPr>
            </a:pPr>
            <a:r>
              <a:t>✅ DO: Use audit findings as leverage for better contract terms</a:t>
            </a:r>
          </a:p>
          <a:p>
            <a:pPr>
              <a:defRPr sz="1600">
                <a:solidFill>
                  <a:srgbClr val="228B22"/>
                </a:solidFill>
              </a:defRPr>
            </a:pPr>
            <a:r>
              <a:t>✅ DO: Test knowledge transfer with low-risk pilot</a:t>
            </a:r>
          </a:p>
          <a:p>
            <a:pPr>
              <a:defRPr sz="1600">
                <a:solidFill>
                  <a:srgbClr val="228B22"/>
                </a:solidFill>
              </a:defRPr>
            </a:pPr>
            <a:r>
              <a:t>✅ DO: Research alternatives to strengthen negotiating position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The Knowledge Transfer Test - €10-20K De-Risking Investment</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Knowledge Transfer Pilot Test Framework</a:t>
            </a:r>
          </a:p>
          <a:p>
            <a:pPr>
              <a:defRPr sz="1400">
                <a:solidFill>
                  <a:srgbClr val="000000"/>
                </a:solidFill>
              </a:defRPr>
            </a:pPr>
          </a:p>
          <a:p>
            <a:pPr>
              <a:defRPr sz="1800" b="1">
                <a:solidFill>
                  <a:srgbClr val="000000"/>
                </a:solidFill>
              </a:defRPr>
            </a:pPr>
            <a:r>
              <a:t>OBJECTIVE: Validate that independent vendor can deliver with available materials</a:t>
            </a:r>
          </a:p>
          <a:p>
            <a:pPr>
              <a:defRPr sz="1400">
                <a:solidFill>
                  <a:srgbClr val="000000"/>
                </a:solidFill>
              </a:defRPr>
            </a:pPr>
          </a:p>
          <a:p>
            <a:pPr>
              <a:defRPr sz="1800" b="1">
                <a:solidFill>
                  <a:srgbClr val="000000"/>
                </a:solidFill>
              </a:defRPr>
            </a:pPr>
            <a:r>
              <a:t>SCOPE: Small, Low-Risk Feature Assignment</a:t>
            </a:r>
          </a:p>
          <a:p>
            <a:pPr>
              <a:defRPr sz="1400">
                <a:solidFill>
                  <a:srgbClr val="000000"/>
                </a:solidFill>
              </a:defRPr>
            </a:pPr>
            <a:r>
              <a:t>• Examples:</a:t>
            </a:r>
          </a:p>
          <a:p>
            <a:pPr>
              <a:defRPr sz="1400">
                <a:solidFill>
                  <a:srgbClr val="000000"/>
                </a:solidFill>
              </a:defRPr>
            </a:pPr>
            <a:r>
              <a:t>│  ├─ Add new validation rule (e.g., "Work title must not contain special characters")</a:t>
            </a:r>
          </a:p>
          <a:p>
            <a:pPr>
              <a:defRPr sz="1400">
                <a:solidFill>
                  <a:srgbClr val="000000"/>
                </a:solidFill>
              </a:defRPr>
            </a:pPr>
            <a:r>
              <a:t>│  ├─ Generate new report format (e.g., "Monthly submission statistics by agency")</a:t>
            </a:r>
          </a:p>
          <a:p>
            <a:pPr>
              <a:defRPr sz="1400">
                <a:solidFill>
                  <a:srgbClr val="000000"/>
                </a:solidFill>
              </a:defRPr>
            </a:pPr>
            <a:r>
              <a:t>│  ├─ Implement minor UI enhancement (e.g., "Add bulk edit capability for work metadata")</a:t>
            </a:r>
          </a:p>
          <a:p>
            <a:pPr>
              <a:defRPr sz="1400">
                <a:solidFill>
                  <a:srgbClr val="000000"/>
                </a:solidFill>
              </a:defRPr>
            </a:pPr>
            <a:r>
              <a:t>│  └─ Fix non-critical bug (e.g., "Improve error message clarity for validation failures")</a:t>
            </a:r>
          </a:p>
          <a:p>
            <a:pPr>
              <a:defRPr sz="1400">
                <a:solidFill>
                  <a:srgbClr val="000000"/>
                </a:solidFill>
              </a:defRPr>
            </a:pPr>
            <a:r>
              <a:t>• Criteria:</a:t>
            </a:r>
          </a:p>
          <a:p>
            <a:pPr>
              <a:defRPr sz="1400">
                <a:solidFill>
                  <a:srgbClr val="000000"/>
                </a:solidFill>
              </a:defRPr>
            </a:pPr>
            <a:r>
              <a:t>│  ├─ Well-defined requirements</a:t>
            </a:r>
          </a:p>
          <a:p>
            <a:pPr>
              <a:defRPr sz="1400">
                <a:solidFill>
                  <a:srgbClr val="000000"/>
                </a:solidFill>
              </a:defRPr>
            </a:pPr>
            <a:r>
              <a:t>│  ├─ Limited scope (1-2 weeks effort for experienced team)</a:t>
            </a:r>
          </a:p>
          <a:p>
            <a:pPr>
              <a:defRPr sz="1400">
                <a:solidFill>
                  <a:srgbClr val="000000"/>
                </a:solidFill>
              </a:defRPr>
            </a:pPr>
            <a:r>
              <a:t>│  ├─ Non-critical (failure doesn't impact production)</a:t>
            </a:r>
          </a:p>
          <a:p>
            <a:pPr>
              <a:defRPr sz="1400">
                <a:solidFill>
                  <a:srgbClr val="000000"/>
                </a:solidFill>
              </a:defRPr>
            </a:pPr>
            <a:r>
              <a:t>│  └─ Representative complexity (touches multiple layers)</a:t>
            </a:r>
          </a:p>
          <a:p>
            <a:pPr>
              <a:defRPr sz="1400">
                <a:solidFill>
                  <a:srgbClr val="000000"/>
                </a:solidFill>
              </a:defRPr>
            </a:pPr>
          </a:p>
          <a:p>
            <a:pPr>
              <a:defRPr sz="1800" b="1">
                <a:solidFill>
                  <a:srgbClr val="000000"/>
                </a:solidFill>
              </a:defRPr>
            </a:pPr>
            <a:r>
              <a:t>MATERIALS PROVIDED TO PILOT VENDOR:</a:t>
            </a:r>
          </a:p>
          <a:p>
            <a:pPr>
              <a:defRPr sz="1600">
                <a:solidFill>
                  <a:srgbClr val="228B22"/>
                </a:solidFill>
              </a:defRPr>
            </a:pPr>
            <a:r>
              <a:t>✓ Source code (.NET 8 codebase)</a:t>
            </a:r>
          </a:p>
          <a:p>
            <a:pPr>
              <a:defRPr sz="1600">
                <a:solidFill>
                  <a:srgbClr val="228B22"/>
                </a:solidFill>
              </a:defRPr>
            </a:pPr>
            <a:r>
              <a:t>✓ Existing documentation (specifications, architecture docs)</a:t>
            </a:r>
          </a:p>
          <a:p>
            <a:pPr>
              <a:defRPr sz="1600">
                <a:solidFill>
                  <a:srgbClr val="228B22"/>
                </a:solidFill>
              </a:defRPr>
            </a:pPr>
            <a:r>
              <a:t>✓ Feature specification (detailed requirements)</a:t>
            </a:r>
          </a:p>
          <a:p>
            <a:pPr>
              <a:defRPr sz="1600">
                <a:solidFill>
                  <a:srgbClr val="228B22"/>
                </a:solidFill>
              </a:defRPr>
            </a:pPr>
            <a:r>
              <a:t>✓ Access to UAT environment for testing</a:t>
            </a:r>
          </a:p>
          <a:p>
            <a:pPr>
              <a:defRPr sz="1600">
                <a:solidFill>
                  <a:srgbClr val="DC143C"/>
                </a:solidFill>
              </a:defRPr>
            </a:pPr>
            <a:r>
              <a:t>❌ NO direct Spanish Point development support (handover materials only)</a:t>
            </a:r>
          </a:p>
          <a:p>
            <a:pPr>
              <a:defRPr sz="1400">
                <a:solidFill>
                  <a:srgbClr val="000000"/>
                </a:solidFill>
              </a:defRPr>
            </a:pPr>
          </a:p>
          <a:p>
            <a:pPr>
              <a:defRPr sz="1800" b="1">
                <a:solidFill>
                  <a:srgbClr val="000000"/>
                </a:solidFill>
              </a:defRPr>
            </a:pPr>
            <a:r>
              <a:t>SUCCESS CRITERIA:</a:t>
            </a:r>
          </a:p>
          <a:p>
            <a:pPr>
              <a:defRPr sz="1400">
                <a:solidFill>
                  <a:srgbClr val="000000"/>
                </a:solidFill>
              </a:defRPr>
            </a:pPr>
            <a:r>
              <a:t>┌────────────────────────────────────────────────────────┐</a:t>
            </a:r>
          </a:p>
          <a:p>
            <a:pPr>
              <a:defRPr sz="1400">
                <a:solidFill>
                  <a:srgbClr val="000000"/>
                </a:solidFill>
              </a:defRPr>
            </a:pPr>
            <a:r>
              <a:t>│ 1. Feature Delivered Correctly                         │</a:t>
            </a:r>
          </a:p>
          <a:p>
            <a:pPr>
              <a:defRPr sz="1400">
                <a:solidFill>
                  <a:srgbClr val="000000"/>
                </a:solidFill>
              </a:defRPr>
            </a:pPr>
            <a:r>
              <a:t>│    └─ Meets requirements, passes testing               │</a:t>
            </a:r>
          </a:p>
          <a:p>
            <a:pPr>
              <a:defRPr sz="1400">
                <a:solidFill>
                  <a:srgbClr val="000000"/>
                </a:solidFill>
              </a:defRPr>
            </a:pPr>
            <a:r>
              <a:t>│                                                         │</a:t>
            </a:r>
          </a:p>
          <a:p>
            <a:pPr>
              <a:defRPr sz="1400">
                <a:solidFill>
                  <a:srgbClr val="000000"/>
                </a:solidFill>
              </a:defRPr>
            </a:pPr>
            <a:r>
              <a:t>│ 2. Reasonable Timeline                                 │</a:t>
            </a:r>
          </a:p>
          <a:p>
            <a:pPr>
              <a:defRPr sz="1400">
                <a:solidFill>
                  <a:srgbClr val="000000"/>
                </a:solidFill>
              </a:defRPr>
            </a:pPr>
            <a:r>
              <a:t>│    └─ 1-2 weeks for experienced vendor (not 6+ weeks)  │</a:t>
            </a:r>
          </a:p>
          <a:p>
            <a:pPr>
              <a:defRPr sz="1400">
                <a:solidFill>
                  <a:srgbClr val="000000"/>
                </a:solidFill>
              </a:defRPr>
            </a:pPr>
            <a:r>
              <a:t>│                                                         │</a:t>
            </a:r>
          </a:p>
          <a:p>
            <a:pPr>
              <a:defRPr sz="1400">
                <a:solidFill>
                  <a:srgbClr val="000000"/>
                </a:solidFill>
              </a:defRPr>
            </a:pPr>
            <a:r>
              <a:t>│ 3. Independent Delivery                                │</a:t>
            </a:r>
          </a:p>
          <a:p>
            <a:pPr>
              <a:defRPr sz="1400">
                <a:solidFill>
                  <a:srgbClr val="000000"/>
                </a:solidFill>
              </a:defRPr>
            </a:pPr>
            <a:r>
              <a:t>│    └─ Minimal questions requiring Spanish Point input  │</a:t>
            </a:r>
          </a:p>
          <a:p>
            <a:pPr>
              <a:defRPr sz="1400">
                <a:solidFill>
                  <a:srgbClr val="000000"/>
                </a:solidFill>
              </a:defRPr>
            </a:pPr>
            <a:r>
              <a:t>│                                                         │</a:t>
            </a:r>
          </a:p>
          <a:p>
            <a:pPr>
              <a:defRPr sz="1400">
                <a:solidFill>
                  <a:srgbClr val="000000"/>
                </a:solidFill>
              </a:defRPr>
            </a:pPr>
            <a:r>
              <a:t>│ 4. Code Quality Maintained                             │</a:t>
            </a:r>
          </a:p>
          <a:p>
            <a:pPr>
              <a:defRPr sz="1400">
                <a:solidFill>
                  <a:srgbClr val="000000"/>
                </a:solidFill>
              </a:defRPr>
            </a:pPr>
            <a:r>
              <a:t>│    └─ Follows existing patterns, no technical debt     │</a:t>
            </a:r>
          </a:p>
          <a:p>
            <a:pPr>
              <a:defRPr sz="1400">
                <a:solidFill>
                  <a:srgbClr val="000000"/>
                </a:solidFill>
              </a:defRPr>
            </a:pPr>
            <a:r>
              <a:t>│                                                         │</a:t>
            </a:r>
          </a:p>
          <a:p>
            <a:pPr>
              <a:defRPr sz="1400">
                <a:solidFill>
                  <a:srgbClr val="000000"/>
                </a:solidFill>
              </a:defRPr>
            </a:pPr>
            <a:r>
              <a:t>│ 5. Documentation Updated                               │</a:t>
            </a:r>
          </a:p>
          <a:p>
            <a:pPr>
              <a:defRPr sz="1400">
                <a:solidFill>
                  <a:srgbClr val="000000"/>
                </a:solidFill>
              </a:defRPr>
            </a:pPr>
            <a:r>
              <a:t>│    └─ Tests written, comments added (if missing)       │</a:t>
            </a:r>
          </a:p>
          <a:p>
            <a:pPr>
              <a:defRPr sz="1400">
                <a:solidFill>
                  <a:srgbClr val="000000"/>
                </a:solidFill>
              </a:defRPr>
            </a:pPr>
            <a:r>
              <a:t>•───────────────────────────────────────────────────────┘</a:t>
            </a:r>
          </a:p>
          <a:p>
            <a:pPr>
              <a:defRPr sz="1400">
                <a:solidFill>
                  <a:srgbClr val="000000"/>
                </a:solidFill>
              </a:defRPr>
            </a:pPr>
          </a:p>
          <a:p>
            <a:pPr>
              <a:defRPr sz="1800" b="1">
                <a:solidFill>
                  <a:srgbClr val="000000"/>
                </a:solidFill>
              </a:defRPr>
            </a:pPr>
            <a:r>
              <a:t>EVALUATION DIMENSIONS:</a:t>
            </a:r>
          </a:p>
          <a:p>
            <a:pPr>
              <a:defRPr sz="1400">
                <a:solidFill>
                  <a:srgbClr val="000000"/>
                </a:solidFill>
              </a:defRPr>
            </a:pPr>
            <a:r>
              <a:t>• Onboarding Time: How long to become productive?</a:t>
            </a:r>
          </a:p>
          <a:p>
            <a:pPr>
              <a:defRPr sz="1400">
                <a:solidFill>
                  <a:srgbClr val="000000"/>
                </a:solidFill>
              </a:defRPr>
            </a:pPr>
            <a:r>
              <a:t>• Question Types: What knowledge gaps exist?</a:t>
            </a:r>
          </a:p>
          <a:p>
            <a:pPr>
              <a:defRPr sz="1400">
                <a:solidFill>
                  <a:srgbClr val="000000"/>
                </a:solidFill>
              </a:defRPr>
            </a:pPr>
            <a:r>
              <a:t>• Spanish Point Cooperation: Helpful or defensive?</a:t>
            </a:r>
          </a:p>
          <a:p>
            <a:pPr>
              <a:defRPr sz="1400">
                <a:solidFill>
                  <a:srgbClr val="000000"/>
                </a:solidFill>
              </a:defRPr>
            </a:pPr>
            <a:r>
              <a:t>• Code Comprehension: Can they navigate codebase?</a:t>
            </a:r>
          </a:p>
          <a:p>
            <a:pPr>
              <a:defRPr sz="1400">
                <a:solidFill>
                  <a:srgbClr val="000000"/>
                </a:solidFill>
              </a:defRPr>
            </a:pPr>
            <a:r>
              <a:t>• Delivery Quality: Professional vs struggling?</a:t>
            </a:r>
          </a:p>
          <a:p>
            <a:pPr>
              <a:defRPr sz="1400">
                <a:solidFill>
                  <a:srgbClr val="000000"/>
                </a:solidFill>
              </a:defRPr>
            </a:pPr>
          </a:p>
          <a:p>
            <a:pPr>
              <a:defRPr sz="1800" b="1">
                <a:solidFill>
                  <a:srgbClr val="000000"/>
                </a:solidFill>
              </a:defRPr>
            </a:pPr>
            <a:r>
              <a:t>OUTCOMES:</a:t>
            </a:r>
          </a:p>
          <a:p>
            <a:pPr>
              <a:defRPr sz="1400">
                <a:solidFill>
                  <a:srgbClr val="000000"/>
                </a:solidFill>
              </a:defRPr>
            </a:pPr>
            <a:r>
              <a:t>┌─────────────────────────────────────────────────────────┐</a:t>
            </a:r>
          </a:p>
          <a:p>
            <a:pPr>
              <a:defRPr sz="1400">
                <a:solidFill>
                  <a:srgbClr val="000000"/>
                </a:solidFill>
              </a:defRPr>
            </a:pPr>
            <a:r>
              <a:t>│ SUCCESS → Knowledge transfer feasible                   │</a:t>
            </a:r>
          </a:p>
          <a:p>
            <a:pPr>
              <a:defRPr sz="1400">
                <a:solidFill>
                  <a:srgbClr val="000000"/>
                </a:solidFill>
              </a:defRPr>
            </a:pPr>
            <a:r>
              <a:t>│          → Vendor switch is viable option              │</a:t>
            </a:r>
          </a:p>
          <a:p>
            <a:pPr>
              <a:defRPr sz="1400">
                <a:solidFill>
                  <a:srgbClr val="000000"/>
                </a:solidFill>
              </a:defRPr>
            </a:pPr>
            <a:r>
              <a:t>│          → Proceed with detailed RFP process           │</a:t>
            </a:r>
          </a:p>
          <a:p>
            <a:pPr>
              <a:defRPr sz="1400">
                <a:solidFill>
                  <a:srgbClr val="000000"/>
                </a:solidFill>
              </a:defRPr>
            </a:pPr>
            <a:r>
              <a:t>│                                                         │</a:t>
            </a:r>
          </a:p>
          <a:p>
            <a:pPr>
              <a:defRPr sz="1400">
                <a:solidFill>
                  <a:srgbClr val="000000"/>
                </a:solidFill>
              </a:defRPr>
            </a:pPr>
            <a:r>
              <a:t>│ PARTIAL → Knowledge transfer challenging but possible  │</a:t>
            </a:r>
          </a:p>
          <a:p>
            <a:pPr>
              <a:defRPr sz="1400">
                <a:solidFill>
                  <a:srgbClr val="000000"/>
                </a:solidFill>
              </a:defRPr>
            </a:pPr>
            <a:r>
              <a:t>│          → Requires improved documentation first       │</a:t>
            </a:r>
          </a:p>
          <a:p>
            <a:pPr>
              <a:defRPr sz="1400">
                <a:solidFill>
                  <a:srgbClr val="000000"/>
                </a:solidFill>
              </a:defRPr>
            </a:pPr>
            <a:r>
              <a:t>│          → Negotiate knowledge transfer improvements   │</a:t>
            </a:r>
          </a:p>
          <a:p>
            <a:pPr>
              <a:defRPr sz="1400">
                <a:solidFill>
                  <a:srgbClr val="000000"/>
                </a:solidFill>
              </a:defRPr>
            </a:pPr>
            <a:r>
              <a:t>│                                                         │</a:t>
            </a:r>
          </a:p>
          <a:p>
            <a:pPr>
              <a:defRPr sz="1400">
                <a:solidFill>
                  <a:srgbClr val="000000"/>
                </a:solidFill>
              </a:defRPr>
            </a:pPr>
            <a:r>
              <a:t>│ FAILURE → Knowledge transfer not viable                │</a:t>
            </a:r>
          </a:p>
          <a:p>
            <a:pPr>
              <a:defRPr sz="1400">
                <a:solidFill>
                  <a:srgbClr val="000000"/>
                </a:solidFill>
              </a:defRPr>
            </a:pPr>
            <a:r>
              <a:t>│          → Vendor switch extremely high risk           │</a:t>
            </a:r>
          </a:p>
          <a:p>
            <a:pPr>
              <a:defRPr sz="1400">
                <a:solidFill>
                  <a:srgbClr val="000000"/>
                </a:solidFill>
              </a:defRPr>
            </a:pPr>
            <a:r>
              <a:t>│          → Focus on improving current relationship     │</a:t>
            </a:r>
          </a:p>
          <a:p>
            <a:pPr>
              <a:defRPr sz="1400">
                <a:solidFill>
                  <a:srgbClr val="000000"/>
                </a:solidFill>
              </a:defRPr>
            </a:pPr>
            <a:r>
              <a:t>•────────────────────────────────────────────────────────┘</a:t>
            </a:r>
          </a:p>
          <a:p>
            <a:pPr>
              <a:defRPr sz="1400">
                <a:solidFill>
                  <a:srgbClr val="000000"/>
                </a:solidFill>
              </a:defRPr>
            </a:pPr>
          </a:p>
          <a:p>
            <a:pPr>
              <a:defRPr sz="1800" b="1">
                <a:solidFill>
                  <a:srgbClr val="000000"/>
                </a:solidFill>
              </a:defRPr>
            </a:pPr>
            <a:r>
              <a:t>INVESTMENT: €10-20K | TIMELINE: 2 months | RISK: Very Low</a:t>
            </a:r>
          </a:p>
          <a:p>
            <a:pPr>
              <a:defRPr sz="1400">
                <a:solidFill>
                  <a:srgbClr val="000000"/>
                </a:solidFill>
              </a:defRPr>
            </a:pPr>
            <a:r>
              <a:t>graph TD</a:t>
            </a:r>
          </a:p>
          <a:p>
            <a:pPr>
              <a:defRPr sz="1400">
                <a:solidFill>
                  <a:srgbClr val="000000"/>
                </a:solidFill>
              </a:defRPr>
            </a:pPr>
            <a:r>
              <a:t>A[Pilot Test Start] --&gt; B{Assign Feature to&lt;br/&gt;Independent Vendor}</a:t>
            </a:r>
          </a:p>
          <a:p>
            <a:pPr>
              <a:defRPr sz="1400">
                <a:solidFill>
                  <a:srgbClr val="000000"/>
                </a:solidFill>
              </a:defRPr>
            </a:pPr>
            <a:r>
              <a:t>B --&gt; C[Provide Materials:&lt;br/&gt;Code + Docs + Spec]</a:t>
            </a:r>
          </a:p>
          <a:p>
            <a:pPr>
              <a:defRPr sz="1400">
                <a:solidFill>
                  <a:srgbClr val="000000"/>
                </a:solidFill>
              </a:defRPr>
            </a:pPr>
            <a:r>
              <a:t>C --&gt; D[2 Week Development Period]</a:t>
            </a:r>
          </a:p>
          <a:p>
            <a:pPr>
              <a:defRPr sz="1400">
                <a:solidFill>
                  <a:srgbClr val="000000"/>
                </a:solidFill>
              </a:defRPr>
            </a:pPr>
            <a:r>
              <a:t>D --&gt; E{Evaluate Results}</a:t>
            </a:r>
          </a:p>
          <a:p>
            <a:pPr>
              <a:defRPr sz="1400">
                <a:solidFill>
                  <a:srgbClr val="000000"/>
                </a:solidFill>
              </a:defRPr>
            </a:pPr>
          </a:p>
          <a:p>
            <a:pPr>
              <a:defRPr sz="1400">
                <a:solidFill>
                  <a:srgbClr val="000000"/>
                </a:solidFill>
              </a:defRPr>
            </a:pPr>
            <a:r>
              <a:t>E --&gt;|Success| F[Knowledge Transfer&lt;br/&gt;FEASIBLE]</a:t>
            </a:r>
          </a:p>
          <a:p>
            <a:pPr>
              <a:defRPr sz="1400">
                <a:solidFill>
                  <a:srgbClr val="000000"/>
                </a:solidFill>
              </a:defRPr>
            </a:pPr>
            <a:r>
              <a:t>E --&gt;|Partial Success| G[Knowledge Transfer&lt;br/&gt;CHALLENGING]</a:t>
            </a:r>
          </a:p>
          <a:p>
            <a:pPr>
              <a:defRPr sz="1400">
                <a:solidFill>
                  <a:srgbClr val="000000"/>
                </a:solidFill>
              </a:defRPr>
            </a:pPr>
            <a:r>
              <a:t>E --&gt;|Failure| H[Knowledge Transfer&lt;br/&gt;NOT VIABLE]</a:t>
            </a:r>
          </a:p>
          <a:p>
            <a:pPr>
              <a:defRPr sz="1400">
                <a:solidFill>
                  <a:srgbClr val="000000"/>
                </a:solidFill>
              </a:defRPr>
            </a:pPr>
          </a:p>
          <a:p>
            <a:pPr>
              <a:defRPr sz="1400">
                <a:solidFill>
                  <a:srgbClr val="000000"/>
                </a:solidFill>
              </a:defRPr>
            </a:pPr>
            <a:r>
              <a:t>F --&gt; I[Proceed with&lt;br/&gt;Vendor Switch RFP]</a:t>
            </a:r>
          </a:p>
          <a:p>
            <a:pPr>
              <a:defRPr sz="1400">
                <a:solidFill>
                  <a:srgbClr val="000000"/>
                </a:solidFill>
              </a:defRPr>
            </a:pPr>
            <a:r>
              <a:t>G --&gt; J[Negotiate Documentation&lt;br/&gt;Improvements]</a:t>
            </a:r>
          </a:p>
          <a:p>
            <a:pPr>
              <a:defRPr sz="1400">
                <a:solidFill>
                  <a:srgbClr val="000000"/>
                </a:solidFill>
              </a:defRPr>
            </a:pPr>
            <a:r>
              <a:t>H --&gt; K[Improve Current&lt;br/&gt;Relationship]</a:t>
            </a:r>
          </a:p>
          <a:p>
            <a:pPr>
              <a:defRPr sz="1400">
                <a:solidFill>
                  <a:srgbClr val="000000"/>
                </a:solidFill>
              </a:defRPr>
            </a:pPr>
          </a:p>
          <a:p>
            <a:pPr>
              <a:defRPr sz="1400">
                <a:solidFill>
                  <a:srgbClr val="000000"/>
                </a:solidFill>
              </a:defRPr>
            </a:pPr>
            <a:r>
              <a:t>style F fill:#90EE90</a:t>
            </a:r>
          </a:p>
          <a:p>
            <a:pPr>
              <a:defRPr sz="1400">
                <a:solidFill>
                  <a:srgbClr val="000000"/>
                </a:solidFill>
              </a:defRPr>
            </a:pPr>
            <a:r>
              <a:t>style G fill:#FFD700</a:t>
            </a:r>
          </a:p>
          <a:p>
            <a:pPr>
              <a:defRPr sz="1400">
                <a:solidFill>
                  <a:srgbClr val="000000"/>
                </a:solidFill>
              </a:defRPr>
            </a:pPr>
            <a:r>
              <a:t>style H fill:#FFB6C1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Contract Renegotiation Leverage - CISAC's Strategic Position</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CISAC's Negotiating Leverage</a:t>
            </a:r>
          </a:p>
          <a:p>
            <a:pPr>
              <a:defRPr sz="1400">
                <a:solidFill>
                  <a:srgbClr val="000000"/>
                </a:solidFill>
              </a:defRPr>
            </a:pPr>
          </a:p>
          <a:p>
            <a:pPr>
              <a:defRPr sz="1800" b="1">
                <a:solidFill>
                  <a:srgbClr val="000000"/>
                </a:solidFill>
              </a:defRPr>
            </a:pPr>
            <a:r>
              <a:t>Strategic Asset: CISAC's Data</a:t>
            </a:r>
          </a:p>
          <a:p>
            <a:pPr>
              <a:defRPr sz="1400">
                <a:solidFill>
                  <a:srgbClr val="000000"/>
                </a:solidFill>
              </a:defRPr>
            </a:pPr>
            <a:r>
              <a:t>┌────────────────────────────────────────────────────────┐</a:t>
            </a:r>
          </a:p>
          <a:p>
            <a:pPr>
              <a:defRPr sz="1400">
                <a:solidFill>
                  <a:srgbClr val="000000"/>
                </a:solidFill>
              </a:defRPr>
            </a:pPr>
            <a:r>
              <a:t>│ "Their business model is based on your data.           │</a:t>
            </a:r>
          </a:p>
          <a:p>
            <a:pPr>
              <a:defRPr sz="1400">
                <a:solidFill>
                  <a:srgbClr val="000000"/>
                </a:solidFill>
              </a:defRPr>
            </a:pPr>
            <a:r>
              <a:t>│  It doesn't exist without your data."                  │</a:t>
            </a:r>
          </a:p>
          <a:p>
            <a:pPr>
              <a:defRPr sz="1400">
                <a:solidFill>
                  <a:srgbClr val="000000"/>
                </a:solidFill>
              </a:defRPr>
            </a:pPr>
            <a:r>
              <a:t>│  — Guillaume Jay, Oct 21                               │</a:t>
            </a:r>
          </a:p>
          <a:p>
            <a:pPr>
              <a:defRPr sz="1400">
                <a:solidFill>
                  <a:srgbClr val="000000"/>
                </a:solidFill>
              </a:defRPr>
            </a:pPr>
            <a:r>
              <a:t>│                                                         │</a:t>
            </a:r>
          </a:p>
          <a:p>
            <a:pPr>
              <a:defRPr sz="1400">
                <a:solidFill>
                  <a:srgbClr val="000000"/>
                </a:solidFill>
              </a:defRPr>
            </a:pPr>
            <a:r>
              <a:t>│ "It's the only authoritative and ISO source.           │</a:t>
            </a:r>
          </a:p>
          <a:p>
            <a:pPr>
              <a:defRPr sz="1400">
                <a:solidFill>
                  <a:srgbClr val="000000"/>
                </a:solidFill>
              </a:defRPr>
            </a:pPr>
            <a:r>
              <a:t>│  We have this unique repository."                      │</a:t>
            </a:r>
          </a:p>
          <a:p>
            <a:pPr>
              <a:defRPr sz="1400">
                <a:solidFill>
                  <a:srgbClr val="000000"/>
                </a:solidFill>
              </a:defRPr>
            </a:pPr>
            <a:r>
              <a:t>│  — Yann Lebreuilly, Oct 21                             │</a:t>
            </a:r>
          </a:p>
          <a:p>
            <a:pPr>
              <a:defRPr sz="1400">
                <a:solidFill>
                  <a:srgbClr val="000000"/>
                </a:solidFill>
              </a:defRPr>
            </a:pPr>
            <a:r>
              <a:t>•───────────────────────────────────────────────────────┘</a:t>
            </a:r>
          </a:p>
          <a:p>
            <a:pPr>
              <a:defRPr sz="1400">
                <a:solidFill>
                  <a:srgbClr val="000000"/>
                </a:solidFill>
              </a:defRPr>
            </a:pPr>
          </a:p>
          <a:p>
            <a:pPr>
              <a:defRPr sz="1800" b="1">
                <a:solidFill>
                  <a:srgbClr val="000000"/>
                </a:solidFill>
              </a:defRPr>
            </a:pPr>
            <a:r>
              <a:t>Leverage Factors:</a:t>
            </a:r>
          </a:p>
          <a:p>
            <a:pPr>
              <a:defRPr sz="1400">
                <a:solidFill>
                  <a:srgbClr val="000000"/>
                </a:solidFill>
              </a:defRPr>
            </a:pPr>
            <a:r>
              <a:t>• 1. Data Source Authority</a:t>
            </a:r>
          </a:p>
          <a:p>
            <a:pPr>
              <a:defRPr sz="1400">
                <a:solidFill>
                  <a:srgbClr val="000000"/>
                </a:solidFill>
              </a:defRPr>
            </a:pPr>
            <a:r>
              <a:t>│     └─ CISAC holds the authoritative ISO music works database</a:t>
            </a:r>
          </a:p>
          <a:p>
            <a:pPr>
              <a:defRPr sz="1400">
                <a:solidFill>
                  <a:srgbClr val="000000"/>
                </a:solidFill>
              </a:defRPr>
            </a:pPr>
            <a:r>
              <a:t>│        Spanish Point's Matching Engine depends on this data</a:t>
            </a:r>
          </a:p>
          <a:p>
            <a:pPr>
              <a:defRPr sz="1400">
                <a:solidFill>
                  <a:srgbClr val="000000"/>
                </a:solidFill>
              </a:defRPr>
            </a:pPr>
            <a:r>
              <a:t>│        No CISAC data = No Spanish Point matching business</a:t>
            </a:r>
          </a:p>
          <a:p>
            <a:pPr>
              <a:defRPr sz="1400">
                <a:solidFill>
                  <a:srgbClr val="000000"/>
                </a:solidFill>
              </a:defRPr>
            </a:pPr>
            <a:r>
              <a:t>│</a:t>
            </a:r>
          </a:p>
          <a:p>
            <a:pPr>
              <a:defRPr sz="1400">
                <a:solidFill>
                  <a:srgbClr val="000000"/>
                </a:solidFill>
              </a:defRPr>
            </a:pPr>
            <a:r>
              <a:t>• 2. Volume Leadership</a:t>
            </a:r>
          </a:p>
          <a:p>
            <a:pPr>
              <a:defRPr sz="1400">
                <a:solidFill>
                  <a:srgbClr val="000000"/>
                </a:solidFill>
              </a:defRPr>
            </a:pPr>
            <a:r>
              <a:t>│     └─ CISAC is Spanish Point's largest Matching Engine client</a:t>
            </a:r>
          </a:p>
          <a:p>
            <a:pPr>
              <a:defRPr sz="1400">
                <a:solidFill>
                  <a:srgbClr val="000000"/>
                </a:solidFill>
              </a:defRPr>
            </a:pPr>
            <a:r>
              <a:t>│        Largest deployment, most works, most agencies</a:t>
            </a:r>
          </a:p>
          <a:p>
            <a:pPr>
              <a:defRPr sz="1400">
                <a:solidFill>
                  <a:srgbClr val="000000"/>
                </a:solidFill>
              </a:defRPr>
            </a:pPr>
            <a:r>
              <a:t>│        Reference client for sales to other music societies</a:t>
            </a:r>
          </a:p>
          <a:p>
            <a:pPr>
              <a:defRPr sz="1400">
                <a:solidFill>
                  <a:srgbClr val="000000"/>
                </a:solidFill>
              </a:defRPr>
            </a:pPr>
            <a:r>
              <a:t>│</a:t>
            </a:r>
          </a:p>
          <a:p>
            <a:pPr>
              <a:defRPr sz="1400">
                <a:solidFill>
                  <a:srgbClr val="000000"/>
                </a:solidFill>
              </a:defRPr>
            </a:pPr>
            <a:r>
              <a:t>• 3. Market Influence</a:t>
            </a:r>
          </a:p>
          <a:p>
            <a:pPr>
              <a:defRPr sz="1400">
                <a:solidFill>
                  <a:srgbClr val="000000"/>
                </a:solidFill>
              </a:defRPr>
            </a:pPr>
            <a:r>
              <a:t>│     └─ Other music societies follow CISAC's lead</a:t>
            </a:r>
          </a:p>
          <a:p>
            <a:pPr>
              <a:defRPr sz="1400">
                <a:solidFill>
                  <a:srgbClr val="000000"/>
                </a:solidFill>
              </a:defRPr>
            </a:pPr>
            <a:r>
              <a:t>│        CISAC's satisfaction impacts Spanish Point's reputation</a:t>
            </a:r>
          </a:p>
          <a:p>
            <a:pPr>
              <a:defRPr sz="1400">
                <a:solidFill>
                  <a:srgbClr val="000000"/>
                </a:solidFill>
              </a:defRPr>
            </a:pPr>
            <a:r>
              <a:t>│        Positive/negative reference affects future sales</a:t>
            </a:r>
          </a:p>
          <a:p>
            <a:pPr>
              <a:defRPr sz="1400">
                <a:solidFill>
                  <a:srgbClr val="000000"/>
                </a:solidFill>
              </a:defRPr>
            </a:pPr>
            <a:r>
              <a:t>│</a:t>
            </a:r>
          </a:p>
          <a:p>
            <a:pPr>
              <a:defRPr sz="1400">
                <a:solidFill>
                  <a:srgbClr val="000000"/>
                </a:solidFill>
              </a:defRPr>
            </a:pPr>
            <a:r>
              <a:t>• 4. Audit Documentation</a:t>
            </a:r>
          </a:p>
          <a:p>
            <a:pPr>
              <a:defRPr sz="1400">
                <a:solidFill>
                  <a:srgbClr val="000000"/>
                </a:solidFill>
              </a:defRPr>
            </a:pPr>
            <a:r>
              <a:t>│     └─ Governance gaps documented (May 2024 incident)</a:t>
            </a:r>
          </a:p>
          <a:p>
            <a:pPr>
              <a:defRPr sz="1400">
                <a:solidFill>
                  <a:srgbClr val="000000"/>
                </a:solidFill>
              </a:defRPr>
            </a:pPr>
            <a:r>
              <a:t>│        Transparency issues documented (access challenges)</a:t>
            </a:r>
          </a:p>
          <a:p>
            <a:pPr>
              <a:defRPr sz="1400">
                <a:solidFill>
                  <a:srgbClr val="000000"/>
                </a:solidFill>
              </a:defRPr>
            </a:pPr>
            <a:r>
              <a:t>│        Cost control gaps documented (no correlation tooling)</a:t>
            </a:r>
          </a:p>
          <a:p>
            <a:pPr>
              <a:defRPr sz="1400">
                <a:solidFill>
                  <a:srgbClr val="000000"/>
                </a:solidFill>
              </a:defRPr>
            </a:pPr>
            <a:r>
              <a:t>│        Legitimate basis for contract term improvements</a:t>
            </a:r>
          </a:p>
          <a:p>
            <a:pPr>
              <a:defRPr sz="1400">
                <a:solidFill>
                  <a:srgbClr val="000000"/>
                </a:solidFill>
              </a:defRPr>
            </a:pPr>
            <a:r>
              <a:t>│</a:t>
            </a:r>
          </a:p>
          <a:p>
            <a:pPr>
              <a:defRPr sz="1400">
                <a:solidFill>
                  <a:srgbClr val="000000"/>
                </a:solidFill>
              </a:defRPr>
            </a:pPr>
            <a:r>
              <a:t>• 5. Alternatives Research</a:t>
            </a:r>
          </a:p>
          <a:p>
            <a:pPr lvl="1">
              <a:defRPr sz="1400">
                <a:solidFill>
                  <a:srgbClr val="000000"/>
                </a:solidFill>
              </a:defRPr>
            </a:pPr>
            <a:r>
              <a:t>• Pilot test + market research = credible BATNA</a:t>
            </a:r>
          </a:p>
          <a:p>
            <a:pPr>
              <a:defRPr sz="1400">
                <a:solidFill>
                  <a:srgbClr val="000000"/>
                </a:solidFill>
              </a:defRPr>
            </a:pPr>
            <a:r>
              <a:t>(Best Alternative To Negotiated Agreement)</a:t>
            </a:r>
          </a:p>
          <a:p>
            <a:pPr>
              <a:defRPr sz="1400">
                <a:solidFill>
                  <a:srgbClr val="000000"/>
                </a:solidFill>
              </a:defRPr>
            </a:pPr>
            <a:r>
              <a:t>Even if you don't switch, showing you CAN switch</a:t>
            </a:r>
          </a:p>
          <a:p>
            <a:pPr>
              <a:defRPr sz="1400">
                <a:solidFill>
                  <a:srgbClr val="000000"/>
                </a:solidFill>
              </a:defRPr>
            </a:pPr>
            <a:r>
              <a:t>strengthens negotiating position</a:t>
            </a:r>
          </a:p>
          <a:p>
            <a:pPr>
              <a:defRPr sz="1400">
                <a:solidFill>
                  <a:srgbClr val="000000"/>
                </a:solidFill>
              </a:defRPr>
            </a:pPr>
          </a:p>
          <a:p>
            <a:pPr>
              <a:defRPr sz="1800" b="1">
                <a:solidFill>
                  <a:srgbClr val="000000"/>
                </a:solidFill>
              </a:defRPr>
            </a:pPr>
            <a:r>
              <a:t>Negotiation Objectives:</a:t>
            </a:r>
          </a:p>
          <a:p>
            <a:pPr>
              <a:defRPr sz="1400">
                <a:solidFill>
                  <a:srgbClr val="000000"/>
                </a:solidFill>
              </a:defRPr>
            </a:pPr>
            <a:r>
              <a:t>┌────────────────────────────────────────────────────────┐</a:t>
            </a:r>
          </a:p>
          <a:p>
            <a:pPr>
              <a:defRPr sz="1400">
                <a:solidFill>
                  <a:srgbClr val="000000"/>
                </a:solidFill>
              </a:defRPr>
            </a:pPr>
            <a:r>
              <a:t>│ IMMEDIATE (Non-negotiable):                            │</a:t>
            </a:r>
          </a:p>
          <a:p>
            <a:pPr>
              <a:defRPr sz="1400">
                <a:solidFill>
                  <a:srgbClr val="000000"/>
                </a:solidFill>
              </a:defRPr>
            </a:pPr>
            <a:r>
              <a:t>│ ✓ Git commit history access (no more compliance delays)│</a:t>
            </a:r>
          </a:p>
          <a:p>
            <a:pPr>
              <a:defRPr sz="1400">
                <a:solidFill>
                  <a:srgbClr val="000000"/>
                </a:solidFill>
              </a:defRPr>
            </a:pPr>
            <a:r>
              <a:t>│ ✓ IaC templates inclusion in source delivery           │</a:t>
            </a:r>
          </a:p>
          <a:p>
            <a:pPr>
              <a:defRPr sz="1400">
                <a:solidFill>
                  <a:srgbClr val="000000"/>
                </a:solidFill>
              </a:defRPr>
            </a:pPr>
            <a:r>
              <a:t>│ ✓ Cost correlation tooling (automated dashboard)       │</a:t>
            </a:r>
          </a:p>
          <a:p>
            <a:pPr>
              <a:defRPr sz="1400">
                <a:solidFill>
                  <a:srgbClr val="000000"/>
                </a:solidFill>
              </a:defRPr>
            </a:pPr>
            <a:r>
              <a:t>│                                                         │</a:t>
            </a:r>
          </a:p>
          <a:p>
            <a:pPr>
              <a:defRPr sz="1400">
                <a:solidFill>
                  <a:srgbClr val="000000"/>
                </a:solidFill>
              </a:defRPr>
            </a:pPr>
            <a:r>
              <a:t>│ HIGH PRIORITY (Strongly push):                         │</a:t>
            </a:r>
          </a:p>
          <a:p>
            <a:pPr>
              <a:defRPr sz="1400">
                <a:solidFill>
                  <a:srgbClr val="000000"/>
                </a:solidFill>
              </a:defRPr>
            </a:pPr>
            <a:r>
              <a:t>│ ✓ Performance SLAs (P95 latency, uptime commitments)   │</a:t>
            </a:r>
          </a:p>
          <a:p>
            <a:pPr>
              <a:defRPr sz="1400">
                <a:solidFill>
                  <a:srgbClr val="000000"/>
                </a:solidFill>
              </a:defRPr>
            </a:pPr>
            <a:r>
              <a:t>│ ✓ Enhanced Definition of Done (docs required)          │</a:t>
            </a:r>
          </a:p>
          <a:p>
            <a:pPr>
              <a:defRPr sz="1400">
                <a:solidFill>
                  <a:srgbClr val="000000"/>
                </a:solidFill>
              </a:defRPr>
            </a:pPr>
            <a:r>
              <a:t>│ ✓ Proactive metrics sharing (monthly dashboards)       │</a:t>
            </a:r>
          </a:p>
          <a:p>
            <a:pPr>
              <a:defRPr sz="1400">
                <a:solidFill>
                  <a:srgbClr val="000000"/>
                </a:solidFill>
              </a:defRPr>
            </a:pPr>
            <a:r>
              <a:t>│ ✓ Monthly cost review meetings (usage correlation)     │</a:t>
            </a:r>
          </a:p>
          <a:p>
            <a:pPr>
              <a:defRPr sz="1400">
                <a:solidFill>
                  <a:srgbClr val="000000"/>
                </a:solidFill>
              </a:defRPr>
            </a:pPr>
            <a:r>
              <a:t>│                                                         │</a:t>
            </a:r>
          </a:p>
          <a:p>
            <a:pPr>
              <a:defRPr sz="1400">
                <a:solidFill>
                  <a:srgbClr val="000000"/>
                </a:solidFill>
              </a:defRPr>
            </a:pPr>
            <a:r>
              <a:t>│ MEDIUM PRIORITY (Negotiate):                           │</a:t>
            </a:r>
          </a:p>
          <a:p>
            <a:pPr>
              <a:defRPr sz="1400">
                <a:solidFill>
                  <a:srgbClr val="000000"/>
                </a:solidFill>
              </a:defRPr>
            </a:pPr>
            <a:r>
              <a:t>│ ✓ Knowledge transfer improvements (onboarding docs)    │</a:t>
            </a:r>
          </a:p>
          <a:p>
            <a:pPr>
              <a:defRPr sz="1400">
                <a:solidFill>
                  <a:srgbClr val="000000"/>
                </a:solidFill>
              </a:defRPr>
            </a:pPr>
            <a:r>
              <a:t>│ ✓ Architecture Decision Records (ADR) practice         │</a:t>
            </a:r>
          </a:p>
          <a:p>
            <a:pPr>
              <a:defRPr sz="1400">
                <a:solidFill>
                  <a:srgbClr val="000000"/>
                </a:solidFill>
              </a:defRPr>
            </a:pPr>
            <a:r>
              <a:t>│ ✓ Reduced environment setup costs (IaC automation)     │</a:t>
            </a:r>
          </a:p>
          <a:p>
            <a:pPr>
              <a:defRPr sz="1400">
                <a:solidFill>
                  <a:srgbClr val="000000"/>
                </a:solidFill>
              </a:defRPr>
            </a:pPr>
            <a:r>
              <a:t>│ ✓ Smart AIM library licensing terms (if vendor switch)   │</a:t>
            </a:r>
          </a:p>
          <a:p>
            <a:pPr>
              <a:defRPr sz="1400">
                <a:solidFill>
                  <a:srgbClr val="000000"/>
                </a:solidFill>
              </a:defRPr>
            </a:pPr>
            <a:r>
              <a:t>•───────────────────────────────────────────────────────┘</a:t>
            </a:r>
          </a:p>
          <a:p>
            <a:pPr>
              <a:defRPr sz="1400">
                <a:solidFill>
                  <a:srgbClr val="000000"/>
                </a:solidFill>
              </a:defRPr>
            </a:pPr>
          </a:p>
          <a:p>
            <a:pPr>
              <a:defRPr sz="1800" b="1">
                <a:solidFill>
                  <a:srgbClr val="000000"/>
                </a:solidFill>
              </a:defRPr>
            </a:pPr>
            <a:r>
              <a:t>Negotiation Strategy:</a:t>
            </a:r>
          </a:p>
          <a:p>
            <a:pPr>
              <a:defRPr sz="1400">
                <a:solidFill>
                  <a:srgbClr val="000000"/>
                </a:solidFill>
              </a:defRPr>
            </a:pPr>
            <a:r>
              <a:t>• TIMING: Use pilot test period (Dec 2025 - Feb 2026)</a:t>
            </a:r>
          </a:p>
          <a:p>
            <a:pPr>
              <a:defRPr sz="1400">
                <a:solidFill>
                  <a:srgbClr val="000000"/>
                </a:solidFill>
              </a:defRPr>
            </a:pPr>
            <a:r>
              <a:t>│          → "We're testing vendor alternatives while negotiating better terms"</a:t>
            </a:r>
          </a:p>
          <a:p>
            <a:pPr>
              <a:defRPr sz="1400">
                <a:solidFill>
                  <a:srgbClr val="000000"/>
                </a:solidFill>
              </a:defRPr>
            </a:pPr>
            <a:r>
              <a:t>│          → Creates urgency for Spanish Point to improve relationship</a:t>
            </a:r>
          </a:p>
          <a:p>
            <a:pPr>
              <a:defRPr sz="1400">
                <a:solidFill>
                  <a:srgbClr val="000000"/>
                </a:solidFill>
              </a:defRPr>
            </a:pPr>
            <a:r>
              <a:t>│</a:t>
            </a:r>
          </a:p>
          <a:p>
            <a:pPr>
              <a:defRPr sz="1400">
                <a:solidFill>
                  <a:srgbClr val="000000"/>
                </a:solidFill>
              </a:defRPr>
            </a:pPr>
            <a:r>
              <a:t>• FRAMING: Partnership vs Compliance</a:t>
            </a:r>
          </a:p>
          <a:p>
            <a:pPr>
              <a:defRPr sz="1400">
                <a:solidFill>
                  <a:srgbClr val="000000"/>
                </a:solidFill>
              </a:defRPr>
            </a:pPr>
            <a:r>
              <a:t>│          → "We want partnership, not just contract compliance"</a:t>
            </a:r>
          </a:p>
          <a:p>
            <a:pPr>
              <a:defRPr sz="1400">
                <a:solidFill>
                  <a:srgbClr val="000000"/>
                </a:solidFill>
              </a:defRPr>
            </a:pPr>
            <a:r>
              <a:t>│          → Position improvements as mutual benefit, not demands</a:t>
            </a:r>
          </a:p>
          <a:p>
            <a:pPr>
              <a:defRPr sz="1400">
                <a:solidFill>
                  <a:srgbClr val="000000"/>
                </a:solidFill>
              </a:defRPr>
            </a:pPr>
            <a:r>
              <a:t>│</a:t>
            </a:r>
          </a:p>
          <a:p>
            <a:pPr>
              <a:defRPr sz="1400">
                <a:solidFill>
                  <a:srgbClr val="000000"/>
                </a:solidFill>
              </a:defRPr>
            </a:pPr>
            <a:r>
              <a:t>• EVIDENCE: Audit findings as basis</a:t>
            </a:r>
          </a:p>
          <a:p>
            <a:pPr>
              <a:defRPr sz="1400">
                <a:solidFill>
                  <a:srgbClr val="000000"/>
                </a:solidFill>
              </a:defRPr>
            </a:pPr>
            <a:r>
              <a:t>│          → Reference specific incidents (May 2024, access delays)</a:t>
            </a:r>
          </a:p>
          <a:p>
            <a:pPr>
              <a:defRPr sz="1400">
                <a:solidFill>
                  <a:srgbClr val="000000"/>
                </a:solidFill>
              </a:defRPr>
            </a:pPr>
            <a:r>
              <a:t>│          → Document cost control gaps, transparency issues</a:t>
            </a:r>
          </a:p>
          <a:p>
            <a:pPr>
              <a:defRPr sz="1400">
                <a:solidFill>
                  <a:srgbClr val="000000"/>
                </a:solidFill>
              </a:defRPr>
            </a:pPr>
            <a:r>
              <a:t>│          → Professional assessment, not emotional complaints</a:t>
            </a:r>
          </a:p>
          <a:p>
            <a:pPr>
              <a:defRPr sz="1400">
                <a:solidFill>
                  <a:srgbClr val="000000"/>
                </a:solidFill>
              </a:defRPr>
            </a:pPr>
            <a:r>
              <a:t>│</a:t>
            </a:r>
          </a:p>
          <a:p>
            <a:pPr>
              <a:defRPr sz="1400">
                <a:solidFill>
                  <a:srgbClr val="000000"/>
                </a:solidFill>
              </a:defRPr>
            </a:pPr>
            <a:r>
              <a:t>• FALLBACK: Partial improvements acceptable</a:t>
            </a:r>
          </a:p>
          <a:p>
            <a:pPr>
              <a:defRPr sz="1400">
                <a:solidFill>
                  <a:srgbClr val="000000"/>
                </a:solidFill>
              </a:defRPr>
            </a:pPr>
            <a:r>
              <a:t>→ Not all-or-nothing negotiation</a:t>
            </a:r>
          </a:p>
          <a:p>
            <a:pPr>
              <a:defRPr sz="1400">
                <a:solidFill>
                  <a:srgbClr val="000000"/>
                </a:solidFill>
              </a:defRPr>
            </a:pPr>
            <a:r>
              <a:t>→ Prioritize critical items (git history, IaC, cost tooling)</a:t>
            </a:r>
          </a:p>
          <a:p>
            <a:pPr>
              <a:defRPr sz="1400">
                <a:solidFill>
                  <a:srgbClr val="000000"/>
                </a:solidFill>
              </a:defRPr>
            </a:pPr>
            <a:r>
              <a:t>→ Accept incremental progress on medium priorities</a:t>
            </a:r>
          </a:p>
          <a:p>
            <a:pPr>
              <a:defRPr sz="1400">
                <a:solidFill>
                  <a:srgbClr val="000000"/>
                </a:solidFill>
              </a:defRPr>
            </a:pPr>
            <a:r>
              <a:t>graph LR</a:t>
            </a:r>
          </a:p>
          <a:p>
            <a:pPr>
              <a:defRPr sz="1400">
                <a:solidFill>
                  <a:srgbClr val="000000"/>
                </a:solidFill>
              </a:defRPr>
            </a:pPr>
            <a:r>
              <a:t>A[CISAC's Leverage] --&gt; B[Data Authority]</a:t>
            </a:r>
          </a:p>
          <a:p>
            <a:pPr>
              <a:defRPr sz="1400">
                <a:solidFill>
                  <a:srgbClr val="000000"/>
                </a:solidFill>
              </a:defRPr>
            </a:pPr>
            <a:r>
              <a:t>A --&gt; C[Volume Leadership]</a:t>
            </a:r>
          </a:p>
          <a:p>
            <a:pPr>
              <a:defRPr sz="1400">
                <a:solidFill>
                  <a:srgbClr val="000000"/>
                </a:solidFill>
              </a:defRPr>
            </a:pPr>
            <a:r>
              <a:t>A --&gt; D[Market Influence]</a:t>
            </a:r>
          </a:p>
          <a:p>
            <a:pPr>
              <a:defRPr sz="1400">
                <a:solidFill>
                  <a:srgbClr val="000000"/>
                </a:solidFill>
              </a:defRPr>
            </a:pPr>
            <a:r>
              <a:t>A --&gt; E[Audit Documentation]</a:t>
            </a:r>
          </a:p>
          <a:p>
            <a:pPr>
              <a:defRPr sz="1400">
                <a:solidFill>
                  <a:srgbClr val="000000"/>
                </a:solidFill>
              </a:defRPr>
            </a:pPr>
            <a:r>
              <a:t>A --&gt; F[Alternatives Research]</a:t>
            </a:r>
          </a:p>
          <a:p>
            <a:pPr>
              <a:defRPr sz="1400">
                <a:solidFill>
                  <a:srgbClr val="000000"/>
                </a:solidFill>
              </a:defRPr>
            </a:pPr>
          </a:p>
          <a:p>
            <a:pPr>
              <a:defRPr sz="1400">
                <a:solidFill>
                  <a:srgbClr val="000000"/>
                </a:solidFill>
              </a:defRPr>
            </a:pPr>
            <a:r>
              <a:t>B --&gt; G[Contract&lt;br/&gt;Renegotiation]</a:t>
            </a:r>
          </a:p>
          <a:p>
            <a:pPr>
              <a:defRPr sz="1400">
                <a:solidFill>
                  <a:srgbClr val="000000"/>
                </a:solidFill>
              </a:defRPr>
            </a:pPr>
            <a:r>
              <a:t>C --&gt; G</a:t>
            </a:r>
          </a:p>
          <a:p>
            <a:pPr>
              <a:defRPr sz="1400">
                <a:solidFill>
                  <a:srgbClr val="000000"/>
                </a:solidFill>
              </a:defRPr>
            </a:pPr>
            <a:r>
              <a:t>D --&gt; G</a:t>
            </a:r>
          </a:p>
          <a:p>
            <a:pPr>
              <a:defRPr sz="1400">
                <a:solidFill>
                  <a:srgbClr val="000000"/>
                </a:solidFill>
              </a:defRPr>
            </a:pPr>
            <a:r>
              <a:t>E --&gt; G</a:t>
            </a:r>
          </a:p>
          <a:p>
            <a:pPr>
              <a:defRPr sz="1400">
                <a:solidFill>
                  <a:srgbClr val="000000"/>
                </a:solidFill>
              </a:defRPr>
            </a:pPr>
            <a:r>
              <a:t>F --&gt; G</a:t>
            </a:r>
          </a:p>
          <a:p>
            <a:pPr>
              <a:defRPr sz="1400">
                <a:solidFill>
                  <a:srgbClr val="000000"/>
                </a:solidFill>
              </a:defRPr>
            </a:pPr>
          </a:p>
          <a:p>
            <a:pPr>
              <a:defRPr sz="1400">
                <a:solidFill>
                  <a:srgbClr val="000000"/>
                </a:solidFill>
              </a:defRPr>
            </a:pPr>
            <a:r>
              <a:t>G --&gt; H[Better Terms]</a:t>
            </a:r>
          </a:p>
          <a:p>
            <a:pPr>
              <a:defRPr sz="1400">
                <a:solidFill>
                  <a:srgbClr val="000000"/>
                </a:solidFill>
              </a:defRPr>
            </a:pPr>
            <a:r>
              <a:t>H --&gt; I[Git History Access]</a:t>
            </a:r>
          </a:p>
          <a:p>
            <a:pPr>
              <a:defRPr sz="1400">
                <a:solidFill>
                  <a:srgbClr val="000000"/>
                </a:solidFill>
              </a:defRPr>
            </a:pPr>
            <a:r>
              <a:t>H --&gt; J[IaC Templates]</a:t>
            </a:r>
          </a:p>
          <a:p>
            <a:pPr>
              <a:defRPr sz="1400">
                <a:solidFill>
                  <a:srgbClr val="000000"/>
                </a:solidFill>
              </a:defRPr>
            </a:pPr>
            <a:r>
              <a:t>H --&gt; K[Cost Correlation]</a:t>
            </a:r>
          </a:p>
          <a:p>
            <a:pPr>
              <a:defRPr sz="1400">
                <a:solidFill>
                  <a:srgbClr val="000000"/>
                </a:solidFill>
              </a:defRPr>
            </a:pPr>
            <a:r>
              <a:t>H --&gt; L[Performance SLAs]</a:t>
            </a:r>
          </a:p>
          <a:p>
            <a:pPr>
              <a:defRPr sz="1400">
                <a:solidFill>
                  <a:srgbClr val="000000"/>
                </a:solidFill>
              </a:defRPr>
            </a:pPr>
            <a:r>
              <a:t>H --&gt; M[Enhanced DoD]</a:t>
            </a:r>
          </a:p>
          <a:p>
            <a:pPr>
              <a:defRPr sz="1400">
                <a:solidFill>
                  <a:srgbClr val="000000"/>
                </a:solidFill>
              </a:defRPr>
            </a:pPr>
          </a:p>
          <a:p>
            <a:pPr>
              <a:defRPr sz="1400">
                <a:solidFill>
                  <a:srgbClr val="000000"/>
                </a:solidFill>
              </a:defRPr>
            </a:pPr>
            <a:r>
              <a:t>style A fill:#4169E1,color:#fff</a:t>
            </a:r>
          </a:p>
          <a:p>
            <a:pPr>
              <a:defRPr sz="1400">
                <a:solidFill>
                  <a:srgbClr val="000000"/>
                </a:solidFill>
              </a:defRPr>
            </a:pPr>
            <a:r>
              <a:t>style G fill:#FFD700</a:t>
            </a:r>
          </a:p>
          <a:p>
            <a:pPr>
              <a:defRPr sz="1400">
                <a:solidFill>
                  <a:srgbClr val="000000"/>
                </a:solidFill>
              </a:defRPr>
            </a:pPr>
            <a:r>
              <a:t>style H fill:#90EE90</a:t>
            </a:r>
          </a:p>
          <a:p>
            <a:pPr>
              <a:defRPr sz="1800" b="1">
                <a:solidFill>
                  <a:srgbClr val="000000"/>
                </a:solidFill>
              </a:defRPr>
            </a:pPr>
            <a:r>
              <a:t>Evaluating Vendor-to-Partnership Transformation Potential</a:t>
            </a:r>
          </a:p>
          <a:p>
            <a:pPr>
              <a:defRPr sz="1400">
                <a:solidFill>
                  <a:srgbClr val="000000"/>
                </a:solidFill>
              </a:defRPr>
            </a:pPr>
          </a:p>
          <a:p>
            <a:pPr>
              <a:defRPr sz="1800" b="1">
                <a:solidFill>
                  <a:srgbClr val="000000"/>
                </a:solidFill>
              </a:defRPr>
            </a:pPr>
            <a:r>
              <a:t>The Strategic Question: Can Spanish Point Relationship Evolve?</a:t>
            </a:r>
          </a:p>
          <a:p>
            <a:pPr>
              <a:defRPr sz="1400">
                <a:solidFill>
                  <a:srgbClr val="000000"/>
                </a:solidFill>
              </a:defRPr>
            </a:pPr>
          </a:p>
          <a:p>
            <a:pPr>
              <a:defRPr sz="1800" b="1">
                <a:solidFill>
                  <a:srgbClr val="000000"/>
                </a:solidFill>
              </a:defRPr>
            </a:pPr>
            <a:r>
              <a:t>Option B (Stay &amp; Improve) only makes sense if the relationship</a:t>
            </a:r>
          </a:p>
          <a:p>
            <a:pPr>
              <a:defRPr sz="1400">
                <a:solidFill>
                  <a:srgbClr val="000000"/>
                </a:solidFill>
              </a:defRPr>
            </a:pPr>
            <a:r>
              <a:t>can transform from transactional vendor to genuine partnership.</a:t>
            </a:r>
          </a:p>
          <a:p>
            <a:pPr>
              <a:defRPr sz="1400">
                <a:solidFill>
                  <a:srgbClr val="000000"/>
                </a:solidFill>
              </a:defRPr>
            </a:pPr>
          </a:p>
          <a:p>
            <a:pPr>
              <a:defRPr sz="1800" b="1">
                <a:solidFill>
                  <a:srgbClr val="000000"/>
                </a:solidFill>
              </a:defRPr>
            </a:pPr>
            <a:r>
              <a:t>Lean Partnership Principles - Current vs Target State:</a:t>
            </a:r>
          </a:p>
          <a:p>
            <a:pPr>
              <a:defRPr sz="1400">
                <a:solidFill>
                  <a:srgbClr val="000000"/>
                </a:solidFill>
              </a:defRPr>
            </a:pPr>
          </a:p>
          <a:p>
            <a:pPr>
              <a:defRPr sz="1400">
                <a:solidFill>
                  <a:srgbClr val="000000"/>
                </a:solidFill>
              </a:defRPr>
            </a:pPr>
            <a:r>
              <a:t>┌─────────────────────────────────────────────────────────────────┐</a:t>
            </a:r>
          </a:p>
          <a:p>
            <a:pPr>
              <a:defRPr sz="1400">
                <a:solidFill>
                  <a:srgbClr val="000000"/>
                </a:solidFill>
              </a:defRPr>
            </a:pPr>
            <a:r>
              <a:t>│ PRINCIPLE 1: Respect for People                                │</a:t>
            </a:r>
          </a:p>
          <a:p>
            <a:pPr>
              <a:defRPr sz="1400">
                <a:solidFill>
                  <a:srgbClr val="000000"/>
                </a:solidFill>
              </a:defRPr>
            </a:pPr>
            <a:r>
              <a:t>•────────────────────────────────────────────────────────────────┤</a:t>
            </a:r>
          </a:p>
          <a:p>
            <a:pPr>
              <a:defRPr sz="1400">
                <a:solidFill>
                  <a:srgbClr val="000000"/>
                </a:solidFill>
              </a:defRPr>
            </a:pPr>
            <a:r>
              <a:t>│ Current: Reactive communication, access delays (2-3 weeks)      │</a:t>
            </a:r>
          </a:p>
          <a:p>
            <a:pPr>
              <a:defRPr sz="1400">
                <a:solidFill>
                  <a:srgbClr val="000000"/>
                </a:solidFill>
              </a:defRPr>
            </a:pPr>
            <a:r>
              <a:t>│ Target:  Proactive transparency, immediate technical access     │</a:t>
            </a:r>
          </a:p>
          <a:p>
            <a:pPr>
              <a:defRPr sz="1400">
                <a:solidFill>
                  <a:srgbClr val="000000"/>
                </a:solidFill>
              </a:defRPr>
            </a:pPr>
            <a:r>
              <a:t>│ Gap:     🔴 SIGNIFICANT - May 2024 incident response was defensive│</a:t>
            </a: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r>
              <a:t>│ PRINCIPLE 2: Transparency (Genchi Genbutsu - "Go and See")     │</a:t>
            </a:r>
          </a:p>
          <a:p>
            <a:pPr>
              <a:defRPr sz="1400">
                <a:solidFill>
                  <a:srgbClr val="000000"/>
                </a:solidFill>
              </a:defRPr>
            </a:pPr>
            <a:r>
              <a:t>•────────────────────────────────────────────────────────────────┤</a:t>
            </a:r>
          </a:p>
          <a:p>
            <a:pPr>
              <a:defRPr sz="1400">
                <a:solidFill>
                  <a:srgbClr val="000000"/>
                </a:solidFill>
              </a:defRPr>
            </a:pPr>
            <a:r>
              <a:t>│ Current: Code access via zip files, no git history             │</a:t>
            </a:r>
          </a:p>
          <a:p>
            <a:pPr>
              <a:defRPr sz="1400">
                <a:solidFill>
                  <a:srgbClr val="000000"/>
                </a:solidFill>
              </a:defRPr>
            </a:pPr>
            <a:r>
              <a:t>│ Target:  Full repository visibility, real-time collaboration   │</a:t>
            </a:r>
          </a:p>
          <a:p>
            <a:pPr>
              <a:defRPr sz="1400">
                <a:solidFill>
                  <a:srgbClr val="000000"/>
                </a:solidFill>
              </a:defRPr>
            </a:pPr>
            <a:r>
              <a:t>│ Gap:     🔴 CRITICAL - Fundamental trust barrier exists         │</a:t>
            </a: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r>
              <a:t>│ PRINCIPLE 3: Kaizen (Continuous Improvement)                   │</a:t>
            </a:r>
          </a:p>
          <a:p>
            <a:pPr>
              <a:defRPr sz="1400">
                <a:solidFill>
                  <a:srgbClr val="000000"/>
                </a:solidFill>
              </a:defRPr>
            </a:pPr>
            <a:r>
              <a:t>•────────────────────────────────────────────────────────────────┤</a:t>
            </a:r>
          </a:p>
          <a:p>
            <a:pPr>
              <a:defRPr sz="1400">
                <a:solidFill>
                  <a:srgbClr val="000000"/>
                </a:solidFill>
              </a:defRPr>
            </a:pPr>
            <a:r>
              <a:t>│ Current: .NET 8 upgrade completed during audit (positive!)     │</a:t>
            </a:r>
          </a:p>
          <a:p>
            <a:pPr>
              <a:defRPr sz="1400">
                <a:solidFill>
                  <a:srgbClr val="000000"/>
                </a:solidFill>
              </a:defRPr>
            </a:pPr>
            <a:r>
              <a:t>│         CI/CD pipeline mature, good DevOps practices           │</a:t>
            </a:r>
          </a:p>
          <a:p>
            <a:pPr>
              <a:defRPr sz="1400">
                <a:solidFill>
                  <a:srgbClr val="000000"/>
                </a:solidFill>
              </a:defRPr>
            </a:pPr>
            <a:r>
              <a:t>│ Target:  Proactive technical debt roadmap, shared planning     │</a:t>
            </a:r>
          </a:p>
          <a:p>
            <a:pPr>
              <a:defRPr sz="1400">
                <a:solidFill>
                  <a:srgbClr val="000000"/>
                </a:solidFill>
              </a:defRPr>
            </a:pPr>
            <a:r>
              <a:t>│ Gap:     🟡 MODERATE - Technical capability exists, need process│</a:t>
            </a: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r>
              <a:t>│ PRINCIPLE 4: Long-term Thinking vs. Short-term Profit          │</a:t>
            </a:r>
          </a:p>
          <a:p>
            <a:pPr>
              <a:defRPr sz="1400">
                <a:solidFill>
                  <a:srgbClr val="000000"/>
                </a:solidFill>
              </a:defRPr>
            </a:pPr>
            <a:r>
              <a:t>•────────────────────────────────────────────────────────────────┤</a:t>
            </a:r>
          </a:p>
          <a:p>
            <a:pPr>
              <a:defRPr sz="1400">
                <a:solidFill>
                  <a:srgbClr val="000000"/>
                </a:solidFill>
              </a:defRPr>
            </a:pPr>
            <a:r>
              <a:t>│ Current: Matching Engine bundling, Smart AIM template lock-in    │</a:t>
            </a:r>
          </a:p>
          <a:p>
            <a:pPr>
              <a:defRPr sz="1400">
                <a:solidFill>
                  <a:srgbClr val="000000"/>
                </a:solidFill>
              </a:defRPr>
            </a:pPr>
            <a:r>
              <a:t>│ Target:  Shared success metrics, investment in CISAC autonomy  │</a:t>
            </a:r>
          </a:p>
          <a:p>
            <a:pPr>
              <a:defRPr sz="1400">
                <a:solidFill>
                  <a:srgbClr val="000000"/>
                </a:solidFill>
              </a:defRPr>
            </a:pPr>
            <a:r>
              <a:t>│ Gap:     🔴 SIGNIFICANT - Economic model favors dependence      │</a:t>
            </a: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r>
              <a:t>│ PRINCIPLE 5: Shared Problem-Solving (not blame)                │</a:t>
            </a:r>
          </a:p>
          <a:p>
            <a:pPr>
              <a:defRPr sz="1400">
                <a:solidFill>
                  <a:srgbClr val="000000"/>
                </a:solidFill>
              </a:defRPr>
            </a:pPr>
            <a:r>
              <a:t>•────────────────────────────────────────────────────────────────┤</a:t>
            </a:r>
          </a:p>
          <a:p>
            <a:pPr>
              <a:defRPr sz="1400">
                <a:solidFill>
                  <a:srgbClr val="000000"/>
                </a:solidFill>
              </a:defRPr>
            </a:pPr>
            <a:r>
              <a:t>│ Current: May 2024 incident response was defensive              │</a:t>
            </a:r>
          </a:p>
          <a:p>
            <a:pPr>
              <a:defRPr sz="1400">
                <a:solidFill>
                  <a:srgbClr val="000000"/>
                </a:solidFill>
              </a:defRPr>
            </a:pPr>
            <a:r>
              <a:t>│ Target:  Joint root cause analysis, shared accountability      │</a:t>
            </a:r>
          </a:p>
          <a:p>
            <a:pPr>
              <a:defRPr sz="1400">
                <a:solidFill>
                  <a:srgbClr val="000000"/>
                </a:solidFill>
              </a:defRPr>
            </a:pPr>
            <a:r>
              <a:t>│ Gap:     🔴 CRITICAL - Partnership requires mutual trust        │</a:t>
            </a: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r>
              <a:t>│ PRINCIPLE 6: Pull vs. Push (empower client, don't control)     │</a:t>
            </a:r>
          </a:p>
          <a:p>
            <a:pPr>
              <a:defRPr sz="1400">
                <a:solidFill>
                  <a:srgbClr val="000000"/>
                </a:solidFill>
              </a:defRPr>
            </a:pPr>
            <a:r>
              <a:t>•────────────────────────────────────────────────────────────────┤</a:t>
            </a:r>
          </a:p>
          <a:p>
            <a:pPr>
              <a:defRPr sz="1400">
                <a:solidFill>
                  <a:srgbClr val="000000"/>
                </a:solidFill>
              </a:defRPr>
            </a:pPr>
            <a:r>
              <a:t>│ Current: CISAC must request access, wait for approval          │</a:t>
            </a:r>
          </a:p>
          <a:p>
            <a:pPr>
              <a:defRPr sz="1400">
                <a:solidFill>
                  <a:srgbClr val="000000"/>
                </a:solidFill>
              </a:defRPr>
            </a:pPr>
            <a:r>
              <a:t>│ Target:  CISAC has autonomy, Spanish Point provides support    │</a:t>
            </a:r>
          </a:p>
          <a:p>
            <a:pPr>
              <a:defRPr sz="1400">
                <a:solidFill>
                  <a:srgbClr val="000000"/>
                </a:solidFill>
              </a:defRPr>
            </a:pPr>
            <a:r>
              <a:t>│ Gap:     🔴 SIGNIFICANT - Control dynamics need reversal        │</a:t>
            </a: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r>
              <a:t>│ PRINCIPLE 7: Built-in Quality (Jidoka - stop and fix)          │</a:t>
            </a:r>
          </a:p>
          <a:p>
            <a:pPr>
              <a:defRPr sz="1400">
                <a:solidFill>
                  <a:srgbClr val="000000"/>
                </a:solidFill>
              </a:defRPr>
            </a:pPr>
            <a:r>
              <a:t>•────────────────────────────────────────────────────────────────┤</a:t>
            </a:r>
          </a:p>
          <a:p>
            <a:pPr>
              <a:defRPr sz="1400">
                <a:solidFill>
                  <a:srgbClr val="000000"/>
                </a:solidFill>
              </a:defRPr>
            </a:pPr>
            <a:r>
              <a:t>│ Current: Pipeline test runner blocked since Nov 4 upgrade      │</a:t>
            </a:r>
          </a:p>
          <a:p>
            <a:pPr>
              <a:defRPr sz="1400">
                <a:solidFill>
                  <a:srgbClr val="000000"/>
                </a:solidFill>
              </a:defRPr>
            </a:pPr>
            <a:r>
              <a:t>│ Target:  Immediate escalation, shared quality ownership        │</a:t>
            </a:r>
          </a:p>
          <a:p>
            <a:pPr>
              <a:defRPr sz="1400">
                <a:solidFill>
                  <a:srgbClr val="000000"/>
                </a:solidFill>
              </a:defRPr>
            </a:pPr>
            <a:r>
              <a:t>│ Gap:     🟡 MODERATE - Process exists, execution inconsistent   │</a:t>
            </a:r>
          </a:p>
          <a:p>
            <a:pPr>
              <a:defRPr sz="1400">
                <a:solidFill>
                  <a:srgbClr val="000000"/>
                </a:solidFill>
              </a:defRPr>
            </a:pPr>
            <a:r>
              <a:t>•────────────────────────────────────────────────────────────────┘</a:t>
            </a:r>
          </a:p>
          <a:p>
            <a:pPr>
              <a:defRPr sz="1400">
                <a:solidFill>
                  <a:srgbClr val="000000"/>
                </a:solidFill>
              </a:defRPr>
            </a:pPr>
          </a:p>
          <a:p>
            <a:pPr>
              <a:defRPr sz="1800" b="1">
                <a:solidFill>
                  <a:srgbClr val="000000"/>
                </a:solidFill>
              </a:defRPr>
            </a:pPr>
            <a:r>
              <a:t>Partnership Maturity Assessment:</a:t>
            </a:r>
          </a:p>
          <a:p>
            <a:pPr>
              <a:defRPr sz="1400">
                <a:solidFill>
                  <a:srgbClr val="000000"/>
                </a:solidFill>
              </a:defRPr>
            </a:pPr>
            <a:r>
              <a:t>━━━━━━━━━━━━━━━━━━━━━━━━━━━━━━━━━━━━━━━━━━━━━━━━━━━━━━━━━━━━━━━━</a:t>
            </a:r>
          </a:p>
          <a:p>
            <a:pPr>
              <a:defRPr sz="1800" b="1">
                <a:solidFill>
                  <a:srgbClr val="000000"/>
                </a:solidFill>
              </a:defRPr>
            </a:pPr>
            <a:r>
              <a:t>Current State: ~30% Partnership Maturity</a:t>
            </a:r>
          </a:p>
          <a:p>
            <a:pPr>
              <a:defRPr sz="1400">
                <a:solidFill>
                  <a:srgbClr val="000000"/>
                </a:solidFill>
              </a:defRPr>
            </a:pPr>
            <a:r>
              <a:t>━━━━━━━━━━━━━━━━━━━━━━━━━━━━━━━━━━━━━━━━━━━━━━━━━━━━━━━━━━━━━━━━</a:t>
            </a:r>
          </a:p>
          <a:p>
            <a:pPr>
              <a:defRPr sz="1400">
                <a:solidFill>
                  <a:srgbClr val="000000"/>
                </a:solidFill>
              </a:defRPr>
            </a:pPr>
          </a:p>
          <a:p>
            <a:pPr>
              <a:defRPr sz="1800" b="1">
                <a:solidFill>
                  <a:srgbClr val="000000"/>
                </a:solidFill>
              </a:defRPr>
            </a:pPr>
            <a:r>
              <a:t>Strengths:</a:t>
            </a:r>
          </a:p>
          <a:p>
            <a:pPr>
              <a:defRPr sz="1600">
                <a:solidFill>
                  <a:srgbClr val="228B22"/>
                </a:solidFill>
              </a:defRPr>
            </a:pPr>
            <a:r>
              <a:t>✓ Technical capability (DevOps, .NET 8 upgrade)</a:t>
            </a:r>
          </a:p>
          <a:p>
            <a:pPr>
              <a:defRPr sz="1600">
                <a:solidFill>
                  <a:srgbClr val="228B22"/>
                </a:solidFill>
              </a:defRPr>
            </a:pPr>
            <a:r>
              <a:t>✓ Continuous improvement mindset (Kaizen present)</a:t>
            </a:r>
          </a:p>
          <a:p>
            <a:pPr>
              <a:defRPr sz="1600">
                <a:solidFill>
                  <a:srgbClr val="228B22"/>
                </a:solidFill>
              </a:defRPr>
            </a:pPr>
            <a:r>
              <a:t>✓ Quality infrastructure (CI/CD, testing)</a:t>
            </a:r>
          </a:p>
          <a:p>
            <a:pPr>
              <a:defRPr sz="1400">
                <a:solidFill>
                  <a:srgbClr val="000000"/>
                </a:solidFill>
              </a:defRPr>
            </a:pPr>
          </a:p>
          <a:p>
            <a:pPr>
              <a:defRPr sz="1800" b="1">
                <a:solidFill>
                  <a:srgbClr val="000000"/>
                </a:solidFill>
              </a:defRPr>
            </a:pPr>
            <a:r>
              <a:t>Critical Gaps:</a:t>
            </a:r>
          </a:p>
          <a:p>
            <a:pPr>
              <a:defRPr sz="1400">
                <a:solidFill>
                  <a:srgbClr val="000000"/>
                </a:solidFill>
              </a:defRPr>
            </a:pPr>
            <a:r>
              <a:t>✗ Transparency barriers (no git access, access delays)</a:t>
            </a:r>
          </a:p>
          <a:p>
            <a:pPr>
              <a:defRPr sz="1400">
                <a:solidFill>
                  <a:srgbClr val="000000"/>
                </a:solidFill>
              </a:defRPr>
            </a:pPr>
            <a:r>
              <a:t>✗ Trust deficit (defensive incident response)</a:t>
            </a:r>
          </a:p>
          <a:p>
            <a:pPr>
              <a:defRPr sz="1400">
                <a:solidFill>
                  <a:srgbClr val="000000"/>
                </a:solidFill>
              </a:defRPr>
            </a:pPr>
            <a:r>
              <a:t>✗ Economic model misalignment (profit from lock-in)</a:t>
            </a:r>
          </a:p>
          <a:p>
            <a:pPr>
              <a:defRPr sz="1400">
                <a:solidFill>
                  <a:srgbClr val="000000"/>
                </a:solidFill>
              </a:defRPr>
            </a:pPr>
            <a:r>
              <a:t>✗ Control dynamics (push model, not pull)</a:t>
            </a:r>
          </a:p>
          <a:p>
            <a:pPr>
              <a:defRPr sz="1400">
                <a:solidFill>
                  <a:srgbClr val="000000"/>
                </a:solidFill>
              </a:defRPr>
            </a:pPr>
          </a:p>
          <a:p>
            <a:pPr>
              <a:defRPr sz="1800" b="1">
                <a:solidFill>
                  <a:srgbClr val="000000"/>
                </a:solidFill>
              </a:defRPr>
            </a:pPr>
            <a:r>
              <a:t>The Test: Contract Negotiation as Partnership Diagnostic</a:t>
            </a:r>
          </a:p>
          <a:p>
            <a:pPr>
              <a:defRPr sz="1400">
                <a:solidFill>
                  <a:srgbClr val="000000"/>
                </a:solidFill>
              </a:defRPr>
            </a:pPr>
            <a:r>
              <a:t>════════════════════════════════════════════════════════════════</a:t>
            </a:r>
          </a:p>
          <a:p>
            <a:pPr>
              <a:defRPr sz="1400">
                <a:solidFill>
                  <a:srgbClr val="000000"/>
                </a:solidFill>
              </a:defRPr>
            </a:pPr>
          </a:p>
          <a:p>
            <a:pPr>
              <a:defRPr sz="1800" b="1">
                <a:solidFill>
                  <a:srgbClr val="000000"/>
                </a:solidFill>
              </a:defRPr>
            </a:pPr>
            <a:r>
              <a:t>Phase 1 Strategy tests BOTH technical feasibility AND relationship</a:t>
            </a:r>
          </a:p>
          <a:p>
            <a:pPr>
              <a:defRPr sz="1400">
                <a:solidFill>
                  <a:srgbClr val="000000"/>
                </a:solidFill>
              </a:defRPr>
            </a:pPr>
            <a:r>
              <a:t>transformation potential simultaneously:</a:t>
            </a:r>
          </a:p>
          <a:p>
            <a:pPr>
              <a:defRPr sz="1400">
                <a:solidFill>
                  <a:srgbClr val="000000"/>
                </a:solidFill>
              </a:defRPr>
            </a:pPr>
          </a:p>
          <a:p>
            <a:pPr>
              <a:defRPr sz="1800" b="1">
                <a:solidFill>
                  <a:srgbClr val="000000"/>
                </a:solidFill>
              </a:defRPr>
            </a:pPr>
            <a:r>
              <a:t>Pilot Feature Test (Dec 2025 - Feb 2026):</a:t>
            </a:r>
          </a:p>
          <a:p>
            <a:pPr>
              <a:defRPr sz="1400">
                <a:solidFill>
                  <a:srgbClr val="000000"/>
                </a:solidFill>
              </a:defRPr>
            </a:pPr>
            <a:r>
              <a:t>➜ Tests: Can independent vendor deliver with available materials?</a:t>
            </a:r>
          </a:p>
          <a:p>
            <a:pPr>
              <a:defRPr sz="1400">
                <a:solidFill>
                  <a:srgbClr val="000000"/>
                </a:solidFill>
              </a:defRPr>
            </a:pPr>
            <a:r>
              <a:t>➜ Reveals: Knowledge transfer viability</a:t>
            </a:r>
          </a:p>
          <a:p>
            <a:pPr>
              <a:defRPr sz="1400">
                <a:solidFill>
                  <a:srgbClr val="000000"/>
                </a:solidFill>
              </a:defRPr>
            </a:pPr>
          </a:p>
          <a:p>
            <a:pPr>
              <a:defRPr sz="1800" b="1">
                <a:solidFill>
                  <a:srgbClr val="000000"/>
                </a:solidFill>
              </a:defRPr>
            </a:pPr>
            <a:r>
              <a:t>Contract Renegotiation (Same Period):</a:t>
            </a:r>
          </a:p>
          <a:p>
            <a:pPr>
              <a:defRPr sz="1400">
                <a:solidFill>
                  <a:srgbClr val="000000"/>
                </a:solidFill>
              </a:defRPr>
            </a:pPr>
            <a:r>
              <a:t>➜ Tests: Will Spanish Point embrace transparency?</a:t>
            </a:r>
          </a:p>
          <a:p>
            <a:pPr>
              <a:defRPr sz="1400">
                <a:solidFill>
                  <a:srgbClr val="000000"/>
                </a:solidFill>
              </a:defRPr>
            </a:pPr>
            <a:r>
              <a:t>➜ Reveals: Partnership transformation willingness</a:t>
            </a:r>
          </a:p>
          <a:p>
            <a:pPr>
              <a:defRPr sz="1400">
                <a:solidFill>
                  <a:srgbClr val="000000"/>
                </a:solidFill>
              </a:defRPr>
            </a:pPr>
          </a:p>
          <a:p>
            <a:pPr>
              <a:defRPr sz="1800" b="1">
                <a:solidFill>
                  <a:srgbClr val="000000"/>
                </a:solidFill>
              </a:defRPr>
            </a:pPr>
            <a:r>
              <a:t>Five Partnership Test Questions for Negotiation:</a:t>
            </a:r>
          </a:p>
          <a:p>
            <a:pPr>
              <a:defRPr sz="1400">
                <a:solidFill>
                  <a:srgbClr val="000000"/>
                </a:solidFill>
              </a:defRPr>
            </a:pPr>
          </a:p>
          <a:p>
            <a:pPr>
              <a:defRPr sz="1400">
                <a:solidFill>
                  <a:srgbClr val="000000"/>
                </a:solidFill>
              </a:defRPr>
            </a:pPr>
            <a:r>
              <a:t>1. "Will you provide full git repository access (not just zip exports)?"</a:t>
            </a:r>
          </a:p>
          <a:p>
            <a:pPr>
              <a:defRPr sz="1400">
                <a:solidFill>
                  <a:srgbClr val="000000"/>
                </a:solidFill>
              </a:defRPr>
            </a:pPr>
            <a:r>
              <a:t>Partnership Response: "Yes, let's set up Azure DevOps read access"</a:t>
            </a:r>
          </a:p>
          <a:p>
            <a:pPr>
              <a:defRPr sz="1400">
                <a:solidFill>
                  <a:srgbClr val="000000"/>
                </a:solidFill>
              </a:defRPr>
            </a:pPr>
            <a:r>
              <a:t>Vendor Response:      "That's proprietary, we can't risk IP exposure"</a:t>
            </a:r>
          </a:p>
          <a:p>
            <a:pPr>
              <a:defRPr sz="1400">
                <a:solidFill>
                  <a:srgbClr val="000000"/>
                </a:solidFill>
              </a:defRPr>
            </a:pPr>
          </a:p>
          <a:p>
            <a:pPr>
              <a:defRPr sz="1400">
                <a:solidFill>
                  <a:srgbClr val="000000"/>
                </a:solidFill>
              </a:defRPr>
            </a:pPr>
            <a:r>
              <a:t>2. "Can we establish joint monthly cost review meetings with full data?"</a:t>
            </a:r>
          </a:p>
          <a:p>
            <a:pPr>
              <a:defRPr sz="1400">
                <a:solidFill>
                  <a:srgbClr val="000000"/>
                </a:solidFill>
              </a:defRPr>
            </a:pPr>
            <a:r>
              <a:t>Partnership Response: "Yes, let's build correlation tooling together"</a:t>
            </a:r>
          </a:p>
          <a:p>
            <a:pPr>
              <a:defRPr sz="1400">
                <a:solidFill>
                  <a:srgbClr val="000000"/>
                </a:solidFill>
              </a:defRPr>
            </a:pPr>
            <a:r>
              <a:t>Vendor Response:      "Cost management is our responsibility, trust us"</a:t>
            </a:r>
          </a:p>
          <a:p>
            <a:pPr>
              <a:defRPr sz="1400">
                <a:solidFill>
                  <a:srgbClr val="000000"/>
                </a:solidFill>
              </a:defRPr>
            </a:pPr>
          </a:p>
          <a:p>
            <a:pPr>
              <a:defRPr sz="1400">
                <a:solidFill>
                  <a:srgbClr val="000000"/>
                </a:solidFill>
              </a:defRPr>
            </a:pPr>
            <a:r>
              <a:t>3. "Will you commit to enhanced Definition of Done (ADR, documentation)?"</a:t>
            </a:r>
          </a:p>
          <a:p>
            <a:pPr>
              <a:defRPr sz="1400">
                <a:solidFill>
                  <a:srgbClr val="000000"/>
                </a:solidFill>
              </a:defRPr>
            </a:pPr>
            <a:r>
              <a:t>Partnership Response: "Yes, let's co-create quality standards"</a:t>
            </a:r>
          </a:p>
          <a:p>
            <a:pPr>
              <a:defRPr sz="1400">
                <a:solidFill>
                  <a:srgbClr val="000000"/>
                </a:solidFill>
              </a:defRPr>
            </a:pPr>
            <a:r>
              <a:t>Vendor Response:      "That adds cost, current quality is sufficient"</a:t>
            </a:r>
          </a:p>
          <a:p>
            <a:pPr>
              <a:defRPr sz="1400">
                <a:solidFill>
                  <a:srgbClr val="000000"/>
                </a:solidFill>
              </a:defRPr>
            </a:pPr>
          </a:p>
          <a:p>
            <a:pPr>
              <a:defRPr sz="1400">
                <a:solidFill>
                  <a:srgbClr val="000000"/>
                </a:solidFill>
              </a:defRPr>
            </a:pPr>
            <a:r>
              <a:t>4. "Can we do joint root cause analysis of May 2024 incident?"</a:t>
            </a:r>
          </a:p>
          <a:p>
            <a:pPr>
              <a:defRPr sz="1400">
                <a:solidFill>
                  <a:srgbClr val="000000"/>
                </a:solidFill>
              </a:defRPr>
            </a:pPr>
            <a:r>
              <a:t>Partnership Response: "Yes, let's learn together and improve"</a:t>
            </a:r>
          </a:p>
          <a:p>
            <a:pPr>
              <a:defRPr sz="1400">
                <a:solidFill>
                  <a:srgbClr val="000000"/>
                </a:solidFill>
              </a:defRPr>
            </a:pPr>
            <a:r>
              <a:t>Vendor Response:      "That's in the past, we've already addressed it"</a:t>
            </a:r>
          </a:p>
          <a:p>
            <a:pPr>
              <a:defRPr sz="1400">
                <a:solidFill>
                  <a:srgbClr val="000000"/>
                </a:solidFill>
              </a:defRPr>
            </a:pPr>
          </a:p>
          <a:p>
            <a:pPr>
              <a:defRPr sz="1400">
                <a:solidFill>
                  <a:srgbClr val="000000"/>
                </a:solidFill>
              </a:defRPr>
            </a:pPr>
            <a:r>
              <a:t>5. "Will you support CISAC's goal of eventual vendor independence?"</a:t>
            </a:r>
          </a:p>
          <a:p>
            <a:pPr>
              <a:defRPr sz="1400">
                <a:solidFill>
                  <a:srgbClr val="000000"/>
                </a:solidFill>
              </a:defRPr>
            </a:pPr>
            <a:r>
              <a:t>Partnership Response: "Yes, our value is expertise, not lock-in"</a:t>
            </a:r>
          </a:p>
          <a:p>
            <a:pPr>
              <a:defRPr sz="1400">
                <a:solidFill>
                  <a:srgbClr val="000000"/>
                </a:solidFill>
              </a:defRPr>
            </a:pPr>
            <a:r>
              <a:t>Vendor Response:      "That would undermine our business model"</a:t>
            </a:r>
          </a:p>
          <a:p>
            <a:pPr>
              <a:defRPr sz="1400">
                <a:solidFill>
                  <a:srgbClr val="000000"/>
                </a:solidFill>
              </a:defRPr>
            </a:pPr>
          </a:p>
          <a:p>
            <a:pPr>
              <a:defRPr sz="1800" b="1">
                <a:solidFill>
                  <a:srgbClr val="000000"/>
                </a:solidFill>
              </a:defRPr>
            </a:pPr>
            <a:r>
              <a:t>Decision Framework:</a:t>
            </a:r>
          </a:p>
          <a:p>
            <a:pPr>
              <a:defRPr sz="1400">
                <a:solidFill>
                  <a:srgbClr val="000000"/>
                </a:solidFill>
              </a:defRPr>
            </a:pPr>
            <a:r>
              <a:t>━━━━━━━━━━━━━━━━━━━━━━━━━━━━━━━━━━━━━━━━━━━━━━━━━━━━━━━━━━━━━━━━</a:t>
            </a:r>
          </a:p>
          <a:p>
            <a:pPr>
              <a:defRPr sz="1400">
                <a:solidFill>
                  <a:srgbClr val="000000"/>
                </a:solidFill>
              </a:defRPr>
            </a:pPr>
          </a:p>
          <a:p>
            <a:pPr>
              <a:defRPr sz="1800" b="1">
                <a:solidFill>
                  <a:srgbClr val="000000"/>
                </a:solidFill>
              </a:defRPr>
            </a:pPr>
            <a:r>
              <a:t>IF Pilot succeeds (knowledge transfer viable)</a:t>
            </a:r>
          </a:p>
          <a:p>
            <a:pPr>
              <a:defRPr sz="1400">
                <a:solidFill>
                  <a:srgbClr val="000000"/>
                </a:solidFill>
              </a:defRPr>
            </a:pPr>
            <a:r>
              <a:t>AND Negotiation succeeds (partnership responses)</a:t>
            </a:r>
          </a:p>
          <a:p>
            <a:pPr>
              <a:defRPr sz="1400">
                <a:solidFill>
                  <a:srgbClr val="000000"/>
                </a:solidFill>
              </a:defRPr>
            </a:pPr>
            <a:r>
              <a:t>➜ Option B viable: Stay &amp; Improve with confidence</a:t>
            </a:r>
          </a:p>
          <a:p>
            <a:pPr>
              <a:defRPr sz="1400">
                <a:solidFill>
                  <a:srgbClr val="000000"/>
                </a:solidFill>
              </a:defRPr>
            </a:pPr>
          </a:p>
          <a:p>
            <a:pPr>
              <a:defRPr sz="1800" b="1">
                <a:solidFill>
                  <a:srgbClr val="000000"/>
                </a:solidFill>
              </a:defRPr>
            </a:pPr>
            <a:r>
              <a:t>IF Pilot succeeds BUT Negotiation fails (vendor responses)</a:t>
            </a:r>
          </a:p>
          <a:p>
            <a:pPr>
              <a:defRPr sz="1400">
                <a:solidFill>
                  <a:srgbClr val="000000"/>
                </a:solidFill>
              </a:defRPr>
            </a:pPr>
            <a:r>
              <a:t>➜ Option A necessary: Switch is feasible AND needed</a:t>
            </a:r>
          </a:p>
          <a:p>
            <a:pPr>
              <a:defRPr sz="1400">
                <a:solidFill>
                  <a:srgbClr val="000000"/>
                </a:solidFill>
              </a:defRPr>
            </a:pPr>
          </a:p>
          <a:p>
            <a:pPr>
              <a:defRPr sz="1800" b="1">
                <a:solidFill>
                  <a:srgbClr val="000000"/>
                </a:solidFill>
              </a:defRPr>
            </a:pPr>
            <a:r>
              <a:t>IF Pilot fails (knowledge transfer not viable)</a:t>
            </a:r>
          </a:p>
          <a:p>
            <a:pPr>
              <a:defRPr sz="1400">
                <a:solidFill>
                  <a:srgbClr val="000000"/>
                </a:solidFill>
              </a:defRPr>
            </a:pPr>
            <a:r>
              <a:t>➜ Option A blocked: Must negotiate better OR accept status quo</a:t>
            </a:r>
          </a:p>
          <a:p>
            <a:pPr>
              <a:defRPr sz="1400">
                <a:solidFill>
                  <a:srgbClr val="000000"/>
                </a:solidFill>
              </a:defRPr>
            </a:pPr>
          </a:p>
          <a:p>
            <a:pPr>
              <a:defRPr sz="1800" b="1">
                <a:solidFill>
                  <a:srgbClr val="000000"/>
                </a:solidFill>
              </a:defRPr>
            </a:pPr>
            <a:r>
              <a:t>IF Pilot inconclusive</a:t>
            </a:r>
          </a:p>
          <a:p>
            <a:pPr>
              <a:defRPr sz="1400">
                <a:solidFill>
                  <a:srgbClr val="000000"/>
                </a:solidFill>
              </a:defRPr>
            </a:pPr>
            <a:r>
              <a:t>➜ Extend test period, try more complex feature</a:t>
            </a:r>
          </a:p>
          <a:p>
            <a:pPr>
              <a:defRPr sz="1400">
                <a:solidFill>
                  <a:srgbClr val="000000"/>
                </a:solidFill>
              </a:defRPr>
            </a:pPr>
          </a:p>
          <a:p>
            <a:pPr>
              <a:defRPr sz="1800" b="1">
                <a:solidFill>
                  <a:srgbClr val="000000"/>
                </a:solidFill>
              </a:defRPr>
            </a:pPr>
            <a:r>
              <a:t>The Value: This framework gives CISAC clarity on whether</a:t>
            </a:r>
          </a:p>
          <a:p>
            <a:pPr>
              <a:defRPr sz="1800" b="1">
                <a:solidFill>
                  <a:srgbClr val="000000"/>
                </a:solidFill>
              </a:defRPr>
            </a:pPr>
            <a:r>
              <a:t>Spanish Point can be a long-term strategic partner vs.</a:t>
            </a:r>
          </a:p>
          <a:p>
            <a:pPr>
              <a:defRPr sz="1400">
                <a:solidFill>
                  <a:srgbClr val="000000"/>
                </a:solidFill>
              </a:defRPr>
            </a:pPr>
            <a:r>
              <a:t>a tactical vendor to be eventually replaced.</a:t>
            </a:r>
          </a:p>
          <a:p>
            <a:pPr>
              <a:defRPr sz="1400">
                <a:solidFill>
                  <a:srgbClr val="000000"/>
                </a:solidFill>
              </a:defRPr>
            </a:pPr>
            <a:r>
              <a:t>graph TD</a:t>
            </a:r>
          </a:p>
          <a:p>
            <a:pPr>
              <a:defRPr sz="1400">
                <a:solidFill>
                  <a:srgbClr val="000000"/>
                </a:solidFill>
              </a:defRPr>
            </a:pPr>
            <a:r>
              <a:t>A[Partnership Assessment] --&gt; B{Pilot Test&lt;br/&gt;Knowledge Transfer}</a:t>
            </a:r>
          </a:p>
          <a:p>
            <a:pPr>
              <a:defRPr sz="1400">
                <a:solidFill>
                  <a:srgbClr val="000000"/>
                </a:solidFill>
              </a:defRPr>
            </a:pPr>
            <a:r>
              <a:t>A --&gt; C{Contract Negotiation&lt;br/&gt;Transparency Test}</a:t>
            </a:r>
          </a:p>
          <a:p>
            <a:pPr>
              <a:defRPr sz="1400">
                <a:solidFill>
                  <a:srgbClr val="000000"/>
                </a:solidFill>
              </a:defRPr>
            </a:pPr>
          </a:p>
          <a:p>
            <a:pPr>
              <a:defRPr sz="1400">
                <a:solidFill>
                  <a:srgbClr val="000000"/>
                </a:solidFill>
              </a:defRPr>
            </a:pPr>
            <a:r>
              <a:t>B --&gt;|Success| D[Technical Feasibility:&lt;br/&gt;CONFIRMED]</a:t>
            </a:r>
          </a:p>
          <a:p>
            <a:pPr>
              <a:defRPr sz="1400">
                <a:solidFill>
                  <a:srgbClr val="000000"/>
                </a:solidFill>
              </a:defRPr>
            </a:pPr>
            <a:r>
              <a:t>B --&gt;|Failure| E[Technical Feasibility:&lt;br/&gt;BLOCKED]</a:t>
            </a:r>
          </a:p>
          <a:p>
            <a:pPr>
              <a:defRPr sz="1400">
                <a:solidFill>
                  <a:srgbClr val="000000"/>
                </a:solidFill>
              </a:defRPr>
            </a:pPr>
          </a:p>
          <a:p>
            <a:pPr>
              <a:defRPr sz="1400">
                <a:solidFill>
                  <a:srgbClr val="000000"/>
                </a:solidFill>
              </a:defRPr>
            </a:pPr>
            <a:r>
              <a:t>C --&gt;|Partnership Responses| F[Relationship Transformation:&lt;br/&gt;POSSIBLE]</a:t>
            </a:r>
          </a:p>
          <a:p>
            <a:pPr>
              <a:defRPr sz="1400">
                <a:solidFill>
                  <a:srgbClr val="000000"/>
                </a:solidFill>
              </a:defRPr>
            </a:pPr>
            <a:r>
              <a:t>C --&gt;|Vendor Responses| G[Relationship Transformation:&lt;br/&gt;NOT VIABLE]</a:t>
            </a:r>
          </a:p>
          <a:p>
            <a:pPr>
              <a:defRPr sz="1400">
                <a:solidFill>
                  <a:srgbClr val="000000"/>
                </a:solidFill>
              </a:defRPr>
            </a:pPr>
          </a:p>
          <a:p>
            <a:pPr>
              <a:defRPr sz="1400">
                <a:solidFill>
                  <a:srgbClr val="000000"/>
                </a:solidFill>
              </a:defRPr>
            </a:pPr>
            <a:r>
              <a:t>D --&gt; H{Combined Assessment}</a:t>
            </a:r>
          </a:p>
          <a:p>
            <a:pPr>
              <a:defRPr sz="1400">
                <a:solidFill>
                  <a:srgbClr val="000000"/>
                </a:solidFill>
              </a:defRPr>
            </a:pPr>
            <a:r>
              <a:t>E --&gt; H</a:t>
            </a:r>
          </a:p>
          <a:p>
            <a:pPr>
              <a:defRPr sz="1400">
                <a:solidFill>
                  <a:srgbClr val="000000"/>
                </a:solidFill>
              </a:defRPr>
            </a:pPr>
            <a:r>
              <a:t>F --&gt; H</a:t>
            </a:r>
          </a:p>
          <a:p>
            <a:pPr>
              <a:defRPr sz="1400">
                <a:solidFill>
                  <a:srgbClr val="000000"/>
                </a:solidFill>
              </a:defRPr>
            </a:pPr>
            <a:r>
              <a:t>G --&gt; H</a:t>
            </a:r>
          </a:p>
          <a:p>
            <a:pPr>
              <a:defRPr sz="1400">
                <a:solidFill>
                  <a:srgbClr val="000000"/>
                </a:solidFill>
              </a:defRPr>
            </a:pPr>
          </a:p>
          <a:p>
            <a:pPr>
              <a:defRPr sz="1400">
                <a:solidFill>
                  <a:srgbClr val="000000"/>
                </a:solidFill>
              </a:defRPr>
            </a:pPr>
            <a:r>
              <a:t>H --&gt;|Feasible + Partnership| I[Option B:&lt;br/&gt;Stay &amp; Improve&lt;br/&gt;with Confidence]</a:t>
            </a:r>
          </a:p>
          <a:p>
            <a:pPr>
              <a:defRPr sz="1400">
                <a:solidFill>
                  <a:srgbClr val="000000"/>
                </a:solidFill>
              </a:defRPr>
            </a:pPr>
            <a:r>
              <a:t>H --&gt;|Feasible + Not Partnership| J[Option A:&lt;br/&gt;Switch is Both&lt;br/&gt;Feasible &amp; Needed]</a:t>
            </a:r>
          </a:p>
          <a:p>
            <a:pPr>
              <a:defRPr sz="1400">
                <a:solidFill>
                  <a:srgbClr val="000000"/>
                </a:solidFill>
              </a:defRPr>
            </a:pPr>
            <a:r>
              <a:t>H --&gt;|Not Feasible + Partnership| K[Negotiate Better Terms&lt;br/&gt;or Accept Status Quo]</a:t>
            </a:r>
          </a:p>
          <a:p>
            <a:pPr>
              <a:defRPr sz="1400">
                <a:solidFill>
                  <a:srgbClr val="000000"/>
                </a:solidFill>
              </a:defRPr>
            </a:pPr>
            <a:r>
              <a:t>H --&gt;|Not Feasible + Not Partnership| L[HIGHEST RISK:&lt;br/&gt;Locked-in with&lt;br/&gt;Transactional Vendor]</a:t>
            </a:r>
          </a:p>
          <a:p>
            <a:pPr>
              <a:defRPr sz="1400">
                <a:solidFill>
                  <a:srgbClr val="000000"/>
                </a:solidFill>
              </a:defRPr>
            </a:pPr>
          </a:p>
          <a:p>
            <a:pPr>
              <a:defRPr sz="1400">
                <a:solidFill>
                  <a:srgbClr val="000000"/>
                </a:solidFill>
              </a:defRPr>
            </a:pPr>
            <a:r>
              <a:t>style I fill:#90EE90</a:t>
            </a:r>
          </a:p>
          <a:p>
            <a:pPr>
              <a:defRPr sz="1400">
                <a:solidFill>
                  <a:srgbClr val="000000"/>
                </a:solidFill>
              </a:defRPr>
            </a:pPr>
            <a:r>
              <a:t>style J fill:#FFD700</a:t>
            </a:r>
          </a:p>
          <a:p>
            <a:pPr>
              <a:defRPr sz="1400">
                <a:solidFill>
                  <a:srgbClr val="000000"/>
                </a:solidFill>
              </a:defRPr>
            </a:pPr>
            <a:r>
              <a:t>style K fill:#FFA500</a:t>
            </a:r>
          </a:p>
          <a:p>
            <a:pPr>
              <a:defRPr sz="1400">
                <a:solidFill>
                  <a:srgbClr val="000000"/>
                </a:solidFill>
              </a:defRPr>
            </a:pPr>
            <a:r>
              <a:t>style L fill:#FF6B6B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Technical Quick Wins - Immediate Improvements</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Technical Quick Wins (Independent of Strategic Vendor Decision)</a:t>
            </a:r>
          </a:p>
          <a:p>
            <a:pPr>
              <a:defRPr sz="1400">
                <a:solidFill>
                  <a:srgbClr val="000000"/>
                </a:solidFill>
              </a:defRPr>
            </a:pPr>
          </a:p>
          <a:p>
            <a:pPr>
              <a:defRPr sz="1800" b="1">
                <a:solidFill>
                  <a:srgbClr val="000000"/>
                </a:solidFill>
              </a:defRPr>
            </a:pPr>
            <a:r>
              <a:t>HIGH IMPACT, LOW EFFORT (Do Immediately)</a:t>
            </a:r>
          </a:p>
          <a:p>
            <a:pPr>
              <a:defRPr sz="1400">
                <a:solidFill>
                  <a:srgbClr val="000000"/>
                </a:solidFill>
              </a:defRPr>
            </a:pPr>
            <a:r>
              <a:t>┌────────────────────────────────────────────────────────┐</a:t>
            </a:r>
          </a:p>
          <a:p>
            <a:pPr>
              <a:defRPr sz="1400">
                <a:solidFill>
                  <a:srgbClr val="000000"/>
                </a:solidFill>
              </a:defRPr>
            </a:pPr>
            <a:r>
              <a:t>│ 1. Fix Pipeline Test Runner (URGENT)                   │</a:t>
            </a:r>
          </a:p>
          <a:p>
            <a:pPr>
              <a:defRPr sz="1400">
                <a:solidFill>
                  <a:srgbClr val="000000"/>
                </a:solidFill>
              </a:defRPr>
            </a:pPr>
            <a:r>
              <a:t>│    Status: Blocked since .NET 8 upgrade (Nov 4)        │</a:t>
            </a:r>
          </a:p>
          <a:p>
            <a:pPr>
              <a:defRPr sz="1400">
                <a:solidFill>
                  <a:srgbClr val="000000"/>
                </a:solidFill>
              </a:defRPr>
            </a:pPr>
            <a:r>
              <a:t>│    Impact: Deployment safety net disabled              │</a:t>
            </a:r>
          </a:p>
          <a:p>
            <a:pPr>
              <a:defRPr sz="1400">
                <a:solidFill>
                  <a:srgbClr val="000000"/>
                </a:solidFill>
              </a:defRPr>
            </a:pPr>
            <a:r>
              <a:t>│    Effort: Spanish Point bug fix (should be immediate) │</a:t>
            </a:r>
          </a:p>
          <a:p>
            <a:pPr>
              <a:defRPr sz="1400">
                <a:solidFill>
                  <a:srgbClr val="000000"/>
                </a:solidFill>
              </a:defRPr>
            </a:pPr>
            <a:r>
              <a:t>│    Action: Escalate priority, demand fix ETA           │</a:t>
            </a:r>
          </a:p>
          <a:p>
            <a:pPr>
              <a:defRPr sz="1400">
                <a:solidFill>
                  <a:srgbClr val="000000"/>
                </a:solidFill>
              </a:defRPr>
            </a:pPr>
            <a:r>
              <a:t>│                                                         │</a:t>
            </a:r>
          </a:p>
          <a:p>
            <a:pPr>
              <a:defRPr sz="1400">
                <a:solidFill>
                  <a:srgbClr val="000000"/>
                </a:solidFill>
              </a:defRPr>
            </a:pPr>
            <a:r>
              <a:t>│ 2. Databricks Upgrade Planning                         │</a:t>
            </a:r>
          </a:p>
          <a:p>
            <a:pPr>
              <a:defRPr sz="1400">
                <a:solidFill>
                  <a:srgbClr val="000000"/>
                </a:solidFill>
              </a:defRPr>
            </a:pPr>
            <a:r>
              <a:t>│    Status: Version 10.4 LTS outdated                   │</a:t>
            </a:r>
          </a:p>
          <a:p>
            <a:pPr>
              <a:defRPr sz="1400">
                <a:solidFill>
                  <a:srgbClr val="000000"/>
                </a:solidFill>
              </a:defRPr>
            </a:pPr>
            <a:r>
              <a:t>│    Impact: Missing features, potential security gaps   │</a:t>
            </a:r>
          </a:p>
          <a:p>
            <a:pPr>
              <a:defRPr sz="1400">
                <a:solidFill>
                  <a:srgbClr val="000000"/>
                </a:solidFill>
              </a:defRPr>
            </a:pPr>
            <a:r>
              <a:t>│    Effort: Spanish Point upgrade roadmap (1-2 weeks)   │</a:t>
            </a:r>
          </a:p>
          <a:p>
            <a:pPr>
              <a:defRPr sz="1400">
                <a:solidFill>
                  <a:srgbClr val="000000"/>
                </a:solidFill>
              </a:defRPr>
            </a:pPr>
            <a:r>
              <a:t>│    Action: Request upgrade plan by end of Dec 2025     │</a:t>
            </a:r>
          </a:p>
          <a:p>
            <a:pPr>
              <a:defRPr sz="1400">
                <a:solidFill>
                  <a:srgbClr val="000000"/>
                </a:solidFill>
              </a:defRPr>
            </a:pPr>
            <a:r>
              <a:t>│                                                         │</a:t>
            </a:r>
          </a:p>
          <a:p>
            <a:pPr>
              <a:defRPr sz="1400">
                <a:solidFill>
                  <a:srgbClr val="000000"/>
                </a:solidFill>
              </a:defRPr>
            </a:pPr>
            <a:r>
              <a:t>│ 3. Monthly Cost Review Meeting                         │</a:t>
            </a:r>
          </a:p>
          <a:p>
            <a:pPr>
              <a:defRPr sz="1400">
                <a:solidFill>
                  <a:srgbClr val="000000"/>
                </a:solidFill>
              </a:defRPr>
            </a:pPr>
            <a:r>
              <a:t>│    Status: No regular cost review process              │</a:t>
            </a:r>
          </a:p>
          <a:p>
            <a:pPr>
              <a:defRPr sz="1400">
                <a:solidFill>
                  <a:srgbClr val="000000"/>
                </a:solidFill>
              </a:defRPr>
            </a:pPr>
            <a:r>
              <a:t>│    Impact: €600K/year spending without visibility      │</a:t>
            </a:r>
          </a:p>
          <a:p>
            <a:pPr>
              <a:defRPr sz="1400">
                <a:solidFill>
                  <a:srgbClr val="000000"/>
                </a:solidFill>
              </a:defRPr>
            </a:pPr>
            <a:r>
              <a:t>│    Effort: Recurring meeting setup (1 hour/month)      │</a:t>
            </a:r>
          </a:p>
          <a:p>
            <a:pPr>
              <a:defRPr sz="1400">
                <a:solidFill>
                  <a:srgbClr val="000000"/>
                </a:solidFill>
              </a:defRPr>
            </a:pPr>
            <a:r>
              <a:t>│    Action: Establish January 2026, invite Finance      │</a:t>
            </a:r>
          </a:p>
          <a:p>
            <a:pPr>
              <a:defRPr sz="1400">
                <a:solidFill>
                  <a:srgbClr val="000000"/>
                </a:solidFill>
              </a:defRPr>
            </a:pPr>
            <a:r>
              <a:t>•───────────────────────────────────────────────────────┘</a:t>
            </a:r>
          </a:p>
          <a:p>
            <a:pPr>
              <a:defRPr sz="1400">
                <a:solidFill>
                  <a:srgbClr val="000000"/>
                </a:solidFill>
              </a:defRPr>
            </a:pPr>
          </a:p>
          <a:p>
            <a:pPr>
              <a:defRPr sz="1800" b="1">
                <a:solidFill>
                  <a:srgbClr val="000000"/>
                </a:solidFill>
              </a:defRPr>
            </a:pPr>
            <a:r>
              <a:t>HIGH IMPACT, MEDIUM EFFORT (Plan for Q1 2026)</a:t>
            </a:r>
          </a:p>
          <a:p>
            <a:pPr>
              <a:defRPr sz="1400">
                <a:solidFill>
                  <a:srgbClr val="000000"/>
                </a:solidFill>
              </a:defRPr>
            </a:pPr>
            <a:r>
              <a:t>┌────────────────────────────────────────────────────────┐</a:t>
            </a:r>
          </a:p>
          <a:p>
            <a:pPr>
              <a:defRPr sz="1400">
                <a:solidFill>
                  <a:srgbClr val="000000"/>
                </a:solidFill>
              </a:defRPr>
            </a:pPr>
            <a:r>
              <a:t>│ 4. Cost Correlation Tooling                            │</a:t>
            </a:r>
          </a:p>
          <a:p>
            <a:pPr>
              <a:defRPr sz="1400">
                <a:solidFill>
                  <a:srgbClr val="000000"/>
                </a:solidFill>
              </a:defRPr>
            </a:pPr>
            <a:r>
              <a:t>│    Status: Manual investigation required               │</a:t>
            </a:r>
          </a:p>
          <a:p>
            <a:pPr>
              <a:defRPr sz="1400">
                <a:solidFill>
                  <a:srgbClr val="000000"/>
                </a:solidFill>
              </a:defRPr>
            </a:pPr>
            <a:r>
              <a:t>│    Impact: Cannot explain monthly variations           │</a:t>
            </a:r>
          </a:p>
          <a:p>
            <a:pPr>
              <a:defRPr sz="1400">
                <a:solidFill>
                  <a:srgbClr val="000000"/>
                </a:solidFill>
              </a:defRPr>
            </a:pPr>
            <a:r>
              <a:t>│    Effort: 2-3 months development (€10-20K)            │</a:t>
            </a:r>
          </a:p>
          <a:p>
            <a:pPr>
              <a:defRPr sz="1400">
                <a:solidFill>
                  <a:srgbClr val="000000"/>
                </a:solidFill>
              </a:defRPr>
            </a:pPr>
            <a:r>
              <a:t>│    Action: Either Spanish Point delivers OR CISAC      │</a:t>
            </a:r>
          </a:p>
          <a:p>
            <a:pPr>
              <a:defRPr sz="1400">
                <a:solidFill>
                  <a:srgbClr val="000000"/>
                </a:solidFill>
              </a:defRPr>
            </a:pPr>
            <a:r>
              <a:t>│            builds using API Mgmt + Cost Mgmt APIs      │</a:t>
            </a:r>
          </a:p>
          <a:p>
            <a:pPr>
              <a:defRPr sz="1400">
                <a:solidFill>
                  <a:srgbClr val="000000"/>
                </a:solidFill>
              </a:defRPr>
            </a:pPr>
            <a:r>
              <a:t>│                                                         │</a:t>
            </a:r>
          </a:p>
          <a:p>
            <a:pPr>
              <a:defRPr sz="1400">
                <a:solidFill>
                  <a:srgbClr val="000000"/>
                </a:solidFill>
              </a:defRPr>
            </a:pPr>
            <a:r>
              <a:t>│ 5. Cosmos DB Archive Policy                            │</a:t>
            </a:r>
          </a:p>
          <a:p>
            <a:pPr>
              <a:defRPr sz="1400">
                <a:solidFill>
                  <a:srgbClr val="000000"/>
                </a:solidFill>
              </a:defRPr>
            </a:pPr>
            <a:r>
              <a:t>│    Status: Old audit logs in expensive Cosmos DB       │</a:t>
            </a:r>
          </a:p>
          <a:p>
            <a:pPr>
              <a:defRPr sz="1400">
                <a:solidFill>
                  <a:srgbClr val="000000"/>
                </a:solidFill>
              </a:defRPr>
            </a:pPr>
            <a:r>
              <a:t>│    Impact: Potential cost savings (€5-10K/year est.)   │</a:t>
            </a:r>
          </a:p>
          <a:p>
            <a:pPr>
              <a:defRPr sz="1400">
                <a:solidFill>
                  <a:srgbClr val="000000"/>
                </a:solidFill>
              </a:defRPr>
            </a:pPr>
            <a:r>
              <a:t>│    Effort: 2-4 weeks implementation                    │</a:t>
            </a:r>
          </a:p>
          <a:p>
            <a:pPr>
              <a:defRPr sz="1400">
                <a:solidFill>
                  <a:srgbClr val="000000"/>
                </a:solidFill>
              </a:defRPr>
            </a:pPr>
            <a:r>
              <a:t>│    Action: Archive 90+ day logs to Blob Storage        │</a:t>
            </a:r>
          </a:p>
          <a:p>
            <a:pPr>
              <a:defRPr sz="1400">
                <a:solidFill>
                  <a:srgbClr val="000000"/>
                </a:solidFill>
              </a:defRPr>
            </a:pPr>
            <a:r>
              <a:t>│                                                         │</a:t>
            </a:r>
          </a:p>
          <a:p>
            <a:pPr>
              <a:defRPr sz="1400">
                <a:solidFill>
                  <a:srgbClr val="000000"/>
                </a:solidFill>
              </a:defRPr>
            </a:pPr>
            <a:r>
              <a:t>│ 6. Performance Validation with Moïse                   │</a:t>
            </a:r>
          </a:p>
          <a:p>
            <a:pPr>
              <a:defRPr sz="1400">
                <a:solidFill>
                  <a:srgbClr val="000000"/>
                </a:solidFill>
              </a:defRPr>
            </a:pPr>
            <a:r>
              <a:t>│    Status: Relying on Spanish Point claims             │</a:t>
            </a:r>
          </a:p>
          <a:p>
            <a:pPr>
              <a:defRPr sz="1400">
                <a:solidFill>
                  <a:srgbClr val="000000"/>
                </a:solidFill>
              </a:defRPr>
            </a:pPr>
            <a:r>
              <a:t>│    Impact: Cannot validate Hyperscale proposal need    │</a:t>
            </a:r>
          </a:p>
          <a:p>
            <a:pPr>
              <a:defRPr sz="1400">
                <a:solidFill>
                  <a:srgbClr val="000000"/>
                </a:solidFill>
              </a:defRPr>
            </a:pPr>
            <a:r>
              <a:t>│    Effort: 1-2 meetings with CISAC technical expert    │</a:t>
            </a:r>
          </a:p>
          <a:p>
            <a:pPr>
              <a:defRPr sz="1400">
                <a:solidFill>
                  <a:srgbClr val="000000"/>
                </a:solidFill>
              </a:defRPr>
            </a:pPr>
            <a:r>
              <a:t>│    Action: Gather production metrics, user complaints  │</a:t>
            </a:r>
          </a:p>
          <a:p>
            <a:pPr>
              <a:defRPr sz="1400">
                <a:solidFill>
                  <a:srgbClr val="000000"/>
                </a:solidFill>
              </a:defRPr>
            </a:pPr>
            <a:r>
              <a:t>•───────────────────────────────────────────────────────┘</a:t>
            </a:r>
          </a:p>
          <a:p>
            <a:pPr>
              <a:defRPr sz="1400">
                <a:solidFill>
                  <a:srgbClr val="000000"/>
                </a:solidFill>
              </a:defRPr>
            </a:pPr>
          </a:p>
          <a:p>
            <a:pPr>
              <a:defRPr sz="1800" b="1">
                <a:solidFill>
                  <a:srgbClr val="000000"/>
                </a:solidFill>
              </a:defRPr>
            </a:pPr>
            <a:r>
              <a:t>MEDIUM IMPACT, LOW EFFORT (Ongoing Improvements)</a:t>
            </a:r>
          </a:p>
          <a:p>
            <a:pPr>
              <a:defRPr sz="1400">
                <a:solidFill>
                  <a:srgbClr val="000000"/>
                </a:solidFill>
              </a:defRPr>
            </a:pPr>
            <a:r>
              <a:t>┌────────────────────────────────────────────────────────┐</a:t>
            </a:r>
          </a:p>
          <a:p>
            <a:pPr>
              <a:defRPr sz="1400">
                <a:solidFill>
                  <a:srgbClr val="000000"/>
                </a:solidFill>
              </a:defRPr>
            </a:pPr>
            <a:r>
              <a:t>│ 7. Enhanced Definition of Done                         │</a:t>
            </a:r>
          </a:p>
          <a:p>
            <a:pPr>
              <a:defRPr sz="1400">
                <a:solidFill>
                  <a:srgbClr val="000000"/>
                </a:solidFill>
              </a:defRPr>
            </a:pPr>
            <a:r>
              <a:t>│    Status: Documentation updates not required          │</a:t>
            </a:r>
          </a:p>
          <a:p>
            <a:pPr>
              <a:defRPr sz="1400">
                <a:solidFill>
                  <a:srgbClr val="000000"/>
                </a:solidFill>
              </a:defRPr>
            </a:pPr>
            <a:r>
              <a:t>│    Impact: Prevents knowledge accumulation in heads    │</a:t>
            </a:r>
          </a:p>
          <a:p>
            <a:pPr>
              <a:defRPr sz="1400">
                <a:solidFill>
                  <a:srgbClr val="000000"/>
                </a:solidFill>
              </a:defRPr>
            </a:pPr>
            <a:r>
              <a:t>│    Effort: Policy change (no dev work)                 │</a:t>
            </a:r>
          </a:p>
          <a:p>
            <a:pPr>
              <a:defRPr sz="1400">
                <a:solidFill>
                  <a:srgbClr val="000000"/>
                </a:solidFill>
              </a:defRPr>
            </a:pPr>
            <a:r>
              <a:t>│    Action: Negotiate as contract term                  │</a:t>
            </a:r>
          </a:p>
          <a:p>
            <a:pPr>
              <a:defRPr sz="1400">
                <a:solidFill>
                  <a:srgbClr val="000000"/>
                </a:solidFill>
              </a:defRPr>
            </a:pPr>
            <a:r>
              <a:t>│                                                         │</a:t>
            </a:r>
          </a:p>
          <a:p>
            <a:pPr>
              <a:defRPr sz="1400">
                <a:solidFill>
                  <a:srgbClr val="000000"/>
                </a:solidFill>
              </a:defRPr>
            </a:pPr>
            <a:r>
              <a:t>│ 8. Code Documentation Standards                        │</a:t>
            </a:r>
          </a:p>
          <a:p>
            <a:pPr>
              <a:defRPr sz="1400">
                <a:solidFill>
                  <a:srgbClr val="000000"/>
                </a:solidFill>
              </a:defRPr>
            </a:pPr>
            <a:r>
              <a:t>│    Status: Minimal code comments                       │</a:t>
            </a:r>
          </a:p>
          <a:p>
            <a:pPr>
              <a:defRPr sz="1400">
                <a:solidFill>
                  <a:srgbClr val="000000"/>
                </a:solidFill>
              </a:defRPr>
            </a:pPr>
            <a:r>
              <a:t>│    Impact: Knowledge transfer difficulty               │</a:t>
            </a:r>
          </a:p>
          <a:p>
            <a:pPr>
              <a:defRPr sz="1400">
                <a:solidFill>
                  <a:srgbClr val="000000"/>
                </a:solidFill>
              </a:defRPr>
            </a:pPr>
            <a:r>
              <a:t>│    Effort: Apply incrementally to new features         │</a:t>
            </a:r>
          </a:p>
          <a:p>
            <a:pPr>
              <a:defRPr sz="1400">
                <a:solidFill>
                  <a:srgbClr val="000000"/>
                </a:solidFill>
              </a:defRPr>
            </a:pPr>
            <a:r>
              <a:t>│    Action: Mandate comments for business logic         │</a:t>
            </a:r>
          </a:p>
          <a:p>
            <a:pPr>
              <a:defRPr sz="1400">
                <a:solidFill>
                  <a:srgbClr val="000000"/>
                </a:solidFill>
              </a:defRPr>
            </a:pPr>
            <a:r>
              <a:t>│                                                         │</a:t>
            </a:r>
          </a:p>
          <a:p>
            <a:pPr>
              <a:defRPr sz="1400">
                <a:solidFill>
                  <a:srgbClr val="000000"/>
                </a:solidFill>
              </a:defRPr>
            </a:pPr>
            <a:r>
              <a:t>│ 9. Architecture Decision Records (ADR)                 │</a:t>
            </a:r>
          </a:p>
          <a:p>
            <a:pPr>
              <a:defRPr sz="1400">
                <a:solidFill>
                  <a:srgbClr val="000000"/>
                </a:solidFill>
              </a:defRPr>
            </a:pPr>
            <a:r>
              <a:t>│    Status: No ADR practice                             │</a:t>
            </a:r>
          </a:p>
          <a:p>
            <a:pPr>
              <a:defRPr sz="1400">
                <a:solidFill>
                  <a:srgbClr val="000000"/>
                </a:solidFill>
              </a:defRPr>
            </a:pPr>
            <a:r>
              <a:t>│    Impact: Future teams won't know WHY decisions made  │</a:t>
            </a:r>
          </a:p>
          <a:p>
            <a:pPr>
              <a:defRPr sz="1400">
                <a:solidFill>
                  <a:srgbClr val="000000"/>
                </a:solidFill>
              </a:defRPr>
            </a:pPr>
            <a:r>
              <a:t>│    Effort: Template creation, ongoing practice         │</a:t>
            </a:r>
          </a:p>
          <a:p>
            <a:pPr>
              <a:defRPr sz="1400">
                <a:solidFill>
                  <a:srgbClr val="000000"/>
                </a:solidFill>
              </a:defRPr>
            </a:pPr>
            <a:r>
              <a:t>│    Action: Start with next major architectural change  │</a:t>
            </a:r>
          </a:p>
          <a:p>
            <a:pPr>
              <a:defRPr sz="1400">
                <a:solidFill>
                  <a:srgbClr val="000000"/>
                </a:solidFill>
              </a:defRPr>
            </a:pPr>
            <a:r>
              <a:t>•───────────────────────────────────────────────────────┘</a:t>
            </a:r>
          </a:p>
          <a:p>
            <a:pPr>
              <a:defRPr sz="1400">
                <a:solidFill>
                  <a:srgbClr val="000000"/>
                </a:solidFill>
              </a:defRPr>
            </a:pPr>
          </a:p>
          <a:p>
            <a:pPr>
              <a:defRPr sz="1800" b="1">
                <a:solidFill>
                  <a:srgbClr val="000000"/>
                </a:solidFill>
              </a:defRPr>
            </a:pPr>
            <a:r>
              <a:t>Timeline:</a:t>
            </a:r>
          </a:p>
          <a:p>
            <a:pPr>
              <a:defRPr sz="1800" b="1">
                <a:solidFill>
                  <a:srgbClr val="000000"/>
                </a:solidFill>
              </a:defRPr>
            </a:pPr>
            <a:r>
              <a:t>December 2025:  ✓ Fix pipeline test runner</a:t>
            </a:r>
          </a:p>
          <a:p>
            <a:pPr>
              <a:defRPr sz="1600">
                <a:solidFill>
                  <a:srgbClr val="228B22"/>
                </a:solidFill>
              </a:defRPr>
            </a:pPr>
            <a:r>
              <a:t>✓ Establish monthly cost review</a:t>
            </a:r>
          </a:p>
          <a:p>
            <a:pPr>
              <a:defRPr sz="1600">
                <a:solidFill>
                  <a:srgbClr val="228B22"/>
                </a:solidFill>
              </a:defRPr>
            </a:pPr>
            <a:r>
              <a:t>✓ Request Databricks upgrade plan</a:t>
            </a:r>
          </a:p>
          <a:p>
            <a:pPr>
              <a:defRPr sz="1800" b="1">
                <a:solidFill>
                  <a:srgbClr val="000000"/>
                </a:solidFill>
              </a:defRPr>
            </a:pPr>
            <a:r>
              <a:t>January 2026:   ✓ Meet with Moïse (performance validation)</a:t>
            </a:r>
          </a:p>
          <a:p>
            <a:pPr>
              <a:defRPr sz="1600">
                <a:solidFill>
                  <a:srgbClr val="228B22"/>
                </a:solidFill>
              </a:defRPr>
            </a:pPr>
            <a:r>
              <a:t>✓ Implement enhanced DoD</a:t>
            </a:r>
          </a:p>
          <a:p>
            <a:pPr>
              <a:defRPr sz="1800" b="1">
                <a:solidFill>
                  <a:srgbClr val="000000"/>
                </a:solidFill>
              </a:defRPr>
            </a:pPr>
            <a:r>
              <a:t>Feb-Mar 2026:   ✓ Cost correlation tooling</a:t>
            </a:r>
          </a:p>
          <a:p>
            <a:pPr>
              <a:defRPr sz="1600">
                <a:solidFill>
                  <a:srgbClr val="228B22"/>
                </a:solidFill>
              </a:defRPr>
            </a:pPr>
            <a:r>
              <a:t>✓ Cosmos DB archive policy</a:t>
            </a:r>
          </a:p>
          <a:p>
            <a:pPr>
              <a:defRPr sz="1600">
                <a:solidFill>
                  <a:srgbClr val="228B22"/>
                </a:solidFill>
              </a:defRPr>
            </a:pPr>
            <a:r>
              <a:t>✓ Code documentation standards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Hyperscale Proposal - HOLD Pending Validation (Secondary Priority)</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Hyperscale Proposal Assessment (PSA 5499)</a:t>
            </a:r>
          </a:p>
          <a:p>
            <a:pPr>
              <a:defRPr sz="1400">
                <a:solidFill>
                  <a:srgbClr val="000000"/>
                </a:solidFill>
              </a:defRPr>
            </a:pPr>
          </a:p>
          <a:p>
            <a:pPr>
              <a:defRPr sz="1800" b="1">
                <a:solidFill>
                  <a:srgbClr val="000000"/>
                </a:solidFill>
              </a:defRPr>
            </a:pPr>
            <a:r>
              <a:t>Three Objectives:</a:t>
            </a:r>
          </a:p>
          <a:p>
            <a:pPr>
              <a:defRPr sz="1400">
                <a:solidFill>
                  <a:srgbClr val="000000"/>
                </a:solidFill>
              </a:defRPr>
            </a:pPr>
            <a:r>
              <a:t>1. Networking Security: Public → Private endpoints</a:t>
            </a:r>
          </a:p>
          <a:p>
            <a:pPr>
              <a:defRPr sz="1400">
                <a:solidFill>
                  <a:srgbClr val="000000"/>
                </a:solidFill>
              </a:defRPr>
            </a:pPr>
            <a:r>
              <a:t>2. SQL Tier Change: Business Critical → Hyperscale</a:t>
            </a:r>
          </a:p>
          <a:p>
            <a:pPr>
              <a:defRPr sz="1400">
                <a:solidFill>
                  <a:srgbClr val="000000"/>
                </a:solidFill>
              </a:defRPr>
            </a:pPr>
            <a:r>
              <a:t>3. Platform Modernization: Align with Microsoft best practices</a:t>
            </a:r>
          </a:p>
          <a:p>
            <a:pPr>
              <a:defRPr sz="1400">
                <a:solidFill>
                  <a:srgbClr val="000000"/>
                </a:solidFill>
              </a:defRPr>
            </a:pPr>
          </a:p>
          <a:p>
            <a:pPr>
              <a:defRPr sz="1800" b="1">
                <a:solidFill>
                  <a:srgbClr val="000000"/>
                </a:solidFill>
              </a:defRPr>
            </a:pPr>
            <a:r>
              <a:t>Cost Impact (Spanish Point Claims):</a:t>
            </a:r>
          </a:p>
          <a:p>
            <a:pPr>
              <a:defRPr sz="1400">
                <a:solidFill>
                  <a:srgbClr val="000000"/>
                </a:solidFill>
              </a:defRPr>
            </a:pPr>
            <a:r>
              <a:t>┌────────────────────────────────────────────────────────┐</a:t>
            </a:r>
          </a:p>
          <a:p>
            <a:pPr>
              <a:defRPr sz="1400">
                <a:solidFill>
                  <a:srgbClr val="000000"/>
                </a:solidFill>
              </a:defRPr>
            </a:pPr>
            <a:r>
              <a:t>│ SQL Hyperscale Migration        -€3,300/month          │</a:t>
            </a:r>
          </a:p>
          <a:p>
            <a:pPr>
              <a:defRPr sz="1400">
                <a:solidFill>
                  <a:srgbClr val="000000"/>
                </a:solidFill>
              </a:defRPr>
            </a:pPr>
            <a:r>
              <a:t>│   (Business Critical → Hyperscale + reserved instances)│</a:t>
            </a:r>
          </a:p>
          <a:p>
            <a:pPr>
              <a:defRPr sz="1400">
                <a:solidFill>
                  <a:srgbClr val="000000"/>
                </a:solidFill>
              </a:defRPr>
            </a:pPr>
            <a:r>
              <a:t>│                                                         │</a:t>
            </a:r>
          </a:p>
          <a:p>
            <a:pPr>
              <a:defRPr sz="1400">
                <a:solidFill>
                  <a:srgbClr val="000000"/>
                </a:solidFill>
              </a:defRPr>
            </a:pPr>
            <a:r>
              <a:t>│ Private Networking              +€1,500/month          │</a:t>
            </a:r>
          </a:p>
          <a:p>
            <a:pPr>
              <a:defRPr sz="1400">
                <a:solidFill>
                  <a:srgbClr val="000000"/>
                </a:solidFill>
              </a:defRPr>
            </a:pPr>
            <a:r>
              <a:t>│   (VPN Gateway, Private DNS, Private Endpoints, WAF)   │</a:t>
            </a:r>
          </a:p>
          <a:p>
            <a:pPr>
              <a:defRPr sz="1400">
                <a:solidFill>
                  <a:srgbClr val="000000"/>
                </a:solidFill>
              </a:defRPr>
            </a:pPr>
            <a:r>
              <a:t>│                                                         │</a:t>
            </a:r>
          </a:p>
          <a:p>
            <a:pPr>
              <a:defRPr sz="1400">
                <a:solidFill>
                  <a:srgbClr val="000000"/>
                </a:solidFill>
              </a:defRPr>
            </a:pPr>
            <a:r>
              <a:t>│ NET SAVINGS                     -€1,800/month          │</a:t>
            </a:r>
          </a:p>
          <a:p>
            <a:pPr>
              <a:defRPr sz="1400">
                <a:solidFill>
                  <a:srgbClr val="000000"/>
                </a:solidFill>
              </a:defRPr>
            </a:pPr>
            <a:r>
              <a:t>│                                 -€21,600/year          │</a:t>
            </a:r>
          </a:p>
          <a:p>
            <a:pPr>
              <a:defRPr sz="1400">
                <a:solidFill>
                  <a:srgbClr val="000000"/>
                </a:solidFill>
              </a:defRPr>
            </a:pPr>
            <a:r>
              <a:t>•───────────────────────────────────────────────────────┘</a:t>
            </a:r>
          </a:p>
          <a:p>
            <a:pPr>
              <a:defRPr sz="1400">
                <a:solidFill>
                  <a:srgbClr val="000000"/>
                </a:solidFill>
              </a:defRPr>
            </a:pPr>
          </a:p>
          <a:p>
            <a:pPr>
              <a:defRPr sz="1800" b="1">
                <a:solidFill>
                  <a:srgbClr val="000000"/>
                </a:solidFill>
              </a:defRPr>
            </a:pPr>
            <a:r>
              <a:t>Migration Investment: €40,000 (one-time)</a:t>
            </a:r>
          </a:p>
          <a:p>
            <a:pPr>
              <a:defRPr sz="1800" b="1">
                <a:solidFill>
                  <a:srgbClr val="000000"/>
                </a:solidFill>
              </a:defRPr>
            </a:pPr>
            <a:r>
              <a:t>ROI: ~22 months payback period</a:t>
            </a:r>
          </a:p>
          <a:p>
            <a:pPr>
              <a:defRPr sz="1400">
                <a:solidFill>
                  <a:srgbClr val="000000"/>
                </a:solidFill>
              </a:defRPr>
            </a:pPr>
          </a:p>
          <a:p>
            <a:pPr>
              <a:defRPr sz="1800" b="1">
                <a:solidFill>
                  <a:srgbClr val="000000"/>
                </a:solidFill>
              </a:defRPr>
            </a:pPr>
            <a:r>
              <a:t>Our Assessment: ⚠️  HOLD Pending Validation</a:t>
            </a:r>
          </a:p>
          <a:p>
            <a:pPr>
              <a:defRPr sz="1400">
                <a:solidFill>
                  <a:srgbClr val="000000"/>
                </a:solidFill>
              </a:defRPr>
            </a:pPr>
          </a:p>
          <a:p>
            <a:pPr>
              <a:defRPr sz="1800" b="1">
                <a:solidFill>
                  <a:srgbClr val="000000"/>
                </a:solidFill>
              </a:defRPr>
            </a:pPr>
            <a:r>
              <a:t>Validation Questions (UNRESOLVED):</a:t>
            </a:r>
          </a:p>
          <a:p>
            <a:pPr>
              <a:defRPr sz="1400">
                <a:solidFill>
                  <a:srgbClr val="000000"/>
                </a:solidFill>
              </a:defRPr>
            </a:pPr>
            <a:r>
              <a:t>┌────────────────────────────────────────────────────────┐</a:t>
            </a:r>
          </a:p>
          <a:p>
            <a:pPr>
              <a:defRPr sz="1400">
                <a:solidFill>
                  <a:srgbClr val="000000"/>
                </a:solidFill>
              </a:defRPr>
            </a:pPr>
            <a:r>
              <a:t>│ 1. Is SQL Server actually the bottleneck?              │</a:t>
            </a:r>
          </a:p>
          <a:p>
            <a:pPr>
              <a:defRPr sz="1400">
                <a:solidFill>
                  <a:srgbClr val="000000"/>
                </a:solidFill>
              </a:defRPr>
            </a:pPr>
            <a:r>
              <a:t>│    └─ No production performance metrics shared         │</a:t>
            </a:r>
          </a:p>
          <a:p>
            <a:pPr>
              <a:defRPr sz="1400">
                <a:solidFill>
                  <a:srgbClr val="000000"/>
                </a:solidFill>
              </a:defRPr>
            </a:pPr>
            <a:r>
              <a:t>│    └─ Spanish Point claims "no issues" but no data     │</a:t>
            </a:r>
          </a:p>
          <a:p>
            <a:pPr>
              <a:defRPr sz="1400">
                <a:solidFill>
                  <a:srgbClr val="000000"/>
                </a:solidFill>
              </a:defRPr>
            </a:pPr>
            <a:r>
              <a:t>│    └─ Need Moïse validation (operational experience)   │</a:t>
            </a:r>
          </a:p>
          <a:p>
            <a:pPr>
              <a:defRPr sz="1400">
                <a:solidFill>
                  <a:srgbClr val="000000"/>
                </a:solidFill>
              </a:defRPr>
            </a:pPr>
            <a:r>
              <a:t>│                                                         │</a:t>
            </a:r>
          </a:p>
          <a:p>
            <a:pPr>
              <a:defRPr sz="1400">
                <a:solidFill>
                  <a:srgbClr val="000000"/>
                </a:solidFill>
              </a:defRPr>
            </a:pPr>
            <a:r>
              <a:t>│ 2. Can query optimization achieve similar results?     │</a:t>
            </a:r>
          </a:p>
          <a:p>
            <a:pPr>
              <a:defRPr sz="1400">
                <a:solidFill>
                  <a:srgbClr val="000000"/>
                </a:solidFill>
              </a:defRPr>
            </a:pPr>
            <a:r>
              <a:t>│    └─ Have indexing, caching alternatives been tried?  │</a:t>
            </a:r>
          </a:p>
          <a:p>
            <a:pPr>
              <a:defRPr sz="1400">
                <a:solidFill>
                  <a:srgbClr val="000000"/>
                </a:solidFill>
              </a:defRPr>
            </a:pPr>
            <a:r>
              <a:t>│    └─ Hyperscale may mask inefficient queries          │</a:t>
            </a:r>
          </a:p>
          <a:p>
            <a:pPr>
              <a:defRPr sz="1400">
                <a:solidFill>
                  <a:srgbClr val="000000"/>
                </a:solidFill>
              </a:defRPr>
            </a:pPr>
            <a:r>
              <a:t>│    └─ Cheaper optimization path not explored           │</a:t>
            </a:r>
          </a:p>
          <a:p>
            <a:pPr>
              <a:defRPr sz="1400">
                <a:solidFill>
                  <a:srgbClr val="000000"/>
                </a:solidFill>
              </a:defRPr>
            </a:pPr>
            <a:r>
              <a:t>│                                                         │</a:t>
            </a:r>
          </a:p>
          <a:p>
            <a:pPr>
              <a:defRPr sz="1400">
                <a:solidFill>
                  <a:srgbClr val="000000"/>
                </a:solidFill>
              </a:defRPr>
            </a:pPr>
            <a:r>
              <a:t>│ 3. Are cost estimates accurate?                        │</a:t>
            </a:r>
          </a:p>
          <a:p>
            <a:pPr>
              <a:defRPr sz="1400">
                <a:solidFill>
                  <a:srgbClr val="000000"/>
                </a:solidFill>
              </a:defRPr>
            </a:pPr>
            <a:r>
              <a:t>│    └─ Based on single month average (auto-scaling)     │</a:t>
            </a:r>
          </a:p>
          <a:p>
            <a:pPr>
              <a:defRPr sz="1400">
                <a:solidFill>
                  <a:srgbClr val="000000"/>
                </a:solidFill>
              </a:defRPr>
            </a:pPr>
            <a:r>
              <a:t>│    └─ Usage variations may affect savings              │</a:t>
            </a:r>
          </a:p>
          <a:p>
            <a:pPr>
              <a:defRPr sz="1400">
                <a:solidFill>
                  <a:srgbClr val="000000"/>
                </a:solidFill>
              </a:defRPr>
            </a:pPr>
            <a:r>
              <a:t>│    └─ Reserved instance commitment = 1-year lock-in    │</a:t>
            </a:r>
          </a:p>
          <a:p>
            <a:pPr>
              <a:defRPr sz="1400">
                <a:solidFill>
                  <a:srgbClr val="000000"/>
                </a:solidFill>
              </a:defRPr>
            </a:pPr>
            <a:r>
              <a:t>│                                                         │</a:t>
            </a:r>
          </a:p>
          <a:p>
            <a:pPr>
              <a:defRPr sz="1400">
                <a:solidFill>
                  <a:srgbClr val="000000"/>
                </a:solidFill>
              </a:defRPr>
            </a:pPr>
            <a:r>
              <a:t>│ 4. Can networking upgrade be decoupled from SQL tier?  │</a:t>
            </a:r>
          </a:p>
          <a:p>
            <a:pPr>
              <a:defRPr sz="1400">
                <a:solidFill>
                  <a:srgbClr val="000000"/>
                </a:solidFill>
              </a:defRPr>
            </a:pPr>
            <a:r>
              <a:t>│    └─ Private networking (+€1,500/mo) may be valuable  │</a:t>
            </a:r>
          </a:p>
          <a:p>
            <a:pPr>
              <a:defRPr sz="1400">
                <a:solidFill>
                  <a:srgbClr val="000000"/>
                </a:solidFill>
              </a:defRPr>
            </a:pPr>
            <a:r>
              <a:t>│    └─ Hyperscale migration (-€3,300/mo) needs proof    │</a:t>
            </a:r>
          </a:p>
          <a:p>
            <a:pPr>
              <a:defRPr sz="1400">
                <a:solidFill>
                  <a:srgbClr val="000000"/>
                </a:solidFill>
              </a:defRPr>
            </a:pPr>
            <a:r>
              <a:t>│    └─ Decouple = validate each independently           │</a:t>
            </a:r>
          </a:p>
          <a:p>
            <a:pPr>
              <a:defRPr sz="1400">
                <a:solidFill>
                  <a:srgbClr val="000000"/>
                </a:solidFill>
              </a:defRPr>
            </a:pPr>
            <a:r>
              <a:t>•───────────────────────────────────────────────────────┘</a:t>
            </a:r>
          </a:p>
          <a:p>
            <a:pPr>
              <a:defRPr sz="1400">
                <a:solidFill>
                  <a:srgbClr val="000000"/>
                </a:solidFill>
              </a:defRPr>
            </a:pPr>
          </a:p>
          <a:p>
            <a:pPr>
              <a:defRPr sz="1800" b="1">
                <a:solidFill>
                  <a:srgbClr val="000000"/>
                </a:solidFill>
              </a:defRPr>
            </a:pPr>
            <a:r>
              <a:t>Alternative: Query Optimization First</a:t>
            </a:r>
          </a:p>
          <a:p>
            <a:pPr>
              <a:defRPr sz="1400">
                <a:solidFill>
                  <a:srgbClr val="000000"/>
                </a:solidFill>
              </a:defRPr>
            </a:pPr>
            <a:r>
              <a:t>┌────────────────────────────────────────────────────────┐</a:t>
            </a:r>
          </a:p>
          <a:p>
            <a:pPr>
              <a:defRPr sz="1400">
                <a:solidFill>
                  <a:srgbClr val="000000"/>
                </a:solidFill>
              </a:defRPr>
            </a:pPr>
            <a:r>
              <a:t>│ BEFORE committing €40K + reserved instances:           │</a:t>
            </a:r>
          </a:p>
          <a:p>
            <a:pPr>
              <a:defRPr sz="1400">
                <a:solidFill>
                  <a:srgbClr val="000000"/>
                </a:solidFill>
              </a:defRPr>
            </a:pPr>
            <a:r>
              <a:t>│                                                         │</a:t>
            </a:r>
          </a:p>
          <a:p>
            <a:pPr>
              <a:defRPr sz="1400">
                <a:solidFill>
                  <a:srgbClr val="000000"/>
                </a:solidFill>
              </a:defRPr>
            </a:pPr>
            <a:r>
              <a:t>│ Option 1: Performance Audit                            │</a:t>
            </a:r>
          </a:p>
          <a:p>
            <a:pPr>
              <a:defRPr sz="1400">
                <a:solidFill>
                  <a:srgbClr val="000000"/>
                </a:solidFill>
              </a:defRPr>
            </a:pPr>
            <a:r>
              <a:t>│   ├─ Analyze slow queries (Application Insights)       │</a:t>
            </a:r>
          </a:p>
          <a:p>
            <a:pPr>
              <a:defRPr sz="1400">
                <a:solidFill>
                  <a:srgbClr val="000000"/>
                </a:solidFill>
              </a:defRPr>
            </a:pPr>
            <a:r>
              <a:t>│   ├─ Identify missing indexes                          │</a:t>
            </a:r>
          </a:p>
          <a:p>
            <a:pPr>
              <a:defRPr sz="1400">
                <a:solidFill>
                  <a:srgbClr val="000000"/>
                </a:solidFill>
              </a:defRPr>
            </a:pPr>
            <a:r>
              <a:t>│   ├─ Implement caching where appropriate               │</a:t>
            </a:r>
          </a:p>
          <a:p>
            <a:pPr>
              <a:defRPr sz="1400">
                <a:solidFill>
                  <a:srgbClr val="000000"/>
                </a:solidFill>
              </a:defRPr>
            </a:pPr>
            <a:r>
              <a:t>│   └─ Measure improvement                               │</a:t>
            </a:r>
          </a:p>
          <a:p>
            <a:pPr>
              <a:defRPr sz="1400">
                <a:solidFill>
                  <a:srgbClr val="000000"/>
                </a:solidFill>
              </a:defRPr>
            </a:pPr>
            <a:r>
              <a:t>│   Cost: €5-10K | Timeline: 1-2 months                  │</a:t>
            </a:r>
          </a:p>
          <a:p>
            <a:pPr>
              <a:defRPr sz="1400">
                <a:solidFill>
                  <a:srgbClr val="000000"/>
                </a:solidFill>
              </a:defRPr>
            </a:pPr>
            <a:r>
              <a:t>│                                                         │</a:t>
            </a:r>
          </a:p>
          <a:p>
            <a:pPr>
              <a:defRPr sz="1400">
                <a:solidFill>
                  <a:srgbClr val="000000"/>
                </a:solidFill>
              </a:defRPr>
            </a:pPr>
            <a:r>
              <a:t>│ IF performance issues persist after optimization:      │</a:t>
            </a:r>
          </a:p>
          <a:p>
            <a:pPr>
              <a:defRPr sz="1400">
                <a:solidFill>
                  <a:srgbClr val="000000"/>
                </a:solidFill>
              </a:defRPr>
            </a:pPr>
            <a:r>
              <a:t>│   → THEN consider Hyperscale migration                 │</a:t>
            </a:r>
          </a:p>
          <a:p>
            <a:pPr>
              <a:defRPr sz="1400">
                <a:solidFill>
                  <a:srgbClr val="000000"/>
                </a:solidFill>
              </a:defRPr>
            </a:pPr>
            <a:r>
              <a:t>│   → Data-driven decision, not assumption               │</a:t>
            </a:r>
          </a:p>
          <a:p>
            <a:pPr>
              <a:defRPr sz="1400">
                <a:solidFill>
                  <a:srgbClr val="000000"/>
                </a:solidFill>
              </a:defRPr>
            </a:pPr>
            <a:r>
              <a:t>│                                                         │</a:t>
            </a:r>
          </a:p>
          <a:p>
            <a:pPr>
              <a:defRPr sz="1400">
                <a:solidFill>
                  <a:srgbClr val="000000"/>
                </a:solidFill>
              </a:defRPr>
            </a:pPr>
            <a:r>
              <a:t>│ IF optimization resolves issues:                       │</a:t>
            </a:r>
          </a:p>
          <a:p>
            <a:pPr>
              <a:defRPr sz="1400">
                <a:solidFill>
                  <a:srgbClr val="000000"/>
                </a:solidFill>
              </a:defRPr>
            </a:pPr>
            <a:r>
              <a:t>│   → Save €40K migration cost                           │</a:t>
            </a:r>
          </a:p>
          <a:p>
            <a:pPr>
              <a:defRPr sz="1400">
                <a:solidFill>
                  <a:srgbClr val="000000"/>
                </a:solidFill>
              </a:defRPr>
            </a:pPr>
            <a:r>
              <a:t>│   → Avoid 1-year reserved instance commitment          │</a:t>
            </a:r>
          </a:p>
          <a:p>
            <a:pPr>
              <a:defRPr sz="1400">
                <a:solidFill>
                  <a:srgbClr val="000000"/>
                </a:solidFill>
              </a:defRPr>
            </a:pPr>
            <a:r>
              <a:t>│   → Keep Hyperscale as future option if needed         │</a:t>
            </a:r>
          </a:p>
          <a:p>
            <a:pPr>
              <a:defRPr sz="1400">
                <a:solidFill>
                  <a:srgbClr val="000000"/>
                </a:solidFill>
              </a:defRPr>
            </a:pPr>
            <a:r>
              <a:t>•───────────────────────────────────────────────────────┘</a:t>
            </a:r>
          </a:p>
          <a:p>
            <a:pPr>
              <a:defRPr sz="1400">
                <a:solidFill>
                  <a:srgbClr val="000000"/>
                </a:solidFill>
              </a:defRPr>
            </a:pPr>
          </a:p>
          <a:p>
            <a:pPr>
              <a:defRPr sz="1800" b="1">
                <a:solidFill>
                  <a:srgbClr val="000000"/>
                </a:solidFill>
              </a:defRPr>
            </a:pPr>
            <a:r>
              <a:t>Networking Security Component (May Be Valuable Independently):</a:t>
            </a:r>
          </a:p>
          <a:p>
            <a:pPr>
              <a:defRPr sz="1600">
                <a:solidFill>
                  <a:srgbClr val="228B22"/>
                </a:solidFill>
              </a:defRPr>
            </a:pPr>
            <a:r>
              <a:t>✓ Private endpoints (removes public internet exposure)</a:t>
            </a:r>
          </a:p>
          <a:p>
            <a:pPr>
              <a:defRPr sz="1600">
                <a:solidFill>
                  <a:srgbClr val="228B22"/>
                </a:solidFill>
              </a:defRPr>
            </a:pPr>
            <a:r>
              <a:t>✓ VPN Gateway (secure admin access)</a:t>
            </a:r>
          </a:p>
          <a:p>
            <a:pPr>
              <a:defRPr sz="1600">
                <a:solidFill>
                  <a:srgbClr val="228B22"/>
                </a:solidFill>
              </a:defRPr>
            </a:pPr>
            <a:r>
              <a:t>✓ Private DNS zones</a:t>
            </a:r>
          </a:p>
          <a:p>
            <a:pPr>
              <a:defRPr sz="1600">
                <a:solidFill>
                  <a:srgbClr val="228B22"/>
                </a:solidFill>
              </a:defRPr>
            </a:pPr>
            <a:r>
              <a:t>✓ Optional WAF (Layer 7 reverse proxy)</a:t>
            </a:r>
          </a:p>
          <a:p>
            <a:pPr>
              <a:defRPr sz="1800" b="1">
                <a:solidFill>
                  <a:srgbClr val="000000"/>
                </a:solidFill>
              </a:defRPr>
            </a:pPr>
            <a:r>
              <a:t>Cost: +€1,500/month</a:t>
            </a:r>
          </a:p>
          <a:p>
            <a:pPr>
              <a:defRPr sz="1800" b="1">
                <a:solidFill>
                  <a:srgbClr val="000000"/>
                </a:solidFill>
              </a:defRPr>
            </a:pPr>
            <a:r>
              <a:t>Benefit: Enhanced security posture (may be justified regardless of SQL tier)</a:t>
            </a:r>
          </a:p>
          <a:p>
            <a:pPr>
              <a:defRPr sz="1400">
                <a:solidFill>
                  <a:srgbClr val="000000"/>
                </a:solidFill>
              </a:defRPr>
            </a:pPr>
          </a:p>
          <a:p>
            <a:pPr>
              <a:defRPr sz="1800" b="1">
                <a:solidFill>
                  <a:srgbClr val="000000"/>
                </a:solidFill>
              </a:defRPr>
            </a:pPr>
            <a:r>
              <a:t>RECOMMENDATION: HOLD Hyperscale approval</a:t>
            </a:r>
          </a:p>
          <a:p>
            <a:pPr>
              <a:defRPr sz="1400">
                <a:solidFill>
                  <a:srgbClr val="000000"/>
                </a:solidFill>
              </a:defRPr>
            </a:pPr>
          </a:p>
          <a:p>
            <a:pPr>
              <a:defRPr sz="1800" b="1">
                <a:solidFill>
                  <a:srgbClr val="000000"/>
                </a:solidFill>
              </a:defRPr>
            </a:pPr>
            <a:r>
              <a:t>Actions BEFORE approval:</a:t>
            </a:r>
          </a:p>
          <a:p>
            <a:pPr>
              <a:defRPr sz="1400">
                <a:solidFill>
                  <a:srgbClr val="000000"/>
                </a:solidFill>
              </a:defRPr>
            </a:pPr>
            <a:r>
              <a:t>1. Meet with Moïse - gather production performance data</a:t>
            </a:r>
          </a:p>
          <a:p>
            <a:pPr>
              <a:defRPr sz="1400">
                <a:solidFill>
                  <a:srgbClr val="000000"/>
                </a:solidFill>
              </a:defRPr>
            </a:pPr>
            <a:r>
              <a:t>2. Validate SQL Server is actual bottleneck (not Matching Engine, not Cosmos DB)</a:t>
            </a:r>
          </a:p>
          <a:p>
            <a:pPr>
              <a:defRPr sz="1400">
                <a:solidFill>
                  <a:srgbClr val="000000"/>
                </a:solidFill>
              </a:defRPr>
            </a:pPr>
            <a:r>
              <a:t>3. Explore query optimization alternatives (€5-10K vs €40K)</a:t>
            </a:r>
          </a:p>
          <a:p>
            <a:pPr>
              <a:defRPr sz="1400">
                <a:solidFill>
                  <a:srgbClr val="000000"/>
                </a:solidFill>
              </a:defRPr>
            </a:pPr>
            <a:r>
              <a:t>4. Separate networking security decision from SQL tier decision</a:t>
            </a:r>
          </a:p>
          <a:p>
            <a:pPr>
              <a:defRPr sz="1400">
                <a:solidFill>
                  <a:srgbClr val="000000"/>
                </a:solidFill>
              </a:defRPr>
            </a:pPr>
          </a:p>
          <a:p>
            <a:pPr>
              <a:defRPr sz="1800" b="1">
                <a:solidFill>
                  <a:srgbClr val="000000"/>
                </a:solidFill>
              </a:defRPr>
            </a:pPr>
            <a:r>
              <a:t>Timeline: Jan-Feb 2026 validation → Decision by March 2026</a:t>
            </a:r>
          </a:p>
          <a:p>
            <a:pPr>
              <a:defRPr sz="1400">
                <a:solidFill>
                  <a:srgbClr val="000000"/>
                </a:solidFill>
              </a:defRPr>
            </a:pPr>
          </a:p>
          <a:p>
            <a:pPr>
              <a:defRPr sz="1800" b="1">
                <a:solidFill>
                  <a:srgbClr val="000000"/>
                </a:solidFill>
              </a:defRPr>
            </a:pPr>
            <a:r>
              <a:t>This is SECONDARY priority - Strategic vendor decisions and governance</a:t>
            </a:r>
          </a:p>
          <a:p>
            <a:pPr>
              <a:defRPr sz="1400">
                <a:solidFill>
                  <a:srgbClr val="000000"/>
                </a:solidFill>
              </a:defRPr>
            </a:pPr>
            <a:r>
              <a:t>improvements are MORE IMPORTANT than infrastructure optimization.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