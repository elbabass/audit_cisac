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talk about governance. The May-June 2024 production incident is the clearest evidence of governance gaps.</a:t>
            </a:r>
          </a:p>
          <a:p/>
          <a:p>
            <a:r>
              <a:t>**What happened:**</a:t>
            </a:r>
          </a:p>
          <a:p/>
          <a:p>
            <a:r>
              <a:t>POC (proof-of-concept) code from an unrelated project was accidentally merged into the production branch and deployed to production. This wasn't a small bug - it was experimental code that had no business being in production.</a:t>
            </a:r>
          </a:p>
          <a:p/>
          <a:p>
            <a:r>
              <a:t>The result: six months of continuous incident recovery. Yann described it as "six months of hell, incessant incidents."</a:t>
            </a:r>
          </a:p>
          <a:p/>
          <a:p>
            <a:r>
              <a:t>**Why did this happen?**</a:t>
            </a:r>
          </a:p>
          <a:p/>
          <a:p>
            <a:r>
              <a:t>Process failures at multiple levels:</a:t>
            </a:r>
          </a:p>
          <a:p/>
          <a:p>
            <a:r>
              <a:t>1. **No branch protection** - Nothing prevented POC branches from being merged to the main production branch. No required approvals, no automated checks.</a:t>
            </a:r>
          </a:p>
          <a:p/>
          <a:p>
            <a:r>
              <a:t>2. **No pre-production testing gate** - The POC code apparently didn't go through proper UAT. Or if it did, the testing didn't catch that it was experimental code.</a:t>
            </a:r>
          </a:p>
          <a:p/>
          <a:p>
            <a:r>
              <a:t>3. **No quick rollback** - Six months of recovery suggests either (a) they didn't rollback to the previous stable version, or (b) they couldn't rollback because the deployment process doesn't support it.</a:t>
            </a:r>
          </a:p>
          <a:p/>
          <a:p>
            <a:r>
              <a:t>4. **Governance gap** - The fundamental issue: there was no change control. Spanish Point was making deployments without oversight.</a:t>
            </a:r>
          </a:p>
          <a:p/>
          <a:p>
            <a:r>
              <a:t>**The reactive response:**</a:t>
            </a:r>
          </a:p>
          <a:p/>
          <a:p>
            <a:r>
              <a:t>Yann established a CAB (Change Advisory Board) in May 2024 in response to this incident:</a:t>
            </a:r>
          </a:p>
          <a:p/>
          <a:p>
            <a:r>
              <a:t>&gt; "J'ai mis en place un CAB pour les déploiements parce qu'il n'y avait rien, il faisait tout quand il voulait sans même prévenir les déploiements."</a:t>
            </a:r>
          </a:p>
          <a:p>
            <a:r>
              <a:t>&gt;</a:t>
            </a:r>
          </a:p>
          <a:p>
            <a:r>
              <a:t>&gt; Translation: "I set up a CAB for deployments because there was nothing, they did everything when they wanted without even warning of deployments."</a:t>
            </a:r>
          </a:p>
          <a:p/>
          <a:p>
            <a:r>
              <a:t>This is good - but it's reactive, not proactive. The CAB should have existed from day one. Deployment control, change notification, expert review - these are standard governance practices, not optional extras.</a:t>
            </a:r>
          </a:p>
          <a:p/>
          <a:p>
            <a:r>
              <a:t>**Lesson:** Governance maturity was low before CISAC imposed controls. The vendor was operating without adequate oversight. The CAB stabilized the situation, but it shouldn't have taken a six-month crisis to establish basic change control.</a:t>
            </a:r>
          </a:p>
          <a:p/>
          <a:p>
            <a:r>
              <a:t>**Discussion Prompt:** Are there other governance incidents we should be aware of from before May 2024?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CAB implementation in May 2024 was a turning point. It closed the most critical governance gap - uncontrolled deployments.</a:t>
            </a:r>
          </a:p>
          <a:p/>
          <a:p>
            <a:r>
              <a:t>**Before CAB (Pre-May 2024):**</a:t>
            </a:r>
          </a:p>
          <a:p/>
          <a:p>
            <a:r>
              <a:t>Spanish Point was deploying to production without notification, without CISAC oversight, without change control. Yann's words: "They did everything when they wanted without even warning."</a:t>
            </a:r>
          </a:p>
          <a:p/>
          <a:p>
            <a:r>
              <a:t>This is unacceptable for a strategic information system. Deployments can introduce bugs, break features, change behavior. CISAC needs visibility and control.</a:t>
            </a:r>
          </a:p>
          <a:p/>
          <a:p>
            <a:r>
              <a:t>**After CAB (Since May 2024):**</a:t>
            </a:r>
          </a:p>
          <a:p/>
          <a:p>
            <a:r>
              <a:t>Now there's a controlled process:</a:t>
            </a:r>
          </a:p>
          <a:p/>
          <a:p>
            <a:r>
              <a:t>- Deployment history is tracked</a:t>
            </a:r>
          </a:p>
          <a:p>
            <a:r>
              <a:t>- Changes are notified in advance</a:t>
            </a:r>
          </a:p>
          <a:p>
            <a:r>
              <a:t>- Expert group reviews changes before production release</a:t>
            </a:r>
          </a:p>
          <a:p>
            <a:r>
              <a:t>- CAB approval required</a:t>
            </a:r>
          </a:p>
          <a:p/>
          <a:p>
            <a:r>
              <a:t>This is basic governance, but it's a significant improvement from zero governance.</a:t>
            </a:r>
          </a:p>
          <a:p/>
          <a:p>
            <a:r>
              <a:t>**The remaining gaps:**</a:t>
            </a:r>
          </a:p>
          <a:p/>
          <a:p>
            <a:r>
              <a:t>The CAB addresses deployment control, but broader governance gaps remain:</a:t>
            </a:r>
          </a:p>
          <a:p/>
          <a:p>
            <a:r>
              <a:t>1. **Definition of Done incomplete** - Documentation updates aren't required. Yann's position: "A proper DoD must include updating technical and functional documentation."</a:t>
            </a:r>
          </a:p>
          <a:p/>
          <a:p>
            <a:r>
              <a:t>   </a:t>
            </a:r>
          </a:p>
          <a:p/>
          <a:p>
            <a:r>
              <a:t>   Without this, specifications drift from implementation. Knowledge accumulates in people's heads instead of shared artifacts.</a:t>
            </a:r>
          </a:p>
          <a:p/>
          <a:p>
            <a:r>
              <a:t>2. **No Architecture Decision Records (ADR)** - When architectural decisions are made, the rationale isn't documented. Future teams won't know WHY decisions were made, making it hard to evolve the system intelligently.</a:t>
            </a:r>
          </a:p>
          <a:p/>
          <a:p>
            <a:r>
              <a:t>3. **Knowledge management undefined** - There's no process for capturing, organizing, and sharing knowledge. No onboarding process for new developers. No "lessons learned" repository.</a:t>
            </a:r>
          </a:p>
          <a:p/>
          <a:p>
            <a:r>
              <a:t>**Assessment:** CAB was a good reactive response, but proactive governance is still immature. More work needed to reach industry-standard practices.</a:t>
            </a:r>
          </a:p>
          <a:p/>
          <a:p>
            <a:r>
              <a:t>**Discussion Prompt:** Has the CAB been effective? What governance improvements have you seen since May 2024?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access challenges during this audit reveal a pattern that concerns us.</a:t>
            </a:r>
          </a:p>
          <a:p/>
          <a:p>
            <a:r>
              <a:t>**Timeline of delays:**</a:t>
            </a:r>
          </a:p>
          <a:p/>
          <a:p>
            <a:r>
              <a:t>October 20 (Workshop 1) - We requested code access. Initial response: legal/NDA concerns. Yann intervened, confirmed NDA was signed, and explicitly authorized access: "For all the other parts, yes, please give them access."</a:t>
            </a:r>
          </a:p>
          <a:p/>
          <a:p>
            <a:r>
              <a:t>Spanish Point's commitment: "Early next week" pending internal approval process.</a:t>
            </a:r>
          </a:p>
          <a:p/>
          <a:p>
            <a:r>
              <a:t>October 21 (Workshop 2) - Still pending, "procedure needs to go through internally."</a:t>
            </a:r>
          </a:p>
          <a:p/>
          <a:p>
            <a:r>
              <a:t>By October 24, we assessed that 25% of our audit duration was lost waiting for access.</a:t>
            </a:r>
          </a:p>
          <a:p/>
          <a:p>
            <a:r>
              <a:t>October 27 - We received .NET 3.1 code in ZIP format (no git history).</a:t>
            </a:r>
          </a:p>
          <a:p/>
          <a:p>
            <a:r>
              <a:t>November 4 - We received .NET 8 code (current production version).</a:t>
            </a:r>
          </a:p>
          <a:p/>
          <a:p>
            <a:r>
              <a:t>November 5 - We requested git commit history. Spanish Point's position: "Source code provided, history is internal working process." Compliance review pending. **Still pending today (Nov 24).**</a:t>
            </a:r>
          </a:p>
          <a:p/>
          <a:p>
            <a:r>
              <a:t>**Access outcome:**</a:t>
            </a:r>
          </a:p>
          <a:p/>
          <a:p>
            <a:r>
              <a:t>✅ **GRANTED:** Application source code (.NET 3.1 and .NET 8) - eventually delivered</a:t>
            </a:r>
          </a:p>
          <a:p/>
          <a:p>
            <a:r>
              <a:t>🔴 **BLOCKED:** Matching Engine source code - contractual restriction (only available upon contract termination)</a:t>
            </a:r>
          </a:p>
          <a:p/>
          <a:p>
            <a:r>
              <a:t>🟡 **PENDING:** Git commit history - compliance review ongoing for 3+ weeks</a:t>
            </a:r>
          </a:p>
          <a:p/>
          <a:p>
            <a:r>
              <a:t>🔴 **EXCLUDED:** IaC and CI/CD pipeline definitions - considered proprietary Smart AIM library</a:t>
            </a:r>
          </a:p>
          <a:p/>
          <a:p>
            <a:r>
              <a:t>**The pattern:**</a:t>
            </a:r>
          </a:p>
          <a:p/>
          <a:p>
            <a:r>
              <a:t>Every access request was questioned. The rationale evolved as different objections were addressed:</a:t>
            </a:r>
          </a:p>
          <a:p/>
          <a:p>
            <a:r>
              <a:t>1. First: Legal/NDA concerns</a:t>
            </a:r>
          </a:p>
          <a:p>
            <a:r>
              <a:t>2. Then: Technical difficulties opening access</a:t>
            </a:r>
          </a:p>
          <a:p>
            <a:r>
              <a:t>3. Then: Proprietary code separation</a:t>
            </a:r>
          </a:p>
          <a:p>
            <a:r>
              <a:t>4. Finally: Internal compliance review</a:t>
            </a:r>
          </a:p>
          <a:p/>
          <a:p>
            <a:r>
              <a:t>Guillaume's observation from the October 21 internal discussion:</a:t>
            </a:r>
          </a:p>
          <a:p/>
          <a:p>
            <a:r>
              <a:t>&gt; "J'ai pris une telle baffe hier, une telle froideur... eux aussi ils ont plein de trucs hyper propriétaires, mais les gens ils étaient enthousiastes, ils participaient au truc, il y avait un partenariat."</a:t>
            </a:r>
          </a:p>
          <a:p>
            <a:r>
              <a:t>&gt;</a:t>
            </a:r>
          </a:p>
          <a:p>
            <a:r>
              <a:t>&gt; Translation: "I took such a slap yesterday, such coldness... they also have lots of proprietary stuff, but people were enthusiastic, they participated in the thing, there was a partnership."</a:t>
            </a:r>
          </a:p>
          <a:p/>
          <a:p>
            <a:r>
              <a:t>This isn't a partnership attitude. It's a defensive posture. Contrast with Guillaume's experience auditing other vendors with proprietary systems - they were enthusiastic, participatory, collaborative.</a:t>
            </a:r>
          </a:p>
          <a:p/>
          <a:p>
            <a:r>
              <a:t>**Impact:** 25% of our audit budget lost to access delays. More importantly, this pattern suggests cultural issues in the vendor relationship that go beyond this audit.</a:t>
            </a:r>
          </a:p>
          <a:p/>
          <a:p>
            <a:r>
              <a:t>**Discussion Prompt:** Have you experienced similar patterns in other interactions with Spanish 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Documentation drift is a governance symptom, not just a documentation problem.</a:t>
            </a:r>
          </a:p>
          <a:p/>
          <a:p>
            <a:r>
              <a:t>**The situation:**</a:t>
            </a:r>
          </a:p>
          <a:p/>
          <a:p>
            <a:r>
              <a:t>Most specification documents were last modified in 2019-2020 during the original implementation. CISAC has a team "tearing their hair out" trying to re-document the system because the existing docs are confusing and disorganized.</a:t>
            </a:r>
          </a:p>
          <a:p/>
          <a:p>
            <a:r>
              <a:t>Yann's description in our October 21 discussion:</a:t>
            </a:r>
          </a:p>
          <a:p/>
          <a:p>
            <a:r>
              <a:t>&gt; "La documentation n'est pas disponible quand on le veut... Il faut que nous repassions derrière le fournisseur pour pouvoir classer notre documentation parce que c'est confus tout ça."</a:t>
            </a:r>
          </a:p>
          <a:p>
            <a:r>
              <a:t>&gt;</a:t>
            </a:r>
          </a:p>
          <a:p>
            <a:r>
              <a:t>&gt; Translation: "Documentation is not available when we want it... We have to go back behind the supplier to be able to classify our documentation because it's all confusing."</a:t>
            </a:r>
          </a:p>
          <a:p/>
          <a:p>
            <a:r>
              <a:t>**Our investigation:**</a:t>
            </a:r>
          </a:p>
          <a:p/>
          <a:p>
            <a:r>
              <a:t>When we finally got access to the code, we used LLM-assisted reconciliation to compare the 2019-2020 specifications against the .NET 3.1 codebase. Result: **minimal drift found.**</a:t>
            </a:r>
          </a:p>
          <a:p/>
          <a:p>
            <a:r>
              <a:t>This is both good and bad:</a:t>
            </a:r>
          </a:p>
          <a:p/>
          <a:p>
            <a:r>
              <a:t>**Good:** The specifications are still mostly accurate (they match the code)</a:t>
            </a:r>
          </a:p>
          <a:p/>
          <a:p>
            <a:r>
              <a:t>**Bad:** This suggests the system hasn't evolved much in 5+ years. Limited feature development since launch. The platform is relatively static.</a:t>
            </a:r>
          </a:p>
          <a:p/>
          <a:p>
            <a:r>
              <a:t>**The root cause: Definition of Done gap**</a:t>
            </a:r>
          </a:p>
          <a:p/>
          <a:p>
            <a:r>
              <a:t>Documentation drift happens when the Definition of Done doesn't include documentation updates. Based on Yann's testimony, this appears to be the case.</a:t>
            </a:r>
          </a:p>
          <a:p/>
          <a:p>
            <a:r>
              <a:t>Yann's position in the October 21 discussion:</a:t>
            </a:r>
          </a:p>
          <a:p/>
          <a:p>
            <a:r>
              <a:t>&gt; "Donc pour moi, un DoD digne de ce nom doit embarquer la mise à jour des documentations, qu'elles soient techniques ou fonctionnelles."</a:t>
            </a:r>
          </a:p>
          <a:p>
            <a:r>
              <a:t>&gt;</a:t>
            </a:r>
          </a:p>
          <a:p>
            <a:r>
              <a:t>&gt; Translation: "So for me, a proper DoD must include updating technical and functional documentation."</a:t>
            </a:r>
          </a:p>
          <a:p/>
          <a:p>
            <a:r>
              <a:t>Current DoD (inferred): Feature implemented + tests pass = done</a:t>
            </a:r>
          </a:p>
          <a:p/>
          <a:p>
            <a:r>
              <a:t>Recommended DoD: Feature implemented + tests written and passing + technical docs updated + functional specs updated + business logic commented + peer review = done</a:t>
            </a:r>
          </a:p>
          <a:p/>
          <a:p>
            <a:r>
              <a:t>**This isn't optional. It's how you prevent knowledge from being locked in people's heads.**</a:t>
            </a:r>
          </a:p>
          <a:p/>
          <a:p>
            <a:r>
              <a:t>Without documentation updates in the DoD, every feature delivery increases technical debt. Every bug fix that isn't documented makes the system harder to maintain. Every architectural decision without an ADR makes future changes riskier.</a:t>
            </a:r>
          </a:p>
          <a:p/>
          <a:p>
            <a:r>
              <a:t>**Recommendation:** Negotiate enhanced Definition of Done as part of contract renegotiation. Make documentation updates non-negotiable for feature delivery.</a:t>
            </a:r>
          </a:p>
          <a:p/>
          <a:p>
            <a:r>
              <a:t>**Discussion Prompt:** Has documentation improved since May 2024 CAB, or is this still an ongoing issue?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address the elephant in the room: the vendor relationship dynamics.</a:t>
            </a:r>
          </a:p>
          <a:p/>
          <a:p>
            <a:r>
              <a:t>**The contrast:**</a:t>
            </a:r>
          </a:p>
          <a:p/>
          <a:p>
            <a:r>
              <a:t>Guillaume has audited other complex systems with proprietary components. His observation:</a:t>
            </a:r>
          </a:p>
          <a:p/>
          <a:p>
            <a:r>
              <a:t>&gt; "I've audited other vendors with lots of proprietary stuff, but people were enthusiastic, they participated in the thing, there was a partnership."</a:t>
            </a:r>
          </a:p>
          <a:p/>
          <a:p>
            <a:r>
              <a:t>His experience with Workshop 1 (October 20):</a:t>
            </a:r>
          </a:p>
          <a:p/>
          <a:p>
            <a:r>
              <a:t>&gt; "I took such a slap yesterday, such coldness."</a:t>
            </a:r>
          </a:p>
          <a:p/>
          <a:p>
            <a:r>
              <a:t>This isn't about proprietary code or technical complexity. It's about attitude. Partnership vs. defensive posture.</a:t>
            </a:r>
          </a:p>
          <a:p/>
          <a:p>
            <a:r>
              <a:t>**Yann's experience:**</a:t>
            </a:r>
          </a:p>
          <a:p/>
          <a:p>
            <a:r>
              <a:t>Yann described the transparency problem in our October 21 internal discussion:</a:t>
            </a:r>
          </a:p>
          <a:p/>
          <a:p>
            <a:r>
              <a:t>&gt; "There's a real transparency problem. I can't work with people in transparency... I've never had a discussion like I'm having with you [audit team], with the [Spanish Point] team."</a:t>
            </a:r>
          </a:p>
          <a:p/>
          <a:p>
            <a:r>
              <a:t>And:</a:t>
            </a:r>
          </a:p>
          <a:p/>
          <a:p>
            <a:r>
              <a:t>&gt; "When you ask for something, it's always 'for what purpose', etc."</a:t>
            </a:r>
          </a:p>
          <a:p/>
          <a:p>
            <a:r>
              <a:t>**Specific transparency gaps we observed:**</a:t>
            </a:r>
          </a:p>
          <a:p/>
          <a:p>
            <a:r>
              <a:t>1. **Cost correlation** - No automated tooling, manual investigation required, 3-month log retention</a:t>
            </a:r>
          </a:p>
          <a:p/>
          <a:p>
            <a:r>
              <a:t>2. **Performance metrics** - No proactive dashboard, relying on Spanish Point claims</a:t>
            </a:r>
          </a:p>
          <a:p/>
          <a:p>
            <a:r>
              <a:t>3. **Git history** - "History is internal working process," 3+ weeks compliance review</a:t>
            </a:r>
          </a:p>
          <a:p/>
          <a:p>
            <a:r>
              <a:t>4. **IaC templates** - Proprietary library, not included in delivery</a:t>
            </a:r>
          </a:p>
          <a:p/>
          <a:p>
            <a:r>
              <a:t>5. **Access requests** - Systematic questioning, sequential objections, reluctant sharing</a:t>
            </a:r>
          </a:p>
          <a:p/>
          <a:p>
            <a:r>
              <a:t>**This is a pattern, not isolated incidents.**</a:t>
            </a:r>
          </a:p>
          <a:p/>
          <a:p>
            <a:r>
              <a:t>**Why does this matter?**</a:t>
            </a:r>
          </a:p>
          <a:p/>
          <a:p>
            <a:r>
              <a:t>CISAC cannot manage a strategic information system without transparency. You need:</a:t>
            </a:r>
          </a:p>
          <a:p/>
          <a:p>
            <a:r>
              <a:t>- Cost visibility to explain spending and forecast budgets</a:t>
            </a:r>
          </a:p>
          <a:p>
            <a:r>
              <a:t>- Performance data to validate vendor claims</a:t>
            </a:r>
          </a:p>
          <a:p>
            <a:r>
              <a:t>- Code history to understand evolution and risk</a:t>
            </a:r>
          </a:p>
          <a:p>
            <a:r>
              <a:t>- IaC templates to enable vendor independence</a:t>
            </a:r>
          </a:p>
          <a:p>
            <a:r>
              <a:t>- Open information sharing to make informed decisions</a:t>
            </a:r>
          </a:p>
          <a:p/>
          <a:p>
            <a:r>
              <a:t>**A healthy vendor relationship provides these proactively.** They don't wait for you to ask. They don't question your purpose. They share information because partnership requires transparency.</a:t>
            </a:r>
          </a:p>
          <a:p/>
          <a:p>
            <a:r>
              <a:t>**Yann's strategic conclusion:**</a:t>
            </a:r>
          </a:p>
          <a:p/>
          <a:p>
            <a:r>
              <a:t>&gt; "My medium-term vision is to get rid of them, quite simply. Because I cannot manage an IS that I don't control, and currently I have no control at all."</a:t>
            </a:r>
          </a:p>
          <a:p/>
          <a:p>
            <a:r>
              <a:t>**Discussion Prompt:** Beyond this audit, what other transparency issues have you encountered?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10362895" cy="1371600"/>
          </a:xfrm>
          <a:prstGeom prst="rect">
            <a:avLst/>
          </a:prstGeom>
          <a:noFill/>
        </p:spPr>
        <p:txBody>
          <a:bodyPr wrap="none">
            <a:spAutoFit/>
          </a:bodyPr>
          <a:lstStyle/>
          <a:p>
            <a:pPr algn="ctr">
              <a:defRPr sz="5400" b="1">
                <a:solidFill>
                  <a:srgbClr val="4169E1"/>
                </a:solidFill>
              </a:defRPr>
            </a:pPr>
            <a:r>
              <a:t>PART 4: Governance Findings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The May 2024 Production Incident - A Wake-Up Call</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May-June 2024 Production Incident</a:t>
            </a:r>
          </a:p>
          <a:p>
            <a:pPr>
              <a:defRPr sz="1400">
                <a:solidFill>
                  <a:srgbClr val="000000"/>
                </a:solidFill>
              </a:defRPr>
            </a:pPr>
            <a:r>
              <a:t>"Six months of hell, incessant incidents"</a:t>
            </a:r>
          </a:p>
          <a:p>
            <a:pPr>
              <a:defRPr sz="1400">
                <a:solidFill>
                  <a:srgbClr val="000000"/>
                </a:solidFill>
              </a:defRPr>
            </a:pPr>
          </a:p>
          <a:p>
            <a:pPr>
              <a:defRPr sz="1800" b="1">
                <a:solidFill>
                  <a:srgbClr val="000000"/>
                </a:solidFill>
              </a:defRPr>
            </a:pPr>
            <a:r>
              <a:t>What Happened:</a:t>
            </a:r>
          </a:p>
          <a:p>
            <a:pPr>
              <a:defRPr sz="1400">
                <a:solidFill>
                  <a:srgbClr val="000000"/>
                </a:solidFill>
              </a:defRPr>
            </a:pPr>
            <a:r>
              <a:t>┌─────────────────────────────────────────────────────────┐</a:t>
            </a:r>
          </a:p>
          <a:p>
            <a:pPr>
              <a:defRPr sz="1400">
                <a:solidFill>
                  <a:srgbClr val="000000"/>
                </a:solidFill>
              </a:defRPr>
            </a:pPr>
            <a:r>
              <a:t>│ POC code from unrelated project accidentally merged to  │</a:t>
            </a:r>
          </a:p>
          <a:p>
            <a:pPr>
              <a:defRPr sz="1400">
                <a:solidFill>
                  <a:srgbClr val="000000"/>
                </a:solidFill>
              </a:defRPr>
            </a:pPr>
            <a:r>
              <a:t>│ production branch and deployed to production            │</a:t>
            </a:r>
          </a:p>
          <a:p>
            <a:pPr>
              <a:defRPr sz="1400">
                <a:solidFill>
                  <a:srgbClr val="000000"/>
                </a:solidFill>
              </a:defRPr>
            </a:pPr>
            <a:r>
              <a:t>•────────────────────────────────────────────────────────┘</a:t>
            </a:r>
          </a:p>
          <a:p>
            <a:pPr>
              <a:defRPr sz="1400">
                <a:solidFill>
                  <a:srgbClr val="000000"/>
                </a:solidFill>
              </a:defRPr>
            </a:pPr>
          </a:p>
          <a:p>
            <a:pPr>
              <a:defRPr sz="1800" b="1">
                <a:solidFill>
                  <a:srgbClr val="000000"/>
                </a:solidFill>
              </a:defRPr>
            </a:pPr>
            <a:r>
              <a:t>Root Cause:</a:t>
            </a:r>
          </a:p>
          <a:p>
            <a:pPr>
              <a:defRPr sz="1400">
                <a:solidFill>
                  <a:srgbClr val="000000"/>
                </a:solidFill>
              </a:defRPr>
            </a:pPr>
            <a:r>
              <a:t>• No branch protection preventing POC merges</a:t>
            </a:r>
          </a:p>
          <a:p>
            <a:pPr>
              <a:defRPr sz="1400">
                <a:solidFill>
                  <a:srgbClr val="000000"/>
                </a:solidFill>
              </a:defRPr>
            </a:pPr>
            <a:r>
              <a:t>• No pre-production testing gate caught the issue</a:t>
            </a:r>
          </a:p>
          <a:p>
            <a:pPr>
              <a:defRPr sz="1400">
                <a:solidFill>
                  <a:srgbClr val="000000"/>
                </a:solidFill>
              </a:defRPr>
            </a:pPr>
            <a:r>
              <a:t>• No rollback executed (or couldn't rollback)</a:t>
            </a:r>
          </a:p>
          <a:p>
            <a:pPr>
              <a:defRPr sz="1400">
                <a:solidFill>
                  <a:srgbClr val="000000"/>
                </a:solidFill>
              </a:defRPr>
            </a:pPr>
            <a:r>
              <a:t>• Governance gap allowed uncontrolled deployment</a:t>
            </a:r>
          </a:p>
          <a:p>
            <a:pPr>
              <a:defRPr sz="1400">
                <a:solidFill>
                  <a:srgbClr val="000000"/>
                </a:solidFill>
              </a:defRPr>
            </a:pPr>
          </a:p>
          <a:p>
            <a:pPr>
              <a:defRPr sz="1800" b="1">
                <a:solidFill>
                  <a:srgbClr val="000000"/>
                </a:solidFill>
              </a:defRPr>
            </a:pPr>
            <a:r>
              <a:t>Impact:</a:t>
            </a:r>
          </a:p>
          <a:p>
            <a:pPr>
              <a:defRPr sz="1400">
                <a:solidFill>
                  <a:srgbClr val="000000"/>
                </a:solidFill>
              </a:defRPr>
            </a:pPr>
            <a:r>
              <a:t>• 6 months continuous incident recovery</a:t>
            </a:r>
          </a:p>
          <a:p>
            <a:pPr>
              <a:defRPr sz="1400">
                <a:solidFill>
                  <a:srgbClr val="000000"/>
                </a:solidFill>
              </a:defRPr>
            </a:pPr>
            <a:r>
              <a:t>• User complaints, system instability</a:t>
            </a:r>
          </a:p>
          <a:p>
            <a:pPr>
              <a:defRPr sz="1400">
                <a:solidFill>
                  <a:srgbClr val="000000"/>
                </a:solidFill>
              </a:defRPr>
            </a:pPr>
            <a:r>
              <a:t>• CISAC resources consumed troubleshooting</a:t>
            </a:r>
          </a:p>
          <a:p>
            <a:pPr>
              <a:defRPr sz="1400">
                <a:solidFill>
                  <a:srgbClr val="000000"/>
                </a:solidFill>
              </a:defRPr>
            </a:pPr>
            <a:r>
              <a:t>• Trust in vendor relationship damaged</a:t>
            </a:r>
          </a:p>
          <a:p>
            <a:pPr>
              <a:defRPr sz="1400">
                <a:solidFill>
                  <a:srgbClr val="000000"/>
                </a:solidFill>
              </a:defRPr>
            </a:pPr>
          </a:p>
          <a:p>
            <a:pPr>
              <a:defRPr sz="1800" b="1">
                <a:solidFill>
                  <a:srgbClr val="000000"/>
                </a:solidFill>
              </a:defRPr>
            </a:pPr>
            <a:r>
              <a:t>Recovery:</a:t>
            </a:r>
          </a:p>
          <a:p>
            <a:pPr>
              <a:defRPr sz="1400">
                <a:solidFill>
                  <a:srgbClr val="000000"/>
                </a:solidFill>
              </a:defRPr>
            </a:pPr>
            <a:r>
              <a:t>• CAB (Change Advisory Board) established May 2024</a:t>
            </a:r>
          </a:p>
          <a:p>
            <a:pPr>
              <a:defRPr sz="1400">
                <a:solidFill>
                  <a:srgbClr val="000000"/>
                </a:solidFill>
              </a:defRPr>
            </a:pPr>
            <a:r>
              <a:t>• Deployment control and notification process</a:t>
            </a:r>
          </a:p>
          <a:p>
            <a:pPr>
              <a:defRPr sz="1400">
                <a:solidFill>
                  <a:srgbClr val="000000"/>
                </a:solidFill>
              </a:defRPr>
            </a:pPr>
            <a:r>
              <a:t>• Expert group review before production releases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Before/After CAB - Control Gap Closed (Partially)</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Before CAB (Pre-May 2024)          After CAB (Since May 2024)</a:t>
            </a:r>
          </a:p>
          <a:p>
            <a:pPr>
              <a:defRPr sz="1400">
                <a:solidFill>
                  <a:srgbClr val="000000"/>
                </a:solidFill>
              </a:defRPr>
            </a:pPr>
          </a:p>
          <a:p>
            <a:pPr>
              <a:defRPr sz="1600">
                <a:solidFill>
                  <a:srgbClr val="DC143C"/>
                </a:solidFill>
              </a:defRPr>
            </a:pPr>
            <a:r>
              <a:t>❌ No deployment tracking           ✅ Deployment history tracking</a:t>
            </a:r>
          </a:p>
          <a:p>
            <a:pPr>
              <a:defRPr sz="1600">
                <a:solidFill>
                  <a:srgbClr val="DC143C"/>
                </a:solidFill>
              </a:defRPr>
            </a:pPr>
            <a:r>
              <a:t>❌ No change notification           ✅ Controlled deployment schedule</a:t>
            </a:r>
          </a:p>
          <a:p>
            <a:pPr>
              <a:defRPr sz="1600">
                <a:solidFill>
                  <a:srgbClr val="DC143C"/>
                </a:solidFill>
              </a:defRPr>
            </a:pPr>
            <a:r>
              <a:t>❌ No governance oversight          ✅ Expert group review</a:t>
            </a:r>
          </a:p>
          <a:p>
            <a:pPr>
              <a:defRPr sz="1600">
                <a:solidFill>
                  <a:srgbClr val="DC143C"/>
                </a:solidFill>
              </a:defRPr>
            </a:pPr>
            <a:r>
              <a:t>❌ Uncontrolled production releases ✅ CAB approval required</a:t>
            </a:r>
          </a:p>
          <a:p>
            <a:pPr>
              <a:defRPr sz="1600">
                <a:solidFill>
                  <a:srgbClr val="DC143C"/>
                </a:solidFill>
              </a:defRPr>
            </a:pPr>
            <a:r>
              <a:t>❌ "They did everything when        ✅ Deployment control process</a:t>
            </a:r>
          </a:p>
          <a:p>
            <a:pPr>
              <a:defRPr sz="1400">
                <a:solidFill>
                  <a:srgbClr val="000000"/>
                </a:solidFill>
              </a:defRPr>
            </a:pPr>
            <a:r>
              <a:t>they wanted without warning"</a:t>
            </a:r>
          </a:p>
          <a:p>
            <a:pPr>
              <a:defRPr sz="1400">
                <a:solidFill>
                  <a:srgbClr val="000000"/>
                </a:solidFill>
              </a:defRPr>
            </a:pPr>
          </a:p>
          <a:p>
            <a:pPr>
              <a:defRPr sz="1800" b="1">
                <a:solidFill>
                  <a:srgbClr val="000000"/>
                </a:solidFill>
              </a:defRPr>
            </a:pPr>
            <a:r>
              <a:t>Remaining Gaps:</a:t>
            </a:r>
          </a:p>
          <a:p>
            <a:pPr>
              <a:defRPr sz="1400">
                <a:solidFill>
                  <a:srgbClr val="000000"/>
                </a:solidFill>
              </a:defRPr>
            </a:pPr>
          </a:p>
          <a:p>
            <a:pPr>
              <a:defRPr sz="1600">
                <a:solidFill>
                  <a:srgbClr val="FF8C00"/>
                </a:solidFill>
              </a:defRPr>
            </a:pPr>
            <a:r>
              <a:t>⚠️  Definition of Done incomplete (documentation updates not required)</a:t>
            </a:r>
          </a:p>
          <a:p>
            <a:pPr>
              <a:defRPr sz="1600">
                <a:solidFill>
                  <a:srgbClr val="FF8C00"/>
                </a:solidFill>
              </a:defRPr>
            </a:pPr>
            <a:r>
              <a:t>⚠️  No Architecture Decision Records (ADR)</a:t>
            </a:r>
          </a:p>
          <a:p>
            <a:pPr>
              <a:defRPr sz="1600">
                <a:solidFill>
                  <a:srgbClr val="FF8C00"/>
                </a:solidFill>
              </a:defRPr>
            </a:pPr>
            <a:r>
              <a:t>⚠️  Knowledge management processes undefined</a:t>
            </a:r>
          </a:p>
          <a:p>
            <a:pPr>
              <a:defRPr sz="1600">
                <a:solidFill>
                  <a:srgbClr val="FF8C00"/>
                </a:solidFill>
              </a:defRPr>
            </a:pPr>
            <a:r>
              <a:t>⚠️  Onboarding processes non-existent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Access Challenges Timeline - 25% Audit Duration Lost</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Access Challenges Timeline</a:t>
            </a:r>
          </a:p>
          <a:p>
            <a:pPr>
              <a:defRPr sz="1400">
                <a:solidFill>
                  <a:srgbClr val="000000"/>
                </a:solidFill>
              </a:defRPr>
            </a:pPr>
          </a:p>
          <a:p>
            <a:pPr>
              <a:defRPr sz="1800" b="1">
                <a:solidFill>
                  <a:srgbClr val="000000"/>
                </a:solidFill>
              </a:defRPr>
            </a:pPr>
            <a:r>
              <a:t>October 20, 2025 - Workshop 1</a:t>
            </a:r>
          </a:p>
          <a:p>
            <a:pPr>
              <a:defRPr sz="1400">
                <a:solidFill>
                  <a:srgbClr val="000000"/>
                </a:solidFill>
              </a:defRPr>
            </a:pPr>
            <a:r>
              <a:t>• Code access requested</a:t>
            </a:r>
          </a:p>
          <a:p>
            <a:pPr>
              <a:defRPr sz="1400">
                <a:solidFill>
                  <a:srgbClr val="000000"/>
                </a:solidFill>
              </a:defRPr>
            </a:pPr>
            <a:r>
              <a:t>• Initial refusal: "Legal/NDA concerns"</a:t>
            </a:r>
          </a:p>
          <a:p>
            <a:pPr>
              <a:defRPr sz="1400">
                <a:solidFill>
                  <a:srgbClr val="000000"/>
                </a:solidFill>
              </a:defRPr>
            </a:pPr>
            <a:r>
              <a:t>• Yann intervention: "We have NDA signed, please give access"</a:t>
            </a:r>
          </a:p>
          <a:p>
            <a:pPr>
              <a:defRPr sz="1400">
                <a:solidFill>
                  <a:srgbClr val="000000"/>
                </a:solidFill>
              </a:defRPr>
            </a:pPr>
            <a:r>
              <a:t>• Commitment: "Early next week" (pending internal approval)</a:t>
            </a:r>
          </a:p>
          <a:p>
            <a:pPr>
              <a:defRPr sz="1400">
                <a:solidFill>
                  <a:srgbClr val="000000"/>
                </a:solidFill>
              </a:defRPr>
            </a:pPr>
          </a:p>
          <a:p>
            <a:pPr>
              <a:defRPr sz="1800" b="1">
                <a:solidFill>
                  <a:srgbClr val="000000"/>
                </a:solidFill>
              </a:defRPr>
            </a:pPr>
            <a:r>
              <a:t>October 21, 2025 - Workshop 2</a:t>
            </a:r>
          </a:p>
          <a:p>
            <a:pPr>
              <a:defRPr sz="1400">
                <a:solidFill>
                  <a:srgbClr val="000000"/>
                </a:solidFill>
              </a:defRPr>
            </a:pPr>
            <a:r>
              <a:t>• Access status: "Procedure needs to go through internally"</a:t>
            </a:r>
          </a:p>
          <a:p>
            <a:pPr>
              <a:defRPr sz="1400">
                <a:solidFill>
                  <a:srgbClr val="000000"/>
                </a:solidFill>
              </a:defRPr>
            </a:pPr>
          </a:p>
          <a:p>
            <a:pPr>
              <a:defRPr sz="1800" b="1">
                <a:solidFill>
                  <a:srgbClr val="000000"/>
                </a:solidFill>
              </a:defRPr>
            </a:pPr>
            <a:r>
              <a:t>October 24, 2025 - Audit Status</a:t>
            </a:r>
          </a:p>
          <a:p>
            <a:pPr>
              <a:defRPr sz="1400">
                <a:solidFill>
                  <a:srgbClr val="000000"/>
                </a:solidFill>
              </a:defRPr>
            </a:pPr>
            <a:r>
              <a:t>• Assessment: "25% of audit duration lost waiting for access"</a:t>
            </a:r>
          </a:p>
          <a:p>
            <a:pPr>
              <a:defRPr sz="1400">
                <a:solidFill>
                  <a:srgbClr val="000000"/>
                </a:solidFill>
              </a:defRPr>
            </a:pPr>
          </a:p>
          <a:p>
            <a:pPr>
              <a:defRPr sz="1800" b="1">
                <a:solidFill>
                  <a:srgbClr val="000000"/>
                </a:solidFill>
              </a:defRPr>
            </a:pPr>
            <a:r>
              <a:t>October 27, 2025</a:t>
            </a:r>
          </a:p>
          <a:p>
            <a:pPr>
              <a:defRPr sz="1400">
                <a:solidFill>
                  <a:srgbClr val="000000"/>
                </a:solidFill>
              </a:defRPr>
            </a:pPr>
            <a:r>
              <a:t>• .NET 3.1 code received (ZIP format, no git history)</a:t>
            </a:r>
          </a:p>
          <a:p>
            <a:pPr>
              <a:defRPr sz="1400">
                <a:solidFill>
                  <a:srgbClr val="000000"/>
                </a:solidFill>
              </a:defRPr>
            </a:pPr>
          </a:p>
          <a:p>
            <a:pPr>
              <a:defRPr sz="1800" b="1">
                <a:solidFill>
                  <a:srgbClr val="000000"/>
                </a:solidFill>
              </a:defRPr>
            </a:pPr>
            <a:r>
              <a:t>October 30, 2025 - Checkpoint</a:t>
            </a:r>
          </a:p>
          <a:p>
            <a:pPr>
              <a:defRPr sz="1400">
                <a:solidFill>
                  <a:srgbClr val="000000"/>
                </a:solidFill>
              </a:defRPr>
            </a:pPr>
            <a:r>
              <a:t>• Matching Engine confirmed "black box" (contractual restriction)</a:t>
            </a:r>
          </a:p>
          <a:p>
            <a:pPr>
              <a:defRPr sz="1400">
                <a:solidFill>
                  <a:srgbClr val="000000"/>
                </a:solidFill>
              </a:defRPr>
            </a:pPr>
          </a:p>
          <a:p>
            <a:pPr>
              <a:defRPr sz="1800" b="1">
                <a:solidFill>
                  <a:srgbClr val="000000"/>
                </a:solidFill>
              </a:defRPr>
            </a:pPr>
            <a:r>
              <a:t>November 4, 2025</a:t>
            </a:r>
          </a:p>
          <a:p>
            <a:pPr>
              <a:defRPr sz="1400">
                <a:solidFill>
                  <a:srgbClr val="000000"/>
                </a:solidFill>
              </a:defRPr>
            </a:pPr>
            <a:r>
              <a:t>• .NET 8 code received (current production version)</a:t>
            </a:r>
          </a:p>
          <a:p>
            <a:pPr>
              <a:defRPr sz="1400">
                <a:solidFill>
                  <a:srgbClr val="000000"/>
                </a:solidFill>
              </a:defRPr>
            </a:pPr>
          </a:p>
          <a:p>
            <a:pPr>
              <a:defRPr sz="1800" b="1">
                <a:solidFill>
                  <a:srgbClr val="000000"/>
                </a:solidFill>
              </a:defRPr>
            </a:pPr>
            <a:r>
              <a:t>November 5, 2025</a:t>
            </a:r>
          </a:p>
          <a:p>
            <a:pPr>
              <a:defRPr sz="1400">
                <a:solidFill>
                  <a:srgbClr val="000000"/>
                </a:solidFill>
              </a:defRPr>
            </a:pPr>
            <a:r>
              <a:t>• Git history requested</a:t>
            </a:r>
          </a:p>
          <a:p>
            <a:pPr>
              <a:defRPr sz="1400">
                <a:solidFill>
                  <a:srgbClr val="000000"/>
                </a:solidFill>
              </a:defRPr>
            </a:pPr>
            <a:r>
              <a:t>• Status: Compliance review pending (still pending as of Nov 24)</a:t>
            </a:r>
          </a:p>
          <a:p>
            <a:pPr>
              <a:defRPr sz="1400">
                <a:solidFill>
                  <a:srgbClr val="000000"/>
                </a:solidFill>
              </a:defRPr>
            </a:pPr>
          </a:p>
          <a:p>
            <a:pPr>
              <a:defRPr sz="1800" b="1">
                <a:solidFill>
                  <a:srgbClr val="000000"/>
                </a:solidFill>
              </a:defRPr>
            </a:pPr>
            <a:r>
              <a:t>Access Outcome:</a:t>
            </a:r>
          </a:p>
          <a:p>
            <a:pPr>
              <a:defRPr sz="1600">
                <a:solidFill>
                  <a:srgbClr val="228B22"/>
                </a:solidFill>
              </a:defRPr>
            </a:pPr>
            <a:r>
              <a:t>✅ GRANTED: ISWC application source code (.NET 3.1 and .NET 8)</a:t>
            </a:r>
          </a:p>
          <a:p>
            <a:pPr>
              <a:defRPr sz="1600">
                <a:solidFill>
                  <a:srgbClr val="DC143C"/>
                </a:solidFill>
              </a:defRPr>
            </a:pPr>
            <a:r>
              <a:t>🔴 BLOCKED: Matching Engine source code (only on contract termination)</a:t>
            </a:r>
          </a:p>
          <a:p>
            <a:pPr>
              <a:defRPr sz="1400">
                <a:solidFill>
                  <a:srgbClr val="000000"/>
                </a:solidFill>
              </a:defRPr>
            </a:pPr>
            <a:r>
              <a:t>🟡 PENDING: Git commit history (compliance review ongoing)</a:t>
            </a:r>
          </a:p>
          <a:p>
            <a:pPr>
              <a:defRPr sz="1600">
                <a:solidFill>
                  <a:srgbClr val="DC143C"/>
                </a:solidFill>
              </a:defRPr>
            </a:pPr>
            <a:r>
              <a:t>🔴 EXCLUDED: IaC and CI/CD pipeline definitions (proprietary Smart AIM)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Documentation Drift - Specs from 2019</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Documentation Status Assessment</a:t>
            </a:r>
          </a:p>
          <a:p>
            <a:pPr>
              <a:defRPr sz="1400">
                <a:solidFill>
                  <a:srgbClr val="000000"/>
                </a:solidFill>
              </a:defRPr>
            </a:pPr>
          </a:p>
          <a:p>
            <a:pPr>
              <a:defRPr sz="1800" b="1">
                <a:solidFill>
                  <a:srgbClr val="000000"/>
                </a:solidFill>
              </a:defRPr>
            </a:pPr>
            <a:r>
              <a:t>Specification Documents Analysis:</a:t>
            </a:r>
          </a:p>
          <a:p>
            <a:pPr>
              <a:defRPr sz="1400">
                <a:solidFill>
                  <a:srgbClr val="000000"/>
                </a:solidFill>
              </a:defRPr>
            </a:pPr>
            <a:r>
              <a:t>┌─────────────────────────────────────────────────────┐</a:t>
            </a:r>
          </a:p>
          <a:p>
            <a:pPr>
              <a:defRPr sz="1400">
                <a:solidFill>
                  <a:srgbClr val="000000"/>
                </a:solidFill>
              </a:defRPr>
            </a:pPr>
            <a:r>
              <a:t>│ Most specifications last modified: 2019-2020        │</a:t>
            </a:r>
          </a:p>
          <a:p>
            <a:pPr>
              <a:defRPr sz="1400">
                <a:solidFill>
                  <a:srgbClr val="000000"/>
                </a:solidFill>
              </a:defRPr>
            </a:pPr>
            <a:r>
              <a:t>│ (Original implementation period)                    │</a:t>
            </a:r>
          </a:p>
          <a:p>
            <a:pPr>
              <a:defRPr sz="1400">
                <a:solidFill>
                  <a:srgbClr val="000000"/>
                </a:solidFill>
              </a:defRPr>
            </a:pPr>
            <a:r>
              <a:t>│                                                      │</a:t>
            </a:r>
          </a:p>
          <a:p>
            <a:pPr>
              <a:defRPr sz="1400">
                <a:solidFill>
                  <a:srgbClr val="000000"/>
                </a:solidFill>
              </a:defRPr>
            </a:pPr>
            <a:r>
              <a:t>│ Specification vs. Implementation Delta: UNKNOWN     │</a:t>
            </a:r>
          </a:p>
          <a:p>
            <a:pPr>
              <a:defRPr sz="1400">
                <a:solidFill>
                  <a:srgbClr val="000000"/>
                </a:solidFill>
              </a:defRPr>
            </a:pPr>
            <a:r>
              <a:t>│ (Until our LLM-assisted reconciliation)             │</a:t>
            </a:r>
          </a:p>
          <a:p>
            <a:pPr>
              <a:defRPr sz="1400">
                <a:solidFill>
                  <a:srgbClr val="000000"/>
                </a:solidFill>
              </a:defRPr>
            </a:pPr>
            <a:r>
              <a:t>•────────────────────────────────────────────────────┘</a:t>
            </a:r>
          </a:p>
          <a:p>
            <a:pPr>
              <a:defRPr sz="1400">
                <a:solidFill>
                  <a:srgbClr val="000000"/>
                </a:solidFill>
              </a:defRPr>
            </a:pPr>
          </a:p>
          <a:p>
            <a:pPr>
              <a:defRPr sz="1800" b="1">
                <a:solidFill>
                  <a:srgbClr val="000000"/>
                </a:solidFill>
              </a:defRPr>
            </a:pPr>
            <a:r>
              <a:t>Yann's Experience:</a:t>
            </a:r>
          </a:p>
          <a:p>
            <a:pPr>
              <a:defRPr sz="1400">
                <a:solidFill>
                  <a:srgbClr val="000000"/>
                </a:solidFill>
              </a:defRPr>
            </a:pPr>
            <a:r>
              <a:t>"La documentation n'est pas disponible quand on le veut, quand on le</a:t>
            </a:r>
          </a:p>
          <a:p>
            <a:pPr>
              <a:defRPr sz="1400">
                <a:solidFill>
                  <a:srgbClr val="000000"/>
                </a:solidFill>
              </a:defRPr>
            </a:pPr>
            <a:r>
              <a:t>demande. Il faut que nous repassions derrière le fournisseur pour</a:t>
            </a:r>
          </a:p>
          <a:p>
            <a:pPr>
              <a:defRPr sz="1400">
                <a:solidFill>
                  <a:srgbClr val="000000"/>
                </a:solidFill>
              </a:defRPr>
            </a:pPr>
            <a:r>
              <a:t>pouvoir classer notre documentation parce que c'est confus tout ça."</a:t>
            </a:r>
          </a:p>
          <a:p>
            <a:pPr>
              <a:defRPr sz="1400">
                <a:solidFill>
                  <a:srgbClr val="000000"/>
                </a:solidFill>
              </a:defRPr>
            </a:pPr>
          </a:p>
          <a:p>
            <a:pPr>
              <a:defRPr sz="1800" b="1">
                <a:solidFill>
                  <a:srgbClr val="000000"/>
                </a:solidFill>
              </a:defRPr>
            </a:pPr>
            <a:r>
              <a:t>Translation:</a:t>
            </a:r>
          </a:p>
          <a:p>
            <a:pPr>
              <a:defRPr sz="1400">
                <a:solidFill>
                  <a:srgbClr val="000000"/>
                </a:solidFill>
              </a:defRPr>
            </a:pPr>
            <a:r>
              <a:t>"Documentation is not available when we want it, when we ask for it.</a:t>
            </a:r>
          </a:p>
          <a:p>
            <a:pPr>
              <a:defRPr sz="1800" b="1">
                <a:solidFill>
                  <a:srgbClr val="000000"/>
                </a:solidFill>
              </a:defRPr>
            </a:pPr>
            <a:r>
              <a:t>We have to go back behind the supplier to be able to classify our</a:t>
            </a:r>
          </a:p>
          <a:p>
            <a:pPr>
              <a:defRPr sz="1400">
                <a:solidFill>
                  <a:srgbClr val="000000"/>
                </a:solidFill>
              </a:defRPr>
            </a:pPr>
            <a:r>
              <a:t>documentation because it's all confusing."</a:t>
            </a:r>
          </a:p>
          <a:p>
            <a:pPr>
              <a:defRPr sz="1400">
                <a:solidFill>
                  <a:srgbClr val="000000"/>
                </a:solidFill>
              </a:defRPr>
            </a:pPr>
          </a:p>
          <a:p>
            <a:pPr>
              <a:defRPr sz="1800" b="1">
                <a:solidFill>
                  <a:srgbClr val="000000"/>
                </a:solidFill>
              </a:defRPr>
            </a:pPr>
            <a:r>
              <a:t>Our Assessment (Oct 30):</a:t>
            </a:r>
          </a:p>
          <a:p>
            <a:pPr>
              <a:defRPr sz="1600">
                <a:solidFill>
                  <a:srgbClr val="228B22"/>
                </a:solidFill>
              </a:defRPr>
            </a:pPr>
            <a:r>
              <a:t>✅ Documentation extensive (100+ pages of specifications)</a:t>
            </a:r>
          </a:p>
          <a:p>
            <a:pPr>
              <a:defRPr sz="1600">
                <a:solidFill>
                  <a:srgbClr val="FF8C00"/>
                </a:solidFill>
              </a:defRPr>
            </a:pPr>
            <a:r>
              <a:t>⚠️  Disorganized and difficult to navigate</a:t>
            </a:r>
          </a:p>
          <a:p>
            <a:pPr>
              <a:defRPr sz="1600">
                <a:solidFill>
                  <a:srgbClr val="FF8C00"/>
                </a:solidFill>
              </a:defRPr>
            </a:pPr>
            <a:r>
              <a:t>⚠️  Currency unclear (last modified 2019-2020)</a:t>
            </a:r>
          </a:p>
          <a:p>
            <a:pPr>
              <a:defRPr sz="1600">
                <a:solidFill>
                  <a:srgbClr val="228B22"/>
                </a:solidFill>
              </a:defRPr>
            </a:pPr>
            <a:r>
              <a:t>✅ LLM-assisted reconciliation: Minimal drift vs .NET 3.1 code</a:t>
            </a:r>
          </a:p>
          <a:p>
            <a:pPr>
              <a:defRPr sz="1400">
                <a:solidFill>
                  <a:srgbClr val="000000"/>
                </a:solidFill>
              </a:defRPr>
            </a:pPr>
          </a:p>
          <a:p>
            <a:pPr>
              <a:defRPr sz="1800" b="1">
                <a:solidFill>
                  <a:srgbClr val="000000"/>
                </a:solidFill>
              </a:defRPr>
            </a:pPr>
            <a:r>
              <a:t>Finding:</a:t>
            </a:r>
          </a:p>
          <a:p>
            <a:pPr>
              <a:defRPr sz="1800" b="1">
                <a:solidFill>
                  <a:srgbClr val="000000"/>
                </a:solidFill>
              </a:defRPr>
            </a:pPr>
            <a:r>
              <a:t>System hasn't evolved much since 2019 launch</a:t>
            </a:r>
          </a:p>
          <a:p>
            <a:pPr>
              <a:defRPr sz="1400">
                <a:solidFill>
                  <a:srgbClr val="000000"/>
                </a:solidFill>
              </a:defRPr>
            </a:pPr>
            <a:r>
              <a:t>→ Pro: Specifications still mostly accurate</a:t>
            </a:r>
          </a:p>
          <a:p>
            <a:pPr>
              <a:defRPr sz="1400">
                <a:solidFill>
                  <a:srgbClr val="000000"/>
                </a:solidFill>
              </a:defRPr>
            </a:pPr>
            <a:r>
              <a:t>→ Con: Limited feature development in 5+ years</a:t>
            </a:r>
          </a:p>
          <a:p>
            <a:pPr>
              <a:defRPr sz="1800" b="1">
                <a:solidFill>
                  <a:srgbClr val="000000"/>
                </a:solidFill>
              </a:defRPr>
            </a:pPr>
            <a:r>
              <a:t>Current DoD (Inferred):          Recommended DoD:</a:t>
            </a:r>
          </a:p>
          <a:p>
            <a:pPr>
              <a:defRPr sz="1400">
                <a:solidFill>
                  <a:srgbClr val="000000"/>
                </a:solidFill>
              </a:defRPr>
            </a:pPr>
          </a:p>
          <a:p>
            <a:pPr>
              <a:defRPr sz="1600">
                <a:solidFill>
                  <a:srgbClr val="228B22"/>
                </a:solidFill>
              </a:defRPr>
            </a:pPr>
            <a:r>
              <a:t>✓ Feature implemented            ✓ Feature implemented</a:t>
            </a:r>
          </a:p>
          <a:p>
            <a:pPr>
              <a:defRPr sz="1600">
                <a:solidFill>
                  <a:srgbClr val="228B22"/>
                </a:solidFill>
              </a:defRPr>
            </a:pPr>
            <a:r>
              <a:t>✓ Tests pass                     ✓ Tests written and passing</a:t>
            </a:r>
          </a:p>
          <a:p>
            <a:pPr>
              <a:defRPr sz="1600">
                <a:solidFill>
                  <a:srgbClr val="DC143C"/>
                </a:solidFill>
              </a:defRPr>
            </a:pPr>
            <a:r>
              <a:t>❌ Technical docs updated         ✓ Technical docs updated</a:t>
            </a:r>
          </a:p>
          <a:p>
            <a:pPr>
              <a:defRPr sz="1600">
                <a:solidFill>
                  <a:srgbClr val="DC143C"/>
                </a:solidFill>
              </a:defRPr>
            </a:pPr>
            <a:r>
              <a:t>❌ Functional specs updated       ✓ Functional specs updated</a:t>
            </a:r>
          </a:p>
          <a:p>
            <a:pPr>
              <a:defRPr sz="1600">
                <a:solidFill>
                  <a:srgbClr val="DC143C"/>
                </a:solidFill>
              </a:defRPr>
            </a:pPr>
            <a:r>
              <a:t>❌ Code comments written          ✓ Business logic commented</a:t>
            </a:r>
          </a:p>
          <a:p>
            <a:pPr>
              <a:defRPr sz="1600">
                <a:solidFill>
                  <a:srgbClr val="228B22"/>
                </a:solidFill>
              </a:defRPr>
            </a:pPr>
            <a:r>
              <a:t>✓ Peer review completed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640080"/>
          </a:xfrm>
          <a:prstGeom prst="rect">
            <a:avLst/>
          </a:prstGeom>
          <a:noFill/>
        </p:spPr>
        <p:txBody>
          <a:bodyPr wrap="none">
            <a:spAutoFit/>
          </a:bodyPr>
          <a:lstStyle/>
          <a:p>
            <a:pPr>
              <a:defRPr sz="3600" b="1">
                <a:solidFill>
                  <a:srgbClr val="4169E1"/>
                </a:solidFill>
              </a:defRPr>
            </a:pPr>
            <a:r>
              <a:t>Slide  Transparency Issues - Pattern of Defensive Posture</a:t>
            </a:r>
          </a:p>
        </p:txBody>
      </p:sp>
      <p:sp>
        <p:nvSpPr>
          <p:cNvPr id="3" name="TextBox 2"/>
          <p:cNvSpPr txBox="1"/>
          <p:nvPr/>
        </p:nvSpPr>
        <p:spPr>
          <a:xfrm>
            <a:off x="457200" y="1005840"/>
            <a:ext cx="11277295" cy="5486400"/>
          </a:xfrm>
          <a:prstGeom prst="rect">
            <a:avLst/>
          </a:prstGeom>
          <a:noFill/>
        </p:spPr>
        <p:txBody>
          <a:bodyPr wrap="square">
            <a:spAutoFit/>
          </a:bodyPr>
          <a:lstStyle/>
          <a:p>
            <a:pPr>
              <a:defRPr sz="1800" b="1">
                <a:solidFill>
                  <a:srgbClr val="000000"/>
                </a:solidFill>
              </a:defRPr>
            </a:pPr>
            <a:r>
              <a:t>Partnership Attitude                    Defensive Posture</a:t>
            </a:r>
          </a:p>
          <a:p>
            <a:pPr>
              <a:defRPr sz="1400">
                <a:solidFill>
                  <a:srgbClr val="000000"/>
                </a:solidFill>
              </a:defRPr>
            </a:pPr>
          </a:p>
          <a:p>
            <a:pPr>
              <a:defRPr sz="1400">
                <a:solidFill>
                  <a:srgbClr val="000000"/>
                </a:solidFill>
              </a:defRPr>
            </a:pPr>
            <a:r>
              <a:t>"Enthusiastic, participatory,          "Cold atmosphere"</a:t>
            </a:r>
          </a:p>
          <a:p>
            <a:pPr>
              <a:defRPr sz="1400">
                <a:solidFill>
                  <a:srgbClr val="000000"/>
                </a:solidFill>
              </a:defRPr>
            </a:pPr>
            <a:r>
              <a:t>collaborative"                          (Guillaume's impression, Workshop 1)</a:t>
            </a:r>
          </a:p>
          <a:p>
            <a:pPr>
              <a:defRPr sz="1400">
                <a:solidFill>
                  <a:srgbClr val="000000"/>
                </a:solidFill>
              </a:defRPr>
            </a:pPr>
          </a:p>
          <a:p>
            <a:pPr>
              <a:defRPr sz="1400">
                <a:solidFill>
                  <a:srgbClr val="000000"/>
                </a:solidFill>
              </a:defRPr>
            </a:pPr>
            <a:r>
              <a:t>"People participated,                   "When you ask for something,</a:t>
            </a:r>
          </a:p>
          <a:p>
            <a:pPr>
              <a:defRPr sz="1400">
                <a:solidFill>
                  <a:srgbClr val="000000"/>
                </a:solidFill>
              </a:defRPr>
            </a:pPr>
            <a:r>
              <a:t>there was a partnership"                it's always 'for what purpose'"</a:t>
            </a:r>
          </a:p>
          <a:p>
            <a:pPr>
              <a:defRPr sz="1400">
                <a:solidFill>
                  <a:srgbClr val="000000"/>
                </a:solidFill>
              </a:defRPr>
            </a:pPr>
            <a:r>
              <a:t>(Guillaume's other audits)              (Yann's experience)</a:t>
            </a:r>
          </a:p>
          <a:p>
            <a:pPr>
              <a:defRPr sz="1400">
                <a:solidFill>
                  <a:srgbClr val="000000"/>
                </a:solidFill>
              </a:defRPr>
            </a:pPr>
          </a:p>
          <a:p>
            <a:pPr>
              <a:defRPr sz="1800" b="1">
                <a:solidFill>
                  <a:srgbClr val="000000"/>
                </a:solidFill>
              </a:defRPr>
            </a:pPr>
            <a:r>
              <a:t>Open information sharing                "Real transparency problem.</a:t>
            </a:r>
          </a:p>
          <a:p>
            <a:pPr>
              <a:defRPr sz="1400">
                <a:solidFill>
                  <a:srgbClr val="000000"/>
                </a:solidFill>
              </a:defRPr>
            </a:pPr>
            <a:r>
              <a:t>I've never had a discussion like</a:t>
            </a:r>
          </a:p>
          <a:p>
            <a:pPr>
              <a:defRPr sz="1400">
                <a:solidFill>
                  <a:srgbClr val="000000"/>
                </a:solidFill>
              </a:defRPr>
            </a:pPr>
            <a:r>
              <a:t>I'm having with you [audit team],</a:t>
            </a:r>
          </a:p>
          <a:p>
            <a:pPr>
              <a:defRPr sz="1400">
                <a:solidFill>
                  <a:srgbClr val="000000"/>
                </a:solidFill>
              </a:defRPr>
            </a:pPr>
            <a:r>
              <a:t>with the [Spanish Point] team."</a:t>
            </a:r>
          </a:p>
          <a:p>
            <a:pPr>
              <a:defRPr sz="1400">
                <a:solidFill>
                  <a:srgbClr val="000000"/>
                </a:solidFill>
              </a:defRPr>
            </a:pPr>
            <a:r>
              <a:t>(Yann, Oct 21)</a:t>
            </a:r>
          </a:p>
          <a:p>
            <a:pPr>
              <a:defRPr sz="1600">
                <a:solidFill>
                  <a:srgbClr val="DC143C"/>
                </a:solidFill>
              </a:defRPr>
            </a:pPr>
            <a:r>
              <a:t>❌ Cost Correlation</a:t>
            </a:r>
          </a:p>
          <a:p>
            <a:pPr lvl="1">
              <a:defRPr sz="1400">
                <a:solidFill>
                  <a:srgbClr val="000000"/>
                </a:solidFill>
              </a:defRPr>
            </a:pPr>
            <a:r>
              <a:t>• No automated tooling to explain monthly spending variations</a:t>
            </a:r>
          </a:p>
          <a:p>
            <a:pPr lvl="1">
              <a:defRPr sz="1400">
                <a:solidFill>
                  <a:srgbClr val="000000"/>
                </a:solidFill>
              </a:defRPr>
            </a:pPr>
            <a:r>
              <a:t>• Manual investigation required via support tickets</a:t>
            </a:r>
          </a:p>
          <a:p>
            <a:pPr lvl="1">
              <a:defRPr sz="1400">
                <a:solidFill>
                  <a:srgbClr val="000000"/>
                </a:solidFill>
              </a:defRPr>
            </a:pPr>
            <a:r>
              <a:t>• Logs kept only 3 months</a:t>
            </a:r>
          </a:p>
          <a:p>
            <a:pPr>
              <a:defRPr sz="1400">
                <a:solidFill>
                  <a:srgbClr val="000000"/>
                </a:solidFill>
              </a:defRPr>
            </a:pPr>
          </a:p>
          <a:p>
            <a:pPr>
              <a:defRPr sz="1600">
                <a:solidFill>
                  <a:srgbClr val="DC143C"/>
                </a:solidFill>
              </a:defRPr>
            </a:pPr>
            <a:r>
              <a:t>❌ Performance Metrics</a:t>
            </a:r>
          </a:p>
          <a:p>
            <a:pPr lvl="1">
              <a:defRPr sz="1400">
                <a:solidFill>
                  <a:srgbClr val="000000"/>
                </a:solidFill>
              </a:defRPr>
            </a:pPr>
            <a:r>
              <a:t>• No proactive dashboard sharing production metrics</a:t>
            </a:r>
          </a:p>
          <a:p>
            <a:pPr lvl="1">
              <a:defRPr sz="1400">
                <a:solidFill>
                  <a:srgbClr val="000000"/>
                </a:solidFill>
              </a:defRPr>
            </a:pPr>
            <a:r>
              <a:t>• Relies on Spanish Point claims rather than shared objective data</a:t>
            </a:r>
          </a:p>
          <a:p>
            <a:pPr lvl="1">
              <a:defRPr sz="1400">
                <a:solidFill>
                  <a:srgbClr val="000000"/>
                </a:solidFill>
              </a:defRPr>
            </a:pPr>
            <a:r>
              <a:t>• No formal SLAs for performance</a:t>
            </a:r>
          </a:p>
          <a:p>
            <a:pPr>
              <a:defRPr sz="1400">
                <a:solidFill>
                  <a:srgbClr val="000000"/>
                </a:solidFill>
              </a:defRPr>
            </a:pPr>
          </a:p>
          <a:p>
            <a:pPr>
              <a:defRPr sz="1600">
                <a:solidFill>
                  <a:srgbClr val="DC143C"/>
                </a:solidFill>
              </a:defRPr>
            </a:pPr>
            <a:r>
              <a:t>❌ Git History</a:t>
            </a:r>
          </a:p>
          <a:p>
            <a:pPr lvl="1">
              <a:defRPr sz="1400">
                <a:solidFill>
                  <a:srgbClr val="000000"/>
                </a:solidFill>
              </a:defRPr>
            </a:pPr>
            <a:r>
              <a:t>• "Source code provided, history is internal working process"</a:t>
            </a:r>
          </a:p>
          <a:p>
            <a:pPr lvl="1">
              <a:defRPr sz="1400">
                <a:solidFill>
                  <a:srgbClr val="000000"/>
                </a:solidFill>
              </a:defRPr>
            </a:pPr>
            <a:r>
              <a:t>• 3+ weeks compliance review (still pending)</a:t>
            </a:r>
          </a:p>
          <a:p>
            <a:pPr>
              <a:defRPr sz="1400">
                <a:solidFill>
                  <a:srgbClr val="000000"/>
                </a:solidFill>
              </a:defRPr>
            </a:pPr>
          </a:p>
          <a:p>
            <a:pPr>
              <a:defRPr sz="1600">
                <a:solidFill>
                  <a:srgbClr val="DC143C"/>
                </a:solidFill>
              </a:defRPr>
            </a:pPr>
            <a:r>
              <a:t>❌ IaC Templates</a:t>
            </a:r>
          </a:p>
          <a:p>
            <a:pPr lvl="1">
              <a:defRPr sz="1400">
                <a:solidFill>
                  <a:srgbClr val="000000"/>
                </a:solidFill>
              </a:defRPr>
            </a:pPr>
            <a:r>
              <a:t>• Considered proprietary library</a:t>
            </a:r>
          </a:p>
          <a:p>
            <a:pPr lvl="1">
              <a:defRPr sz="1400">
                <a:solidFill>
                  <a:srgbClr val="000000"/>
                </a:solidFill>
              </a:defRPr>
            </a:pPr>
            <a:r>
              <a:t>• Not included in source delivery</a:t>
            </a:r>
          </a:p>
          <a:p>
            <a:pPr lvl="1">
              <a:defRPr sz="1400">
                <a:solidFill>
                  <a:srgbClr val="000000"/>
                </a:solidFill>
              </a:defRPr>
            </a:pPr>
            <a:r>
              <a:t>• Creates vendor lock-in</a:t>
            </a:r>
          </a:p>
          <a:p>
            <a:pPr>
              <a:defRPr sz="1400">
                <a:solidFill>
                  <a:srgbClr val="000000"/>
                </a:solidFill>
              </a:defRPr>
            </a:pPr>
          </a:p>
          <a:p>
            <a:pPr>
              <a:defRPr sz="1600">
                <a:solidFill>
                  <a:srgbClr val="DC143C"/>
                </a:solidFill>
              </a:defRPr>
            </a:pPr>
            <a:r>
              <a:t>❌ Access Requests</a:t>
            </a:r>
          </a:p>
          <a:p>
            <a:pPr lvl="1">
              <a:defRPr sz="1400">
                <a:solidFill>
                  <a:srgbClr val="000000"/>
                </a:solidFill>
              </a:defRPr>
            </a:pPr>
            <a:r>
              <a:t>• Systematic questions about purpose</a:t>
            </a:r>
          </a:p>
          <a:p>
            <a:pPr lvl="1">
              <a:defRPr sz="1400">
                <a:solidFill>
                  <a:srgbClr val="000000"/>
                </a:solidFill>
              </a:defRPr>
            </a:pPr>
            <a:r>
              <a:t>• Multiple objections raised sequentially</a:t>
            </a:r>
          </a:p>
          <a:p>
            <a:pPr lvl="1">
              <a:defRPr sz="1400">
                <a:solidFill>
                  <a:srgbClr val="000000"/>
                </a:solidFill>
              </a:defRPr>
            </a:pPr>
            <a:r>
              <a:t>• Information shared reluctantly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