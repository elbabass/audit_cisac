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good news - and there's a lot of it.</a:t>
            </a:r>
          </a:p>
          <a:p/>
          <a:p>
            <a:r>
              <a:t>**Architecture:** The system is well-architected. We documented the full C4 model - 12 containers with clear responsibilities, clean separation between components. The Matching Engine, despite being a lock-in concern, is properly separated via REST API (not embedded code). This is good engineering.</a:t>
            </a:r>
          </a:p>
          <a:p/>
          <a:p>
            <a:r>
              <a:t>**Code Quality:** When we finally got access to the code, our first impression was "not bad." The codebase is well-structured, easy to navigate. Bastien and Guillaume both noted it follows good practices - dependency injection, interface abstractions, proper layering.</a:t>
            </a:r>
          </a:p>
          <a:p/>
          <a:p>
            <a:r>
              <a:t>**Recent Upgrades:** Spanish Point just upgraded the entire platform from .NET 3.1 (which went end-of-life in December 2022) to .NET 8. This is significant - they addressed a major technical debt item. React, TypeScript, Entity Framework all updated to modern versions. Security vulnerabilities from outdated packages addressed.</a:t>
            </a:r>
          </a:p>
          <a:p/>
          <a:p>
            <a:r>
              <a:t>**DevOps:** The CI/CD pipeline is fully automated. 700+ tests run on every build. Zero manual deployment steps. Build, test, package, deploy - one click per environment with approval gates. This is mature DevOps.</a:t>
            </a:r>
          </a:p>
          <a:p/>
          <a:p>
            <a:r>
              <a:t>**Performance:** Spanish Point claims no significant performance issues in the past year. Auto-scaling is configured and working - the monthly cost variations we see are evidence of this (costs go down in December when usage drops, up in February when agencies upload more files).</a:t>
            </a:r>
          </a:p>
          <a:p/>
          <a:p>
            <a:r>
              <a:t>**The platform works. It's well-built. It's recently upgraded. This is important context for everything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challenges. These are not technical failures - they are control gaps.</a:t>
            </a:r>
          </a:p>
          <a:p/>
          <a:p>
            <a:r>
              <a:t>**Vendor Lock-in (CRITICAL):**</a:t>
            </a:r>
          </a:p>
          <a:p/>
          <a:p>
            <a:r>
              <a:t>We identified three lock-in mechanisms:</a:t>
            </a:r>
          </a:p>
          <a:p/>
          <a:p>
            <a:r>
              <a:t>1. **Matching Engine contractual restriction** - The source code is only accessible upon contract termination. This creates a catch-22: you cannot assess alternatives without leaving your current vendor. And as Yann noted, even if you got the code, "we wouldn't be able to maintain it ourselves."</a:t>
            </a:r>
          </a:p>
          <a:p/>
          <a:p>
            <a:r>
              <a:t>   </a:t>
            </a:r>
          </a:p>
          <a:p/>
          <a:p>
            <a:r>
              <a:t>2. **IaC proprietary library** - The infrastructure-as-code templates and CI/CD pipeline definitions are NOT included in the source code delivery. Spanish Point considers these part of their "Smart AIM library." If you switch vendors, you must either (a) reverse-engineer 343 Azure resources from the portal, or (b) license the Smart AIM library for your new vendor.</a:t>
            </a:r>
          </a:p>
          <a:p/>
          <a:p>
            <a:r>
              <a:t>   </a:t>
            </a:r>
          </a:p>
          <a:p/>
          <a:p>
            <a:r>
              <a:t>3. **Implicit knowledge** - Very little code commenting. Significant duplication. No onboarding process. Knowledge locked in developers' heads. Guillaume said it bluntly: "Even for them, onboarding new developers must be hard."</a:t>
            </a:r>
          </a:p>
          <a:p/>
          <a:p>
            <a:r>
              <a:t>   </a:t>
            </a:r>
          </a:p>
          <a:p/>
          <a:p>
            <a:r>
              <a:t>**Knowledge Transfer Risk (CRITICAL):**</a:t>
            </a:r>
          </a:p>
          <a:p/>
          <a:p>
            <a:r>
              <a:t>This is the biggest unknown. Can another vendor take over this system? We don't know. The code is readable but under-documented. The architecture is complex ("tentacular" dependencies). Spanish Point themselves warned us: "You're going to be surprised... it's actually very complicated."</a:t>
            </a:r>
          </a:p>
          <a:p/>
          <a:p>
            <a:r>
              <a:t>**Before CISAC commits to any vendor switch strategy, this must be tested.** We recommend a pilot: assign a small feature to an independent vendor. See if they can deliver with only the handover materials available. This is a €10-20K litmus test for a multi-million-euro strategic decision.</a:t>
            </a:r>
          </a:p>
          <a:p/>
          <a:p>
            <a:r>
              <a:t>**Cost Control Gap (CRITICAL):**</a:t>
            </a:r>
          </a:p>
          <a:p/>
          <a:p>
            <a:r>
              <a:t>€600K/year is being spent with no automated correlation between usage and costs. When we asked Spanish Point if there's tooling to correlate monthly cost spikes with usage patterns, Xiyuan said: "Not really... there's no tooling."</a:t>
            </a:r>
          </a:p>
          <a:p/>
          <a:p>
            <a:r>
              <a:t>Cost investigations require manual support tickets. Spanish Point can dig into specific months, but logs are only kept 3 months. There's no proactive monitoring.</a:t>
            </a:r>
          </a:p>
          <a:p/>
          <a:p>
            <a:r>
              <a:t>They acknowledged "noisy neighbor" agencies - a few agencies drive most of the costs - but no allocation model exists. All agencies pay flat rates regardless of usage.</a:t>
            </a:r>
          </a:p>
          <a:p/>
          <a:p>
            <a:r>
              <a:t>**Governance Gaps (HIGH):**</a:t>
            </a:r>
          </a:p>
          <a:p/>
          <a:p>
            <a:r>
              <a:t>The May-June 2024 production incident speaks volumes. POC code from an unrelated project was merged to the production branch and deployed. It took 6 months to recover. Yann's words: "Six mois de galère, d'incidents incessants" (six months of hell, incessant incidents).</a:t>
            </a:r>
          </a:p>
          <a:p/>
          <a:p>
            <a:r>
              <a:t>Why did this happen? Because there was no deployment tracking, no change control, no governance. Spanish Point "did everything when they wanted without even warning." Yann established the CAB in response - reactively, not proactively.</a:t>
            </a:r>
          </a:p>
          <a:p/>
          <a:p>
            <a:r>
              <a:t>The Definition of Done doesn't include documentation updates. Specs drift from implementation. Knowledge accumulates in people's heads instead of in shared artifacts.</a:t>
            </a:r>
          </a:p>
          <a:p/>
          <a:p>
            <a:r>
              <a:t>**Discussion Prompt:** Which of these challenges resonates most with your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synthesize this into three critical findings:</a:t>
            </a:r>
          </a:p>
          <a:p/>
          <a:p>
            <a:r>
              <a:t>**Finding 1: Vendor lock-in is real, but manageable.**</a:t>
            </a:r>
          </a:p>
          <a:p/>
          <a:p>
            <a:r>
              <a:t>The good news: the Matching Engine is physically separated via REST API. The application code is reasonably structured. A vendor switch is technically possible.</a:t>
            </a:r>
          </a:p>
          <a:p/>
          <a:p>
            <a:r>
              <a:t>The bad news: it would take 12-24 months and cost an estimated €300-600K. These are preliminary numbers with LOW confidence - we need detailed vendor proposals to validate. The Matching Engine is contractually restricted. IaC must be rebuilt or licensed. Knowledge transfer is unproven.</a:t>
            </a:r>
          </a:p>
          <a:p/>
          <a:p>
            <a:r>
              <a:t>The key unknown: Do alternative matching engines exist that could replace Spanish Point's solution? We haven't researched the market. This should be CISAC's next step - not to commit to switching, but to understand your options.</a:t>
            </a:r>
          </a:p>
          <a:p/>
          <a:p>
            <a:r>
              <a:t>**Finding 2: Knowledge transfer viability is unknown - THIS IS THE HIGHEST RISK.**</a:t>
            </a:r>
          </a:p>
          <a:p/>
          <a:p>
            <a:r>
              <a:t>Everything else we can estimate, analyze, plan for. But we cannot confirm whether another vendor could actually maintain this system.</a:t>
            </a:r>
          </a:p>
          <a:p/>
          <a:p>
            <a:r>
              <a:t>The code is readable, yes. The architecture is documented, yes. But:</a:t>
            </a:r>
          </a:p>
          <a:p/>
          <a:p>
            <a:r>
              <a:t>- Minimal code comments mean business logic is implicit</a:t>
            </a:r>
          </a:p>
          <a:p>
            <a:r>
              <a:t>- Significant duplication increases cognitive load</a:t>
            </a:r>
          </a:p>
          <a:p>
            <a:r>
              <a:t>- No local dev environment setup guide</a:t>
            </a:r>
          </a:p>
          <a:p>
            <a:r>
              <a:t>- No "how to contribute" onboarding</a:t>
            </a:r>
          </a:p>
          <a:p>
            <a:r>
              <a:t>- Spanish Point's own warning: "Many developers touched it and modified it"</a:t>
            </a:r>
          </a:p>
          <a:p/>
          <a:p>
            <a:r>
              <a:t>**Before CISAC makes any strategic decision about vendor independence, you MUST test this.** Assign a small feature to an independent vendor. Give them the source code, documentation, and a feature spec. See if they can deliver. See what questions they ask. See how Spanish Point responds to handover requests.</a:t>
            </a:r>
          </a:p>
          <a:p/>
          <a:p>
            <a:r>
              <a:t>This is a €10-20K investment to de-risk a potentially multi-million-euro strategic mistake.</a:t>
            </a:r>
          </a:p>
          <a:p/>
          <a:p>
            <a:r>
              <a:t>**Finding 3: Cost control gap is solvable.**</a:t>
            </a:r>
          </a:p>
          <a:p/>
          <a:p>
            <a:r>
              <a:t>Unlike the first two findings (which are strategic challenges requiring months to address), the cost control gap can be solved relatively quickly.</a:t>
            </a:r>
          </a:p>
          <a:p/>
          <a:p>
            <a:r>
              <a:t>The auto-scaling is working correctly. The cost variations are evidence of this - December drops, February peaks match usage patterns. The architecture is cost-efficient.</a:t>
            </a:r>
          </a:p>
          <a:p/>
          <a:p>
            <a:r>
              <a:t>What's missing: **visibility**. CISAC's financial stakeholders cannot explain why costs went up 10% in February. There's no automated dashboard showing "API calls increased 15%, Cosmos DB throughput scaled up, Databricks processed 20% more files = €5K additional spend."</a:t>
            </a:r>
          </a:p>
          <a:p/>
          <a:p>
            <a:r>
              <a:t>Spanish Point should provide this. If they won't or can't, CISAC can build it using API Management analytics + Azure Cost Management APIs. This is a 2-3 month development effort, not a multi-year strategic challenge.</a:t>
            </a:r>
          </a:p>
          <a:p/>
          <a:p>
            <a:r>
              <a:t>**These three findings drive all our recommendations.**</a:t>
            </a:r>
          </a:p>
          <a:p/>
          <a:p>
            <a:r>
              <a:t>**Discussion Prompt:** Are there other critical findings you expected to see that are missing?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2895" cy="1371600"/>
          </a:xfrm>
          <a:prstGeom prst="rect">
            <a:avLst/>
          </a:prstGeom>
          <a:noFill/>
        </p:spPr>
        <p:txBody>
          <a:bodyPr wrap="none">
            <a:spAutoFit/>
          </a:bodyPr>
          <a:lstStyle/>
          <a:p>
            <a:pPr algn="ctr">
              <a:defRPr sz="5400" b="1">
                <a:solidFill>
                  <a:srgbClr val="4169E1"/>
                </a:solidFill>
              </a:defRPr>
            </a:pPr>
            <a:r>
              <a:t>PART 2: Executive Summary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The Good News - Platform Technically Sound</a:t>
            </a:r>
          </a:p>
        </p:txBody>
      </p:sp>
      <p:sp>
        <p:nvSpPr>
          <p:cNvPr id="3" name="TextBox 2"/>
          <p:cNvSpPr txBox="1"/>
          <p:nvPr/>
        </p:nvSpPr>
        <p:spPr>
          <a:xfrm>
            <a:off x="457200" y="1005840"/>
            <a:ext cx="11277295" cy="5486400"/>
          </a:xfrm>
          <a:prstGeom prst="rect">
            <a:avLst/>
          </a:prstGeom>
          <a:noFill/>
        </p:spPr>
        <p:txBody>
          <a:bodyPr wrap="square">
            <a:spAutoFit/>
          </a:bodyPr>
          <a:lstStyle/>
          <a:p>
            <a:pPr>
              <a:defRPr sz="1600">
                <a:solidFill>
                  <a:srgbClr val="228B22"/>
                </a:solidFill>
              </a:defRPr>
            </a:pPr>
            <a:r>
              <a:t>✅ Platform Quality Assessment</a:t>
            </a:r>
          </a:p>
          <a:p>
            <a:pPr>
              <a:defRPr sz="1400">
                <a:solidFill>
                  <a:srgbClr val="000000"/>
                </a:solidFill>
              </a:defRPr>
            </a:pPr>
          </a:p>
          <a:p>
            <a:pPr>
              <a:defRPr sz="1800" b="1">
                <a:solidFill>
                  <a:srgbClr val="000000"/>
                </a:solidFill>
              </a:defRPr>
            </a:pPr>
            <a:r>
              <a:t>Architecture</a:t>
            </a:r>
          </a:p>
          <a:p>
            <a:pPr>
              <a:defRPr sz="1600">
                <a:solidFill>
                  <a:srgbClr val="228B22"/>
                </a:solidFill>
              </a:defRPr>
            </a:pPr>
            <a:r>
              <a:t>✓ Well-designed C4 architecture (12 containers, clean separation)</a:t>
            </a:r>
          </a:p>
          <a:p>
            <a:pPr>
              <a:defRPr sz="1600">
                <a:solidFill>
                  <a:srgbClr val="228B22"/>
                </a:solidFill>
              </a:defRPr>
            </a:pPr>
            <a:r>
              <a:t>✓ Matching Engine physically separated (REST API integration)</a:t>
            </a:r>
          </a:p>
          <a:p>
            <a:pPr>
              <a:defRPr sz="1600">
                <a:solidFill>
                  <a:srgbClr val="228B22"/>
                </a:solidFill>
              </a:defRPr>
            </a:pPr>
            <a:r>
              <a:t>✓ Azure-native services with industry-standard patterns</a:t>
            </a:r>
          </a:p>
          <a:p>
            <a:pPr>
              <a:defRPr sz="1400">
                <a:solidFill>
                  <a:srgbClr val="000000"/>
                </a:solidFill>
              </a:defRPr>
            </a:pPr>
          </a:p>
          <a:p>
            <a:pPr>
              <a:defRPr sz="1800" b="1">
                <a:solidFill>
                  <a:srgbClr val="000000"/>
                </a:solidFill>
              </a:defRPr>
            </a:pPr>
            <a:r>
              <a:t>Code Quality</a:t>
            </a:r>
          </a:p>
          <a:p>
            <a:pPr>
              <a:defRPr sz="1600">
                <a:solidFill>
                  <a:srgbClr val="228B22"/>
                </a:solidFill>
              </a:defRPr>
            </a:pPr>
            <a:r>
              <a:t>✓ Well-structured, easy to navigate</a:t>
            </a:r>
          </a:p>
          <a:p>
            <a:pPr>
              <a:defRPr sz="1600">
                <a:solidFill>
                  <a:srgbClr val="228B22"/>
                </a:solidFill>
              </a:defRPr>
            </a:pPr>
            <a:r>
              <a:t>✓ Dependency injection, interface abstractions</a:t>
            </a:r>
          </a:p>
          <a:p>
            <a:pPr>
              <a:defRPr sz="1600">
                <a:solidFill>
                  <a:srgbClr val="228B22"/>
                </a:solidFill>
              </a:defRPr>
            </a:pPr>
            <a:r>
              <a:t>✓ Clean separation of concerns (Controllers, Services, Repositories)</a:t>
            </a:r>
          </a:p>
          <a:p>
            <a:pPr>
              <a:defRPr sz="1400">
                <a:solidFill>
                  <a:srgbClr val="000000"/>
                </a:solidFill>
              </a:defRPr>
            </a:pPr>
          </a:p>
          <a:p>
            <a:pPr>
              <a:defRPr sz="1800" b="1">
                <a:solidFill>
                  <a:srgbClr val="000000"/>
                </a:solidFill>
              </a:defRPr>
            </a:pPr>
            <a:r>
              <a:t>Recent Upgrades</a:t>
            </a:r>
          </a:p>
          <a:p>
            <a:pPr>
              <a:defRPr sz="1600">
                <a:solidFill>
                  <a:srgbClr val="228B22"/>
                </a:solidFill>
              </a:defRPr>
            </a:pPr>
            <a:r>
              <a:t>✓ .NET 3.1 → .NET 8.0 (upgraded Nov 4, 2025)</a:t>
            </a:r>
          </a:p>
          <a:p>
            <a:pPr>
              <a:defRPr sz="1600">
                <a:solidFill>
                  <a:srgbClr val="228B22"/>
                </a:solidFill>
              </a:defRPr>
            </a:pPr>
            <a:r>
              <a:t>✓ React 16.12 → 18.3.1</a:t>
            </a:r>
          </a:p>
          <a:p>
            <a:pPr>
              <a:defRPr sz="1600">
                <a:solidFill>
                  <a:srgbClr val="228B22"/>
                </a:solidFill>
              </a:defRPr>
            </a:pPr>
            <a:r>
              <a:t>✓ TypeScript 3.7.3 → 5.6.3</a:t>
            </a:r>
          </a:p>
          <a:p>
            <a:pPr>
              <a:defRPr sz="1600">
                <a:solidFill>
                  <a:srgbClr val="228B22"/>
                </a:solidFill>
              </a:defRPr>
            </a:pPr>
            <a:r>
              <a:t>✓ Entity Framework 3.1 → 8.0</a:t>
            </a:r>
          </a:p>
          <a:p>
            <a:pPr>
              <a:defRPr sz="1600">
                <a:solidFill>
                  <a:srgbClr val="228B22"/>
                </a:solidFill>
              </a:defRPr>
            </a:pPr>
            <a:r>
              <a:t>✓ Security vulnerabilities addressed</a:t>
            </a:r>
          </a:p>
          <a:p>
            <a:pPr>
              <a:defRPr sz="1400">
                <a:solidFill>
                  <a:srgbClr val="000000"/>
                </a:solidFill>
              </a:defRPr>
            </a:pPr>
          </a:p>
          <a:p>
            <a:pPr>
              <a:defRPr sz="1800" b="1">
                <a:solidFill>
                  <a:srgbClr val="000000"/>
                </a:solidFill>
              </a:defRPr>
            </a:pPr>
            <a:r>
              <a:t>DevOps Maturity</a:t>
            </a:r>
          </a:p>
          <a:p>
            <a:pPr>
              <a:defRPr sz="1600">
                <a:solidFill>
                  <a:srgbClr val="228B22"/>
                </a:solidFill>
              </a:defRPr>
            </a:pPr>
            <a:r>
              <a:t>✓ Fully automated CI/CD pipeline (20-30 min build + test + deploy)</a:t>
            </a:r>
          </a:p>
          <a:p>
            <a:pPr>
              <a:defRPr sz="1600">
                <a:solidFill>
                  <a:srgbClr val="228B22"/>
                </a:solidFill>
              </a:defRPr>
            </a:pPr>
            <a:r>
              <a:t>✓ 700+ automated tests</a:t>
            </a:r>
          </a:p>
          <a:p>
            <a:pPr>
              <a:defRPr sz="1600">
                <a:solidFill>
                  <a:srgbClr val="228B22"/>
                </a:solidFill>
              </a:defRPr>
            </a:pPr>
            <a:r>
              <a:t>✓ Multi-stage deployment (Dev → UAT → Production)</a:t>
            </a:r>
          </a:p>
          <a:p>
            <a:pPr>
              <a:defRPr sz="1600">
                <a:solidFill>
                  <a:srgbClr val="228B22"/>
                </a:solidFill>
              </a:defRPr>
            </a:pPr>
            <a:r>
              <a:t>✓ Auto-scaling functioning correctly (cost variations = feature, not bug)</a:t>
            </a:r>
          </a:p>
          <a:p>
            <a:pPr>
              <a:defRPr sz="1400">
                <a:solidFill>
                  <a:srgbClr val="000000"/>
                </a:solidFill>
              </a:defRPr>
            </a:pPr>
          </a:p>
          <a:p>
            <a:pPr>
              <a:defRPr sz="1800" b="1">
                <a:solidFill>
                  <a:srgbClr val="000000"/>
                </a:solidFill>
              </a:defRPr>
            </a:pPr>
            <a:r>
              <a:t>Performance</a:t>
            </a:r>
          </a:p>
          <a:p>
            <a:pPr>
              <a:defRPr sz="1600">
                <a:solidFill>
                  <a:srgbClr val="228B22"/>
                </a:solidFill>
              </a:defRPr>
            </a:pPr>
            <a:r>
              <a:t>✓ No significant issues reported in past year</a:t>
            </a:r>
          </a:p>
          <a:p>
            <a:pPr>
              <a:defRPr sz="1600">
                <a:solidFill>
                  <a:srgbClr val="228B22"/>
                </a:solidFill>
              </a:defRPr>
            </a:pPr>
            <a:r>
              <a:t>✓ Auto-scaling handling load variations</a:t>
            </a:r>
          </a:p>
          <a:p>
            <a:pPr>
              <a:defRPr sz="1600">
                <a:solidFill>
                  <a:srgbClr val="228B22"/>
                </a:solidFill>
              </a:defRPr>
            </a:pPr>
            <a:r>
              <a:t>✓ Monitoring alerts configured (CPU &gt;80% = email)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The Challenge - Where Control is Missing</a:t>
            </a:r>
          </a:p>
        </p:txBody>
      </p:sp>
      <p:sp>
        <p:nvSpPr>
          <p:cNvPr id="3" name="TextBox 2"/>
          <p:cNvSpPr txBox="1"/>
          <p:nvPr/>
        </p:nvSpPr>
        <p:spPr>
          <a:xfrm>
            <a:off x="457200" y="1005840"/>
            <a:ext cx="11277295" cy="5486400"/>
          </a:xfrm>
          <a:prstGeom prst="rect">
            <a:avLst/>
          </a:prstGeom>
          <a:noFill/>
        </p:spPr>
        <p:txBody>
          <a:bodyPr wrap="square">
            <a:spAutoFit/>
          </a:bodyPr>
          <a:lstStyle/>
          <a:p>
            <a:pPr>
              <a:defRPr sz="1600">
                <a:solidFill>
                  <a:srgbClr val="FF8C00"/>
                </a:solidFill>
              </a:defRPr>
            </a:pPr>
            <a:r>
              <a:t>⚠️  Governance &amp; Control Challenges</a:t>
            </a:r>
          </a:p>
          <a:p>
            <a:pPr>
              <a:defRPr sz="1400">
                <a:solidFill>
                  <a:srgbClr val="000000"/>
                </a:solidFill>
              </a:defRPr>
            </a:pPr>
          </a:p>
          <a:p>
            <a:pPr>
              <a:defRPr sz="1600">
                <a:solidFill>
                  <a:srgbClr val="DC143C"/>
                </a:solidFill>
              </a:defRPr>
            </a:pPr>
            <a:r>
              <a:t>🔴 CRITICAL: Vendor Lock-in Mechanisms</a:t>
            </a:r>
          </a:p>
          <a:p>
            <a:pPr lvl="1">
              <a:defRPr sz="1400">
                <a:solidFill>
                  <a:srgbClr val="000000"/>
                </a:solidFill>
              </a:defRPr>
            </a:pPr>
            <a:r>
              <a:t>• Matching Engine source code (contractual restriction - only on termination)</a:t>
            </a:r>
          </a:p>
          <a:p>
            <a:pPr lvl="1">
              <a:defRPr sz="1400">
                <a:solidFill>
                  <a:srgbClr val="000000"/>
                </a:solidFill>
              </a:defRPr>
            </a:pPr>
            <a:r>
              <a:t>• IaC templates (proprietary Smart AIM library - not included in delivery)</a:t>
            </a:r>
          </a:p>
          <a:p>
            <a:pPr lvl="1">
              <a:defRPr sz="1400">
                <a:solidFill>
                  <a:srgbClr val="000000"/>
                </a:solidFill>
              </a:defRPr>
            </a:pPr>
            <a:r>
              <a:t>• Implicit knowledge (minimal comments, no onboarding process)</a:t>
            </a:r>
          </a:p>
          <a:p>
            <a:pPr>
              <a:defRPr sz="1400">
                <a:solidFill>
                  <a:srgbClr val="000000"/>
                </a:solidFill>
              </a:defRPr>
            </a:pPr>
          </a:p>
          <a:p>
            <a:pPr>
              <a:defRPr sz="1600">
                <a:solidFill>
                  <a:srgbClr val="DC143C"/>
                </a:solidFill>
              </a:defRPr>
            </a:pPr>
            <a:r>
              <a:t>🔴 CRITICAL: Knowledge Transfer Viability Unknown</a:t>
            </a:r>
          </a:p>
          <a:p>
            <a:pPr lvl="1">
              <a:defRPr sz="1400">
                <a:solidFill>
                  <a:srgbClr val="000000"/>
                </a:solidFill>
              </a:defRPr>
            </a:pPr>
            <a:r>
              <a:t>• "Even for them, onboarding new developers must be hard"</a:t>
            </a:r>
          </a:p>
          <a:p>
            <a:pPr lvl="1">
              <a:defRPr sz="1400">
                <a:solidFill>
                  <a:srgbClr val="000000"/>
                </a:solidFill>
              </a:defRPr>
            </a:pPr>
            <a:r>
              <a:t>• Code duplication, minimal documentation</a:t>
            </a:r>
          </a:p>
          <a:p>
            <a:pPr lvl="1">
              <a:defRPr sz="1400">
                <a:solidFill>
                  <a:srgbClr val="000000"/>
                </a:solidFill>
              </a:defRPr>
            </a:pPr>
            <a:r>
              <a:t>• No local dev environment feasible within audit timeframe</a:t>
            </a:r>
          </a:p>
          <a:p>
            <a:pPr lvl="1">
              <a:defRPr sz="1400">
                <a:solidFill>
                  <a:srgbClr val="000000"/>
                </a:solidFill>
              </a:defRPr>
            </a:pPr>
            <a:r>
              <a:t>• WARNING: Cannot confirm another vendor could maintain this</a:t>
            </a:r>
          </a:p>
          <a:p>
            <a:pPr>
              <a:defRPr sz="1400">
                <a:solidFill>
                  <a:srgbClr val="000000"/>
                </a:solidFill>
              </a:defRPr>
            </a:pPr>
          </a:p>
          <a:p>
            <a:pPr>
              <a:defRPr sz="1600">
                <a:solidFill>
                  <a:srgbClr val="DC143C"/>
                </a:solidFill>
              </a:defRPr>
            </a:pPr>
            <a:r>
              <a:t>🔴 CRITICAL: Cost Control Gap</a:t>
            </a:r>
          </a:p>
          <a:p>
            <a:pPr lvl="1">
              <a:defRPr sz="1400">
                <a:solidFill>
                  <a:srgbClr val="000000"/>
                </a:solidFill>
              </a:defRPr>
            </a:pPr>
            <a:r>
              <a:t>• €600K/year spending (€50K/month average)</a:t>
            </a:r>
          </a:p>
          <a:p>
            <a:pPr lvl="1">
              <a:defRPr sz="1400">
                <a:solidFill>
                  <a:srgbClr val="000000"/>
                </a:solidFill>
              </a:defRPr>
            </a:pPr>
            <a:r>
              <a:t>• No automated correlation: usage metrics → Azure costs</a:t>
            </a:r>
          </a:p>
          <a:p>
            <a:pPr lvl="1">
              <a:defRPr sz="1400">
                <a:solidFill>
                  <a:srgbClr val="000000"/>
                </a:solidFill>
              </a:defRPr>
            </a:pPr>
            <a:r>
              <a:t>• Cannot explain monthly variations to stakeholders</a:t>
            </a:r>
          </a:p>
          <a:p>
            <a:pPr lvl="1">
              <a:defRPr sz="1400">
                <a:solidFill>
                  <a:srgbClr val="000000"/>
                </a:solidFill>
              </a:defRPr>
            </a:pPr>
            <a:r>
              <a:t>• "Noisy neighbor" agencies identified but no allocation model</a:t>
            </a:r>
          </a:p>
          <a:p>
            <a:pPr>
              <a:defRPr sz="1400">
                <a:solidFill>
                  <a:srgbClr val="000000"/>
                </a:solidFill>
              </a:defRPr>
            </a:pPr>
          </a:p>
          <a:p>
            <a:pPr>
              <a:defRPr sz="1600">
                <a:solidFill>
                  <a:srgbClr val="FF8C00"/>
                </a:solidFill>
              </a:defRPr>
            </a:pPr>
            <a:r>
              <a:t>🟠 HIGH: Governance Gaps</a:t>
            </a:r>
          </a:p>
          <a:p>
            <a:pPr lvl="1">
              <a:defRPr sz="1400">
                <a:solidFill>
                  <a:srgbClr val="000000"/>
                </a:solidFill>
              </a:defRPr>
            </a:pPr>
            <a:r>
              <a:t>• May 2024 production incident: 6 months recovery time</a:t>
            </a:r>
          </a:p>
          <a:p>
            <a:pPr lvl="1">
              <a:defRPr sz="1400">
                <a:solidFill>
                  <a:srgbClr val="000000"/>
                </a:solidFill>
              </a:defRPr>
            </a:pPr>
            <a:r>
              <a:t>• No deployment tracking pre-CAB (May 2024)</a:t>
            </a:r>
          </a:p>
          <a:p>
            <a:pPr lvl="1">
              <a:defRPr sz="1400">
                <a:solidFill>
                  <a:srgbClr val="000000"/>
                </a:solidFill>
              </a:defRPr>
            </a:pPr>
            <a:r>
              <a:t>• Definition of Done incomplete (docs not updated)</a:t>
            </a:r>
          </a:p>
          <a:p>
            <a:pPr lvl="1">
              <a:defRPr sz="1400">
                <a:solidFill>
                  <a:srgbClr val="000000"/>
                </a:solidFill>
              </a:defRPr>
            </a:pPr>
            <a:r>
              <a:t>• Transparency issues with vendor relationship</a:t>
            </a:r>
          </a:p>
          <a:p>
            <a:pPr>
              <a:defRPr sz="1400">
                <a:solidFill>
                  <a:srgbClr val="000000"/>
                </a:solidFill>
              </a:defRPr>
            </a:pPr>
          </a:p>
          <a:p>
            <a:pPr>
              <a:defRPr sz="1400">
                <a:solidFill>
                  <a:srgbClr val="000000"/>
                </a:solidFill>
              </a:defRPr>
            </a:pPr>
            <a:r>
              <a:t>🟡 MEDIUM: Technical Debt Remaining</a:t>
            </a:r>
          </a:p>
          <a:p>
            <a:pPr lvl="1">
              <a:defRPr sz="1400">
                <a:solidFill>
                  <a:srgbClr val="000000"/>
                </a:solidFill>
              </a:defRPr>
            </a:pPr>
            <a:r>
              <a:t>• Databricks 10.4 LTS outdated (modern features missing)</a:t>
            </a:r>
          </a:p>
          <a:p>
            <a:pPr lvl="1">
              <a:defRPr sz="1400">
                <a:solidFill>
                  <a:srgbClr val="000000"/>
                </a:solidFill>
              </a:defRPr>
            </a:pPr>
            <a:r>
              <a:t>• .NET 8 support ends Nov 2026 (only 2 years)</a:t>
            </a:r>
          </a:p>
          <a:p>
            <a:pPr lvl="1">
              <a:defRPr sz="1400">
                <a:solidFill>
                  <a:srgbClr val="000000"/>
                </a:solidFill>
              </a:defRPr>
            </a:pPr>
            <a:r>
              <a:t>• Pipeline test runner blocked post-upgrade (workaround active)</a:t>
            </a:r>
          </a:p>
          <a:p>
            <a:pPr lvl="1">
              <a:defRPr sz="1400">
                <a:solidFill>
                  <a:srgbClr val="000000"/>
                </a:solidFill>
              </a:defRPr>
            </a:pPr>
            <a:r>
              <a:t>• Code duplication needs refactoring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Three Critical Findings</a:t>
            </a:r>
          </a:p>
        </p:txBody>
      </p:sp>
      <p:sp>
        <p:nvSpPr>
          <p:cNvPr id="3" name="TextBox 2"/>
          <p:cNvSpPr txBox="1"/>
          <p:nvPr/>
        </p:nvSpPr>
        <p:spPr>
          <a:xfrm>
            <a:off x="457200" y="1005840"/>
            <a:ext cx="11277295" cy="5486400"/>
          </a:xfrm>
          <a:prstGeom prst="rect">
            <a:avLst/>
          </a:prstGeom>
          <a:noFill/>
        </p:spPr>
        <p:txBody>
          <a:bodyPr wrap="square">
            <a:spAutoFit/>
          </a:bodyPr>
          <a:lstStyle/>
          <a:p>
            <a:pPr>
              <a:defRPr sz="1600">
                <a:solidFill>
                  <a:srgbClr val="DC143C"/>
                </a:solidFill>
              </a:defRPr>
            </a:pPr>
            <a:r>
              <a:t>🔴 FINDING 1: Vendor Lock-in is Real, But Manageable</a:t>
            </a:r>
          </a:p>
          <a:p>
            <a:pPr>
              <a:defRPr sz="1400">
                <a:solidFill>
                  <a:srgbClr val="000000"/>
                </a:solidFill>
              </a:defRPr>
            </a:pPr>
            <a:r>
              <a:t>Status: Technically separated, contractually/organizationally coupled</a:t>
            </a:r>
          </a:p>
          <a:p>
            <a:pPr>
              <a:defRPr sz="1400">
                <a:solidFill>
                  <a:srgbClr val="000000"/>
                </a:solidFill>
              </a:defRPr>
            </a:pPr>
            <a:r>
              <a:t>Impact: Vendor switch = 12-24 months, €300-600K (preliminary estimate)</a:t>
            </a:r>
          </a:p>
          <a:p>
            <a:pPr>
              <a:defRPr sz="1400">
                <a:solidFill>
                  <a:srgbClr val="000000"/>
                </a:solidFill>
              </a:defRPr>
            </a:pPr>
            <a:r>
              <a:t>Key Unknown: Matching Engine alternatives exist?</a:t>
            </a:r>
          </a:p>
          <a:p>
            <a:pPr>
              <a:defRPr sz="1400">
                <a:solidFill>
                  <a:srgbClr val="000000"/>
                </a:solidFill>
              </a:defRPr>
            </a:pPr>
          </a:p>
          <a:p>
            <a:pPr>
              <a:defRPr sz="1600">
                <a:solidFill>
                  <a:srgbClr val="DC143C"/>
                </a:solidFill>
              </a:defRPr>
            </a:pPr>
            <a:r>
              <a:t>🔴 FINDING 2: Knowledge Transfer Viability is Unknown (HIGHEST RISK)</a:t>
            </a:r>
          </a:p>
          <a:p>
            <a:pPr>
              <a:defRPr sz="1400">
                <a:solidFill>
                  <a:srgbClr val="000000"/>
                </a:solidFill>
              </a:defRPr>
            </a:pPr>
            <a:r>
              <a:t>Status: Cannot confirm maintainability by third party</a:t>
            </a:r>
          </a:p>
          <a:p>
            <a:pPr>
              <a:defRPr sz="1400">
                <a:solidFill>
                  <a:srgbClr val="000000"/>
                </a:solidFill>
              </a:defRPr>
            </a:pPr>
            <a:r>
              <a:t>Impact: Vendor switch may be infeasible regardless of technical quality</a:t>
            </a:r>
          </a:p>
          <a:p>
            <a:pPr>
              <a:defRPr sz="1400">
                <a:solidFill>
                  <a:srgbClr val="000000"/>
                </a:solidFill>
              </a:defRPr>
            </a:pPr>
            <a:r>
              <a:t>Key Unknown: Can independent vendor deliver with available materials?</a:t>
            </a:r>
          </a:p>
          <a:p>
            <a:pPr>
              <a:defRPr sz="1400">
                <a:solidFill>
                  <a:srgbClr val="000000"/>
                </a:solidFill>
              </a:defRPr>
            </a:pPr>
          </a:p>
          <a:p>
            <a:pPr>
              <a:defRPr sz="1600">
                <a:solidFill>
                  <a:srgbClr val="DC143C"/>
                </a:solidFill>
              </a:defRPr>
            </a:pPr>
            <a:r>
              <a:t>🔴 FINDING 3: Cost Control Gap is Solvable</a:t>
            </a:r>
          </a:p>
          <a:p>
            <a:pPr>
              <a:defRPr sz="1400">
                <a:solidFill>
                  <a:srgbClr val="000000"/>
                </a:solidFill>
              </a:defRPr>
            </a:pPr>
            <a:r>
              <a:t>Status: €600K/year with no correlation tooling</a:t>
            </a:r>
          </a:p>
          <a:p>
            <a:pPr>
              <a:defRPr sz="1400">
                <a:solidFill>
                  <a:srgbClr val="000000"/>
                </a:solidFill>
              </a:defRPr>
            </a:pPr>
            <a:r>
              <a:t>Impact: Cannot explain spending, cannot forecast, cannot optimize</a:t>
            </a:r>
          </a:p>
          <a:p>
            <a:pPr>
              <a:defRPr sz="1400">
                <a:solidFill>
                  <a:srgbClr val="000000"/>
                </a:solidFill>
              </a:defRPr>
            </a:pPr>
            <a:r>
              <a:t>Key Unknown: What are the actual cost drivers month-to-month?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