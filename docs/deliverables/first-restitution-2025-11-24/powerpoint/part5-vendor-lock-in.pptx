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Vendor lock-in has three distinct mechanisms. Let's examine each.</a:t>
            </a:r>
          </a:p>
          <a:p/>
          <a:p>
            <a:r>
              <a:t>**Mechanism 1: Matching Engine (Contractual + Conceptual)**</a:t>
            </a:r>
          </a:p>
          <a:p/>
          <a:p>
            <a:r>
              <a:t>The Matching Engine is contractually restricted - source code only accessible upon contract termination. Yann's assessment: "Extrêmement fort. Le cœur de notre produit, c'est leur outil."</a:t>
            </a:r>
          </a:p>
          <a:p/>
          <a:p>
            <a:r>
              <a:t>Translation: "Extremely strong. The heart of our product is their tool."</a:t>
            </a:r>
          </a:p>
          <a:p/>
          <a:p>
            <a:r>
              <a:t>The good news: The architecture is clean. Matching Engine is physically separated, accessed only via REST API. Our code analysis found proper interface abstraction (`IMatchingEngineMatchingService.cs`).</a:t>
            </a:r>
          </a:p>
          <a:p/>
          <a:p>
            <a:r>
              <a:t>**Technically, the Matching Engine could be replaced** - IF an alternative matching engine exists with compatible API, OR if CISAC builds an adapter/facade layer.</a:t>
            </a:r>
          </a:p>
          <a:p/>
          <a:p>
            <a:r>
              <a:t>The unknowns:</a:t>
            </a:r>
          </a:p>
          <a:p/>
          <a:p>
            <a:r>
              <a:t>- Do alternative matching engines exist? (Market research needed)</a:t>
            </a:r>
          </a:p>
          <a:p>
            <a:r>
              <a:t>- What would refactoring effort be? (Depends on alternative chosen)</a:t>
            </a:r>
          </a:p>
          <a:p>
            <a:r>
              <a:t>- Can Spanish Point's Matching Engine be replicated? (IP constraints)</a:t>
            </a:r>
          </a:p>
          <a:p/>
          <a:p>
            <a:r>
              <a:t>**Mechanism 2: Infrastructure-as-Code (Proprietary Library)**</a:t>
            </a:r>
          </a:p>
          <a:p/>
          <a:p>
            <a:r>
              <a:t>IaC templates and CI/CD pipeline definitions are NOT included in source code delivery. Spanish Point considers these part of their proprietary "Smart AIM library."</a:t>
            </a:r>
          </a:p>
          <a:p/>
          <a:p>
            <a:r>
              <a:t>If CISAC switches vendors, options are:</a:t>
            </a:r>
          </a:p>
          <a:p/>
          <a:p>
            <a:r>
              <a:t>1. **Rebuild IaC from scratch** - Reverse-engineer 343 Azure resources from portal. Estimated 1-2 months effort. Error-prone.</a:t>
            </a:r>
          </a:p>
          <a:p/>
          <a:p>
            <a:r>
              <a:t>2. **License Smart AIM library** - Pay Spanish Point for access. Cost unknown. Creates ongoing dependency even after vendor switch.</a:t>
            </a:r>
          </a:p>
          <a:p/>
          <a:p>
            <a:r>
              <a:t>This is a **critical blocker** for seamless vendor transition. Environment replication becomes manual effort instead of automated script execution.</a:t>
            </a:r>
          </a:p>
          <a:p/>
          <a:p>
            <a:r>
              <a:t>**Mechanism 3: Knowledge Transfer (Implicit Knowledge)**</a:t>
            </a:r>
          </a:p>
          <a:p/>
          <a:p>
            <a:r>
              <a:t>This is the highest risk because it's the hardest to quantify.</a:t>
            </a:r>
          </a:p>
          <a:p/>
          <a:p>
            <a:r>
              <a:t>- Minimal code comments (business logic not documented)</a:t>
            </a:r>
          </a:p>
          <a:p>
            <a:r>
              <a:t>- No onboarding process or "how to contribute" guide</a:t>
            </a:r>
          </a:p>
          <a:p>
            <a:r>
              <a:t>- Significant code duplication (increases cognitive load)</a:t>
            </a:r>
          </a:p>
          <a:p>
            <a:r>
              <a:t>- "Tentacular" dependencies (Spanish Point's warning)</a:t>
            </a:r>
          </a:p>
          <a:p/>
          <a:p>
            <a:r>
              <a:t>**Can another vendor maintain this system?** We don't know. The code is readable, but understanding WHY it works this way requires implicit knowledge.</a:t>
            </a:r>
          </a:p>
          <a:p/>
          <a:p>
            <a:r>
              <a:t>Guillaume and Bastien's assessment: "Even for them, onboarding new developers must be hard."</a:t>
            </a:r>
          </a:p>
          <a:p/>
          <a:p>
            <a:r>
              <a:t>**Before CISAC commits to vendor independence strategy, this MUST be tested.** Assign a small feature to an independent vendor. See if they can deliver with only the available materials.</a:t>
            </a:r>
          </a:p>
          <a:p/>
          <a:p>
            <a:r>
              <a:t>**Combined impact:**</a:t>
            </a:r>
          </a:p>
          <a:p/>
          <a:p>
            <a:r>
              <a:t>Technical coupling: LOW (clean architecture, REST APIs, interface abstractions)</a:t>
            </a:r>
          </a:p>
          <a:p/>
          <a:p>
            <a:r>
              <a:t>Organizational coupling: HIGH (contract terms, knowledge transfer, proprietary IaC)</a:t>
            </a:r>
          </a:p>
          <a:p/>
          <a:p>
            <a:r>
              <a:t>Vendor switch is technically possible but organizationally complex and risky. Preliminary estimate: 12-24 months, €300-600K. **LOW CONFIDENCE** - needs detailed vendor proposals.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Matching Engine deserves special attention - it's both the cleanest technical integration AND the strongest lock-in.</a:t>
            </a:r>
          </a:p>
          <a:p/>
          <a:p>
            <a:r>
              <a:t>**Clean architecture:**</a:t>
            </a:r>
          </a:p>
          <a:p/>
          <a:p>
            <a:r>
              <a:t>Our code analysis reviewed 42+ files related to the Matching Engine integration. What we found: proper interface abstraction, OAuth2 authentication, HTTP client factory pattern, error handling, timeout configuration.</a:t>
            </a:r>
          </a:p>
          <a:p/>
          <a:p>
            <a:r>
              <a:t>This is professional implementation. Architecturally, the Matching Engine is properly separated - it's deployed as a separate service, accessed only via REST API. There's no embedded code, no direct database coupling.</a:t>
            </a:r>
          </a:p>
          <a:p/>
          <a:p>
            <a:r>
              <a:t>**Technically, it could be swapped for an alternative** - IF one exists.</a:t>
            </a:r>
          </a:p>
          <a:p/>
          <a:p>
            <a:r>
              <a:t>**The contractual restriction:**</a:t>
            </a:r>
          </a:p>
          <a:p/>
          <a:p>
            <a:r>
              <a:t>The source code is only accessible upon contract termination. This creates a catch-22:</a:t>
            </a:r>
          </a:p>
          <a:p/>
          <a:p>
            <a:r>
              <a:t>- You cannot evaluate alternatives without knowing what the Matching Engine does internally</a:t>
            </a:r>
          </a:p>
          <a:p>
            <a:r>
              <a:t>- You cannot build a replacement without understanding its algorithms</a:t>
            </a:r>
          </a:p>
          <a:p>
            <a:r>
              <a:t>- You cannot even assess the replacement effort</a:t>
            </a:r>
          </a:p>
          <a:p/>
          <a:p>
            <a:r>
              <a:t>And as Yann noted: even if you got the code, "we wouldn't even be able to maintain it ourselves."</a:t>
            </a:r>
          </a:p>
          <a:p/>
          <a:p>
            <a:r>
              <a:t>It's complex, proprietary, and central to the business logic.</a:t>
            </a:r>
          </a:p>
          <a:p/>
          <a:p>
            <a:r>
              <a:t>**Yann's strategic assessment:**</a:t>
            </a:r>
          </a:p>
          <a:p/>
          <a:p>
            <a:r>
              <a:t>"The heart of our product is their tool. That's the difficulty."</a:t>
            </a:r>
          </a:p>
          <a:p/>
          <a:p>
            <a:r>
              <a:t>The Matching Engine IS the ISWC system's core value - determining if a new work matches existing works in the global database. Without it, you have a data entry system, not a deduplication system.</a:t>
            </a:r>
          </a:p>
          <a:p/>
          <a:p>
            <a:r>
              <a:t>**Decoupling options:**</a:t>
            </a:r>
          </a:p>
          <a:p/>
          <a:p>
            <a:r>
              <a:t>1. **Find alternative matching engine** - Does the market offer alternatives? Fuzzy matching algorithms for music works? This requires market research. If alternatives exist, the integration could be swapped (adapter layer needed for different API contracts).</a:t>
            </a:r>
          </a:p>
          <a:p/>
          <a:p>
            <a:r>
              <a:t>2. **Build adapter/facade layer** - Design the application to support multiple matching engine vendors. Abstract the matching logic behind CISAC-owned interfaces. This allows switching vendors or running multiple engines in parallel for validation.</a:t>
            </a:r>
          </a:p>
          <a:p/>
          <a:p>
            <a:r>
              <a:t>   Effort: Months (substantial refactoring of validation/processing flows)</a:t>
            </a:r>
          </a:p>
          <a:p/>
          <a:p>
            <a:r>
              <a:t>3. **Accept lock-in, negotiate better terms** - Pragmatic short-term approach. Acknowledge the Matching Engine lock-in, but use it as leverage to negotiate better transparency, cost control, and governance.</a:t>
            </a:r>
          </a:p>
          <a:p/>
          <a:p>
            <a:r>
              <a:t>**Our recommendation:** Option 3 short-term (negotiate better terms), while researching Option 1 (alternative vendors) to inform long-term strategy. Option 2 (adapter layer) is a fallback if alternatives exist.</a:t>
            </a:r>
          </a:p>
          <a:p/>
          <a:p>
            <a:r>
              <a:t>**The key unknown: Do alternative matching engines exist?**</a:t>
            </a:r>
          </a:p>
          <a:p/>
          <a:p>
            <a:r>
              <a:t>We haven't researched this market. CISAC should. Not to commit to switching - but to know your options. Having alternatives strengthens your negotiating position even if you never switch.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summarize what we could and couldn't access during this audit, and why it matters.</a:t>
            </a:r>
          </a:p>
          <a:p/>
          <a:p>
            <a:r>
              <a:t>**What we got (✅):**</a:t>
            </a:r>
          </a:p>
          <a:p/>
          <a:p>
            <a:r>
              <a:t>ISWC application source code (.NET 8 version). This was sufficient to assess architecture, code quality, integration patterns. We could verify the Matching Engine is properly separated, analyze the validation pipeline, document the component structure.</a:t>
            </a:r>
          </a:p>
          <a:p/>
          <a:p>
            <a:r>
              <a:t>**What's pending (⚠️):**</a:t>
            </a:r>
          </a:p>
          <a:p/>
          <a:p>
            <a:r>
              <a:t>1. **Git commit history** - We requested this November 5. Spanish Point's position: "Source code provided, history is internal working process." Compliance review pending. **Still pending today, 3+ weeks later.**</a:t>
            </a:r>
          </a:p>
          <a:p/>
          <a:p>
            <a:r>
              <a:t>   </a:t>
            </a:r>
          </a:p>
          <a:p/>
          <a:p>
            <a:r>
              <a:t>   Impact: We cannot analyze code evolution patterns, developer turnover, commit frequency by component, or knowledge concentration (bus factor analysis). These would inform knowledge transfer risk assessment.</a:t>
            </a:r>
          </a:p>
          <a:p/>
          <a:p>
            <a:r>
              <a:t>2. **Azure DevOps Board** - Accessible to multiple agencies, requires CISAC authorization for audit team. We weren't granted access.</a:t>
            </a:r>
          </a:p>
          <a:p/>
          <a:p>
            <a:r>
              <a:t>   Impact: Cannot assess feature delivery velocity, sprint planning maturity, task management processes. These would inform vendor performance evaluation.</a:t>
            </a:r>
          </a:p>
          <a:p/>
          <a:p>
            <a:r>
              <a:t>**What's blocked (🔴):**</a:t>
            </a:r>
          </a:p>
          <a:p/>
          <a:p>
            <a:r>
              <a:t>1. **Matching Engine source code** - Contractual restriction. Only accessible upon contract termination.</a:t>
            </a:r>
          </a:p>
          <a:p/>
          <a:p>
            <a:r>
              <a:t>   Impact: Cannot assess replacement feasibility, build alternative, or evaluate IP constraints. This is the core lock-in.</a:t>
            </a:r>
          </a:p>
          <a:p/>
          <a:p>
            <a:r>
              <a:t>2. **IaC templates &amp; CI/CD pipeline** - Considered proprietary Smart AIM library. Not included in source code delivery.</a:t>
            </a:r>
          </a:p>
          <a:p/>
          <a:p>
            <a:r>
              <a:t>   Impact: Cannot reproduce environments, understand deployment automation, or enable new vendor takeover. **Critical blocker for vendor switch.**</a:t>
            </a:r>
          </a:p>
          <a:p/>
          <a:p>
            <a:r>
              <a:t>**What's limited (🟡):**</a:t>
            </a:r>
          </a:p>
          <a:p/>
          <a:p>
            <a:r>
              <a:t>1. **Production performance metrics** - No proactive dashboard shared. Relying on Spanish Point claims in workshops.</a:t>
            </a:r>
          </a:p>
          <a:p/>
          <a:p>
            <a:r>
              <a:t>   Impact: Cannot validate performance assertions independently. Requires trust rather than verification.</a:t>
            </a:r>
          </a:p>
          <a:p/>
          <a:p>
            <a:r>
              <a:t>2. **Cost correlation data** - No automated tooling. Manual investigation via support ticket required.</a:t>
            </a:r>
          </a:p>
          <a:p/>
          <a:p>
            <a:r>
              <a:t>   Impact: Cannot explain monthly spending variations to stakeholders. Limits cost control and forecasting.</a:t>
            </a:r>
          </a:p>
          <a:p/>
          <a:p>
            <a:r>
              <a:t>**The pattern:**</a:t>
            </a:r>
          </a:p>
          <a:p/>
          <a:p>
            <a:r>
              <a:t>Every access request follows the same cycle:</a:t>
            </a:r>
          </a:p>
          <a:p/>
          <a:p>
            <a:r>
              <a:t>1. Request made</a:t>
            </a:r>
          </a:p>
          <a:p>
            <a:r>
              <a:t>2. "Why do you need this?" question</a:t>
            </a:r>
          </a:p>
          <a:p>
            <a:r>
              <a:t>3. Multiple objections raised sequentially</a:t>
            </a:r>
          </a:p>
          <a:p>
            <a:r>
              <a:t>4. Information shared reluctantly, if at all</a:t>
            </a:r>
          </a:p>
          <a:p/>
          <a:p>
            <a:r>
              <a:t>This isn't a security posture - it's a defensive culture.</a:t>
            </a:r>
          </a:p>
          <a:p/>
          <a:p>
            <a:r>
              <a:t>**Impact on vendor independence:**</a:t>
            </a:r>
          </a:p>
          <a:p/>
          <a:p>
            <a:r>
              <a:t>The IaC templates and Matching Engine restrictions are **critical blockers** for vendor switch. Without IaC, a new vendor must reverse-engineer 343 Azure resources (1-2 months, error-prone). Without Matching Engine alternatives, the switch may be infeasible regardless of other factors.</a:t>
            </a:r>
          </a:p>
          <a:p/>
          <a:p>
            <a:r>
              <a:t>The git history and performance metrics are **visibility gaps** that reduce CISAC's ability to validate vendor claims and assess risk.</a:t>
            </a:r>
          </a:p>
          <a:p/>
          <a:p>
            <a:r>
              <a:t>**Recommendation:** Negotiate these as contract terms - git history, IaC templates, performance dashboards should be standard deliverables, not optional extras or proprietary assets.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what it would actually take to switch vendors.</a:t>
            </a:r>
          </a:p>
          <a:p/>
          <a:p>
            <a:r>
              <a:t>**Important caveat: These are preliminary estimates with LOW confidence.** We haven't scoped detailed requirements. We haven't received vendor proposals. We haven't tested knowledge transfer. Treat these as order-of-magnitude educated guesses, not commitments.</a:t>
            </a:r>
          </a:p>
          <a:p/>
          <a:p>
            <a:r>
              <a:t>**Application code handover: 3-6 months**</a:t>
            </a:r>
          </a:p>
          <a:p/>
          <a:p>
            <a:r>
              <a:t>Assuming another vendor can onboard to the codebase, we estimate 3-6 months for knowledge transfer. This depends entirely on:</a:t>
            </a:r>
          </a:p>
          <a:p/>
          <a:p>
            <a:r>
              <a:t>- Documentation quality (currently limited)</a:t>
            </a:r>
          </a:p>
          <a:p>
            <a:r>
              <a:t>- New vendor's experience with similar systems</a:t>
            </a:r>
          </a:p>
          <a:p>
            <a:r>
              <a:t>- Spanish Point's cooperation with handover</a:t>
            </a:r>
          </a:p>
          <a:p/>
          <a:p>
            <a:r>
              <a:t>**But we don't know if this is even feasible.** Hence our strong recommendation for a pilot test.</a:t>
            </a:r>
          </a:p>
          <a:p/>
          <a:p>
            <a:r>
              <a:t>**IaC reconstruction: 1-2 months**</a:t>
            </a:r>
          </a:p>
          <a:p/>
          <a:p>
            <a:r>
              <a:t>Reverse-engineering 343 Azure resources from the portal is technically feasible but time-intensive and error-prone. Configuration drift, missing dependencies, undocumented settings - all create risk.</a:t>
            </a:r>
          </a:p>
          <a:p/>
          <a:p>
            <a:r>
              <a:t>Alternative: License the Smart AIM library from Spanish Point. Cost unknown. This creates ongoing dependency even after vendor switch.</a:t>
            </a:r>
          </a:p>
          <a:p/>
          <a:p>
            <a:r>
              <a:t>**Matching Engine replacement: 6-12 months (if required)**</a:t>
            </a:r>
          </a:p>
          <a:p/>
          <a:p>
            <a:r>
              <a:t>IF CISAC decides to replace the Matching Engine, expect substantial refactoring (6-12 months). The validation and processing flows are deeply integrated with matching concepts.</a:t>
            </a:r>
          </a:p>
          <a:p/>
          <a:p>
            <a:r>
              <a:t>But we don't know if alternative matching engines exist. Market research needed.</a:t>
            </a:r>
          </a:p>
          <a:p/>
          <a:p>
            <a:r>
              <a:t>Alternative: Accept ongoing Matching Engine dependency even after switching application maintenance vendor.</a:t>
            </a:r>
          </a:p>
          <a:p/>
          <a:p>
            <a:r>
              <a:t>**Knowledge transfer overlap: 6-12 months parallel run**</a:t>
            </a:r>
          </a:p>
          <a:p/>
          <a:p>
            <a:r>
              <a:t>To reduce risk, we recommend 6-12 months where both old and new vendors operate in parallel. Old vendor maintains production, new vendor shadows and learns. Gradual feature transition. This is expensive (paying two vendors) but dramatically reduces risk.</a:t>
            </a:r>
          </a:p>
          <a:p/>
          <a:p>
            <a:r>
              <a:t>**Total timeline: 12-24 months**</a:t>
            </a:r>
          </a:p>
          <a:p/>
          <a:p>
            <a:r>
              <a:t>Highly uncertain. Could be faster if knowledge transfer goes smoothly and IaC licensing is negotiated. Could be slower if knowledge transfer fails or Matching Engine replacement is required.</a:t>
            </a:r>
          </a:p>
          <a:p/>
          <a:p>
            <a:r>
              <a:t>**Estimated cost: €300-600K**</a:t>
            </a:r>
          </a:p>
          <a:p/>
          <a:p>
            <a:r>
              <a:t>Educated guess based on:</a:t>
            </a:r>
          </a:p>
          <a:p/>
          <a:p>
            <a:r>
              <a:t>- New vendor onboarding (3-6 person-months)</a:t>
            </a:r>
          </a:p>
          <a:p>
            <a:r>
              <a:t>- Parallel vendor overlap (6-12 months at reduced capacity)</a:t>
            </a:r>
          </a:p>
          <a:p>
            <a:r>
              <a:t>- IaC reconstruction or licensing</a:t>
            </a:r>
          </a:p>
          <a:p>
            <a:r>
              <a:t>- Potential Matching Engine refactoring</a:t>
            </a:r>
          </a:p>
          <a:p/>
          <a:p>
            <a:r>
              <a:t>**VERY LOW CONFIDENCE.** This needs detailed scoping and vendor proposals to validate.</a:t>
            </a:r>
          </a:p>
          <a:p/>
          <a:p>
            <a:r>
              <a:t>**Critical unknowns:**</a:t>
            </a:r>
          </a:p>
          <a:p/>
          <a:p>
            <a:r>
              <a:t>1. **Can independent vendor maintain the code?** - Unknown. Must test with pilot.</a:t>
            </a:r>
          </a:p>
          <a:p>
            <a:r>
              <a:t>2. **Do alternative matching engines exist?** - Unknown. Market research needed.</a:t>
            </a:r>
          </a:p>
          <a:p>
            <a:r>
              <a:t>3. **What does Smart AIM library license cost?** - Unknown. Negotiate with Spanish Point.</a:t>
            </a:r>
          </a:p>
          <a:p/>
          <a:p>
            <a:r>
              <a:t>**Risk assessment:**</a:t>
            </a:r>
          </a:p>
          <a:p/>
          <a:p>
            <a:r>
              <a:t>The highest risk is knowledge transfer viability. Everything else can be quantified, scoped, estimated. But if another vendor can't onboard to the code, the whole strategy fails.</a:t>
            </a:r>
          </a:p>
          <a:p/>
          <a:p>
            <a:r>
              <a:t>**Mitigation: €10-20K pilot test.** Assign a small, low-risk feature to an independent vendor. Give them the source code, documentation, and a feature spec. See if they can deliver. See what questions they ask. See how Spanish Point responds to handover requests.</a:t>
            </a:r>
          </a:p>
          <a:p/>
          <a:p>
            <a:r>
              <a:t>This is a €10-20K investment to de-risk a potentially €300-600K decision.</a:t>
            </a:r>
          </a:p>
          <a:p/>
          <a:p>
            <a:r>
              <a:t>**Comparison to status quo:**</a:t>
            </a:r>
          </a:p>
          <a:p/>
          <a:p>
            <a:r>
              <a:t>Option A (Vendor Switch):</a:t>
            </a:r>
          </a:p>
          <a:p/>
          <a:p>
            <a:r>
              <a:t>- 12-24 months</a:t>
            </a:r>
          </a:p>
          <a:p>
            <a:r>
              <a:t>- €300-600K</a:t>
            </a:r>
          </a:p>
          <a:p>
            <a:r>
              <a:t>- High risk</a:t>
            </a:r>
          </a:p>
          <a:p>
            <a:r>
              <a:t>- Uncertain outcome</a:t>
            </a:r>
          </a:p>
          <a:p>
            <a:r>
              <a:t>- Full independence (if successful)</a:t>
            </a:r>
          </a:p>
          <a:p/>
          <a:p>
            <a:r>
              <a:t>Option B (Improve Current Relationship):</a:t>
            </a:r>
          </a:p>
          <a:p/>
          <a:p>
            <a:r>
              <a:t>- Immediate (contract renegotiation)</a:t>
            </a:r>
          </a:p>
          <a:p>
            <a:r>
              <a:t>- Minimal cost (leverage existing contract)</a:t>
            </a:r>
          </a:p>
          <a:p>
            <a:r>
              <a:t>- Medium risk (dependency continues)</a:t>
            </a:r>
          </a:p>
          <a:p>
            <a:r>
              <a:t>- Proven platform</a:t>
            </a:r>
          </a:p>
          <a:p>
            <a:r>
              <a:t>- Better terms, more transparency</a:t>
            </a:r>
          </a:p>
          <a:p/>
          <a:p>
            <a:r>
              <a:t>**Our recommendation: Test knowledge transfer BEFORE committing to switch.**</a:t>
            </a:r>
          </a:p>
          <a:p/>
          <a:p>
            <a:r>
              <a:t>Don't decide today. Run the pilot. Research matching engine alternatives. Negotiate better contract terms in parallel. Make the decision when you have data, not guesses.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5400" b="1">
                <a:solidFill>
                  <a:srgbClr val="4169E1"/>
                </a:solidFill>
              </a:defRPr>
            </a:pPr>
            <a:r>
              <a:t>PART 5: Vendor Lock-in Reality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Three Lock-in Mechanisms</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Vendor Lock-in Assessment</a:t>
            </a:r>
          </a:p>
          <a:p>
            <a:pPr>
              <a:defRPr sz="1400">
                <a:solidFill>
                  <a:srgbClr val="000000"/>
                </a:solidFill>
              </a:defRPr>
            </a:pPr>
          </a:p>
          <a:p>
            <a:pPr>
              <a:defRPr sz="1400">
                <a:solidFill>
                  <a:srgbClr val="000000"/>
                </a:solidFill>
              </a:defRPr>
            </a:pPr>
            <a:r>
              <a:t>1. Matching Engine                    2. Infrastructure-as-Code</a:t>
            </a:r>
          </a:p>
          <a:p>
            <a:pPr>
              <a:defRPr sz="1400">
                <a:solidFill>
                  <a:srgbClr val="000000"/>
                </a:solidFill>
              </a:defRPr>
            </a:pPr>
            <a:r>
              <a:t>(Contractual + Conceptual)            (Proprietary Library)</a:t>
            </a:r>
          </a:p>
          <a:p>
            <a:pPr>
              <a:defRPr sz="1400">
                <a:solidFill>
                  <a:srgbClr val="000000"/>
                </a:solidFill>
              </a:defRPr>
            </a:pPr>
          </a:p>
          <a:p>
            <a:pPr>
              <a:defRPr sz="1600">
                <a:solidFill>
                  <a:srgbClr val="DC143C"/>
                </a:solidFill>
              </a:defRPr>
            </a:pPr>
            <a:r>
              <a:t>🔴 Source code: Contract              🔴 IaC templates: Not included</a:t>
            </a:r>
          </a:p>
          <a:p>
            <a:pPr>
              <a:defRPr sz="1400">
                <a:solidFill>
                  <a:srgbClr val="000000"/>
                </a:solidFill>
              </a:defRPr>
            </a:pPr>
            <a:r>
              <a:t>termination only                      in source delivery</a:t>
            </a:r>
          </a:p>
          <a:p>
            <a:pPr>
              <a:defRPr sz="1400">
                <a:solidFill>
                  <a:srgbClr val="000000"/>
                </a:solidFill>
              </a:defRPr>
            </a:pPr>
          </a:p>
          <a:p>
            <a:pPr>
              <a:defRPr sz="1600">
                <a:solidFill>
                  <a:srgbClr val="228B22"/>
                </a:solidFill>
              </a:defRPr>
            </a:pPr>
            <a:r>
              <a:t>✅ Physical separation: REST API      🔴 Smart AIM library: Proprietary</a:t>
            </a:r>
          </a:p>
          <a:p>
            <a:pPr>
              <a:defRPr sz="1400">
                <a:solidFill>
                  <a:srgbClr val="000000"/>
                </a:solidFill>
              </a:defRPr>
            </a:pPr>
            <a:r>
              <a:t>integration (good architecture)</a:t>
            </a:r>
          </a:p>
          <a:p>
            <a:pPr>
              <a:defRPr sz="1400">
                <a:solidFill>
                  <a:srgbClr val="000000"/>
                </a:solidFill>
              </a:defRPr>
            </a:pPr>
          </a:p>
          <a:p>
            <a:pPr>
              <a:defRPr sz="1600">
                <a:solidFill>
                  <a:srgbClr val="FF8C00"/>
                </a:solidFill>
              </a:defRPr>
            </a:pPr>
            <a:r>
              <a:t>⚠️  "Heart of the product" (Yann)    ⚠️  Options: Rebuild (1-2 months)</a:t>
            </a:r>
          </a:p>
          <a:p>
            <a:pPr>
              <a:defRPr sz="1400">
                <a:solidFill>
                  <a:srgbClr val="000000"/>
                </a:solidFill>
              </a:defRPr>
            </a:pPr>
            <a:r>
              <a:t>or License Smart AIM</a:t>
            </a:r>
          </a:p>
          <a:p>
            <a:pPr>
              <a:defRPr sz="1400">
                <a:solidFill>
                  <a:srgbClr val="000000"/>
                </a:solidFill>
              </a:defRPr>
            </a:pPr>
          </a:p>
          <a:p>
            <a:pPr>
              <a:defRPr sz="1400">
                <a:solidFill>
                  <a:srgbClr val="000000"/>
                </a:solidFill>
              </a:defRPr>
            </a:pPr>
            <a:r>
              <a:t>Impact: Alternative matching          Impact: Environment replication</a:t>
            </a:r>
          </a:p>
          <a:p>
            <a:pPr>
              <a:defRPr sz="1400">
                <a:solidFill>
                  <a:srgbClr val="000000"/>
                </a:solidFill>
              </a:defRPr>
            </a:pPr>
            <a:r>
              <a:t>engines unknown, refactoring             impossible without rebuild</a:t>
            </a:r>
          </a:p>
          <a:p>
            <a:pPr>
              <a:defRPr sz="1400">
                <a:solidFill>
                  <a:srgbClr val="000000"/>
                </a:solidFill>
              </a:defRPr>
            </a:pPr>
            <a:r>
              <a:t>required                                 or licensing</a:t>
            </a:r>
          </a:p>
          <a:p>
            <a:pPr>
              <a:defRPr sz="1400">
                <a:solidFill>
                  <a:srgbClr val="000000"/>
                </a:solidFill>
              </a:defRPr>
            </a:pPr>
          </a:p>
          <a:p>
            <a:pPr>
              <a:defRPr sz="1400">
                <a:solidFill>
                  <a:srgbClr val="000000"/>
                </a:solidFill>
              </a:defRPr>
            </a:pPr>
            <a:r>
              <a:t>3. Knowledge Transfer</a:t>
            </a:r>
          </a:p>
          <a:p>
            <a:pPr>
              <a:defRPr sz="1400">
                <a:solidFill>
                  <a:srgbClr val="000000"/>
                </a:solidFill>
              </a:defRPr>
            </a:pPr>
            <a:r>
              <a:t>(Implicit Knowledge)</a:t>
            </a:r>
          </a:p>
          <a:p>
            <a:pPr>
              <a:defRPr sz="1400">
                <a:solidFill>
                  <a:srgbClr val="000000"/>
                </a:solidFill>
              </a:defRPr>
            </a:pPr>
          </a:p>
          <a:p>
            <a:pPr>
              <a:defRPr sz="1600">
                <a:solidFill>
                  <a:srgbClr val="FF8C00"/>
                </a:solidFill>
              </a:defRPr>
            </a:pPr>
            <a:r>
              <a:t>⚠️  Minimal code comments</a:t>
            </a:r>
          </a:p>
          <a:p>
            <a:pPr>
              <a:defRPr sz="1600">
                <a:solidFill>
                  <a:srgbClr val="DC143C"/>
                </a:solidFill>
              </a:defRPr>
            </a:pPr>
            <a:r>
              <a:t>🔴 No onboarding process</a:t>
            </a:r>
          </a:p>
          <a:p>
            <a:pPr>
              <a:defRPr sz="1600">
                <a:solidFill>
                  <a:srgbClr val="FF8C00"/>
                </a:solidFill>
              </a:defRPr>
            </a:pPr>
            <a:r>
              <a:t>⚠️  Significant duplication</a:t>
            </a:r>
          </a:p>
          <a:p>
            <a:pPr>
              <a:defRPr sz="1600">
                <a:solidFill>
                  <a:srgbClr val="FF8C00"/>
                </a:solidFill>
              </a:defRPr>
            </a:pPr>
            <a:r>
              <a:t>⚠️  "Tentacular" dependencies</a:t>
            </a:r>
          </a:p>
          <a:p>
            <a:pPr>
              <a:defRPr sz="1400">
                <a:solidFill>
                  <a:srgbClr val="000000"/>
                </a:solidFill>
              </a:defRPr>
            </a:pPr>
          </a:p>
          <a:p>
            <a:pPr>
              <a:defRPr sz="1400">
                <a:solidFill>
                  <a:srgbClr val="000000"/>
                </a:solidFill>
              </a:defRPr>
            </a:pPr>
            <a:r>
              <a:t>Impact: Vendor switch viability</a:t>
            </a:r>
          </a:p>
          <a:p>
            <a:pPr>
              <a:defRPr sz="1400">
                <a:solidFill>
                  <a:srgbClr val="000000"/>
                </a:solidFill>
              </a:defRPr>
            </a:pPr>
            <a:r>
              <a:t>UNKNOWN (highest risk)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Matching Engine Deep-Dive - "Heart of the Product"</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Matching Engine Integration Architecture</a:t>
            </a:r>
          </a:p>
          <a:p>
            <a:pPr>
              <a:defRPr sz="1400">
                <a:solidFill>
                  <a:srgbClr val="000000"/>
                </a:solidFill>
              </a:defRPr>
            </a:pPr>
          </a:p>
          <a:p>
            <a:pPr>
              <a:defRPr sz="1800" b="1">
                <a:solidFill>
                  <a:srgbClr val="000000"/>
                </a:solidFill>
              </a:defRPr>
            </a:pPr>
            <a:r>
              <a:t>ISWC Application                    Matching Engine (Spanish Point)</a:t>
            </a:r>
          </a:p>
          <a:p>
            <a:pPr>
              <a:defRPr sz="1400">
                <a:solidFill>
                  <a:srgbClr val="000000"/>
                </a:solidFill>
              </a:defRPr>
            </a:pPr>
            <a:r>
              <a:t>┌────────────────────┐             ┌──────────────────────────────┐</a:t>
            </a:r>
          </a:p>
          <a:p>
            <a:pPr>
              <a:defRPr sz="1400">
                <a:solidFill>
                  <a:srgbClr val="000000"/>
                </a:solidFill>
              </a:defRPr>
            </a:pPr>
            <a:r>
              <a:t>│  Validation        │             │  Matching Engine API         │</a:t>
            </a:r>
          </a:p>
          <a:p>
            <a:pPr>
              <a:defRPr sz="1400">
                <a:solidFill>
                  <a:srgbClr val="000000"/>
                </a:solidFill>
              </a:defRPr>
            </a:pPr>
            <a:r>
              <a:t>│  Pipeline          │    REST     │  (Deployed separately)       │</a:t>
            </a:r>
          </a:p>
          <a:p>
            <a:pPr>
              <a:defRPr sz="1400">
                <a:solidFill>
                  <a:srgbClr val="000000"/>
                </a:solidFill>
              </a:defRPr>
            </a:pPr>
            <a:r>
              <a:t>│                    │◀───HTTP────▶│                              │</a:t>
            </a:r>
          </a:p>
          <a:p>
            <a:pPr>
              <a:defRPr sz="1400">
                <a:solidFill>
                  <a:srgbClr val="000000"/>
                </a:solidFill>
              </a:defRPr>
            </a:pPr>
            <a:r>
              <a:t>│  ┌──────────────┐  │             │  ┌────────────────────────┐  │</a:t>
            </a:r>
          </a:p>
          <a:p>
            <a:pPr>
              <a:defRPr sz="1400">
                <a:solidFill>
                  <a:srgbClr val="000000"/>
                </a:solidFill>
              </a:defRPr>
            </a:pPr>
            <a:r>
              <a:t>│  │IMatchingEngine│  │             │  │ Proprietary Matching   │  │</a:t>
            </a:r>
          </a:p>
          <a:p>
            <a:pPr>
              <a:defRPr sz="1400">
                <a:solidFill>
                  <a:srgbClr val="000000"/>
                </a:solidFill>
              </a:defRPr>
            </a:pPr>
            <a:r>
              <a:t>│  │MatchingService│  │             │  │ Algorithm              │  │</a:t>
            </a:r>
          </a:p>
          <a:p>
            <a:pPr>
              <a:defRPr sz="1400">
                <a:solidFill>
                  <a:srgbClr val="000000"/>
                </a:solidFill>
              </a:defRPr>
            </a:pPr>
            <a:r>
              <a:t>│  │  (Interface)  │  │             │  │                        │  │</a:t>
            </a:r>
          </a:p>
          <a:p>
            <a:pPr>
              <a:defRPr sz="1400">
                <a:solidFill>
                  <a:srgbClr val="000000"/>
                </a:solidFill>
              </a:defRPr>
            </a:pPr>
            <a:r>
              <a:t>│  └──────────────┘  │             │  │ Source Code:           │  │</a:t>
            </a:r>
          </a:p>
          <a:p>
            <a:pPr>
              <a:defRPr sz="1400">
                <a:solidFill>
                  <a:srgbClr val="000000"/>
                </a:solidFill>
              </a:defRPr>
            </a:pPr>
            <a:r>
              <a:t>│         ▲          │             │  │ Contract termination   │  │</a:t>
            </a:r>
          </a:p>
          <a:p>
            <a:pPr>
              <a:defRPr sz="1400">
                <a:solidFill>
                  <a:srgbClr val="000000"/>
                </a:solidFill>
              </a:defRPr>
            </a:pPr>
            <a:r>
              <a:t>│         │          │             │  │ only                   │  │</a:t>
            </a:r>
          </a:p>
          <a:p>
            <a:pPr>
              <a:defRPr sz="1400">
                <a:solidFill>
                  <a:srgbClr val="000000"/>
                </a:solidFill>
              </a:defRPr>
            </a:pPr>
            <a:r>
              <a:t>│  ┌──────────────┐  │             │  └────────────────────────┘  │</a:t>
            </a:r>
          </a:p>
          <a:p>
            <a:pPr>
              <a:defRPr sz="1400">
                <a:solidFill>
                  <a:srgbClr val="000000"/>
                </a:solidFill>
              </a:defRPr>
            </a:pPr>
            <a:r>
              <a:t>│  │MatchingEngine│  │   OAuth2    │                              │</a:t>
            </a:r>
          </a:p>
          <a:p>
            <a:pPr>
              <a:defRPr sz="1400">
                <a:solidFill>
                  <a:srgbClr val="000000"/>
                </a:solidFill>
              </a:defRPr>
            </a:pPr>
            <a:r>
              <a:t>│  │MatchingService│──┼────Auth────▶│  Authentication              │</a:t>
            </a:r>
          </a:p>
          <a:p>
            <a:pPr>
              <a:defRPr sz="1400">
                <a:solidFill>
                  <a:srgbClr val="000000"/>
                </a:solidFill>
              </a:defRPr>
            </a:pPr>
            <a:r>
              <a:t>│  │    (.cs)      │  │             │                              │</a:t>
            </a:r>
          </a:p>
          <a:p>
            <a:pPr>
              <a:defRPr sz="1400">
                <a:solidFill>
                  <a:srgbClr val="000000"/>
                </a:solidFill>
              </a:defRPr>
            </a:pPr>
            <a:r>
              <a:t>│  └──────────────┘  │             │  REST Endpoints:             │</a:t>
            </a:r>
          </a:p>
          <a:p>
            <a:pPr>
              <a:defRPr sz="1400">
                <a:solidFill>
                  <a:srgbClr val="000000"/>
                </a:solidFill>
              </a:defRPr>
            </a:pPr>
            <a:r>
              <a:t>│                    │             │  • POST /match               │</a:t>
            </a:r>
          </a:p>
          <a:p>
            <a:pPr>
              <a:defRPr sz="1400">
                <a:solidFill>
                  <a:srgbClr val="000000"/>
                </a:solidFill>
              </a:defRPr>
            </a:pPr>
            <a:r>
              <a:t>│                    │             │  • GET /results              │</a:t>
            </a:r>
          </a:p>
          <a:p>
            <a:pPr>
              <a:defRPr sz="1400">
                <a:solidFill>
                  <a:srgbClr val="000000"/>
                </a:solidFill>
              </a:defRPr>
            </a:pPr>
            <a:r>
              <a:t>•───────────────────┘ •─────────────────────────────┘</a:t>
            </a:r>
          </a:p>
          <a:p>
            <a:pPr>
              <a:defRPr sz="1400">
                <a:solidFill>
                  <a:srgbClr val="000000"/>
                </a:solidFill>
              </a:defRPr>
            </a:pPr>
          </a:p>
          <a:p>
            <a:pPr>
              <a:defRPr sz="1600">
                <a:solidFill>
                  <a:srgbClr val="228B22"/>
                </a:solidFill>
              </a:defRPr>
            </a:pPr>
            <a:r>
              <a:t>✅ POSITIVE: Clean architectural separation (physically separated)</a:t>
            </a:r>
          </a:p>
          <a:p>
            <a:pPr>
              <a:defRPr sz="1600">
                <a:solidFill>
                  <a:srgbClr val="FF8C00"/>
                </a:solidFill>
              </a:defRPr>
            </a:pPr>
            <a:r>
              <a:t>⚠️  CONCERN: Synchronous blocking calls (performance coupling)</a:t>
            </a:r>
          </a:p>
          <a:p>
            <a:pPr>
              <a:defRPr sz="1600">
                <a:solidFill>
                  <a:srgbClr val="DC143C"/>
                </a:solidFill>
              </a:defRPr>
            </a:pPr>
            <a:r>
              <a:t>🔴 BLOCKER: Contractual restriction (source code inaccessible)</a:t>
            </a:r>
          </a:p>
          <a:p>
            <a:pPr>
              <a:defRPr sz="1400">
                <a:solidFill>
                  <a:srgbClr val="000000"/>
                </a:solidFill>
              </a:defRPr>
            </a:pPr>
            <a:r>
              <a:t>42+ files reviewed</a:t>
            </a:r>
          </a:p>
          <a:p>
            <a:pPr>
              <a:defRPr sz="1400">
                <a:solidFill>
                  <a:srgbClr val="000000"/>
                </a:solidFill>
              </a:defRPr>
            </a:pPr>
            <a:r>
              <a:t>┌─────────────────────────────────────────────────────┐</a:t>
            </a:r>
          </a:p>
          <a:p>
            <a:pPr>
              <a:defRPr sz="1400">
                <a:solidFill>
                  <a:srgbClr val="000000"/>
                </a:solidFill>
              </a:defRPr>
            </a:pPr>
            <a:r>
              <a:t>│ Interface Abstraction: IMatchingEngineMatchingService│</a:t>
            </a:r>
          </a:p>
          <a:p>
            <a:pPr>
              <a:defRPr sz="1400">
                <a:solidFill>
                  <a:srgbClr val="000000"/>
                </a:solidFill>
              </a:defRPr>
            </a:pPr>
            <a:r>
              <a:t>│ Implementation: MatchingEngineMatchingService.cs    │</a:t>
            </a:r>
          </a:p>
          <a:p>
            <a:pPr>
              <a:defRPr sz="1400">
                <a:solidFill>
                  <a:srgbClr val="000000"/>
                </a:solidFill>
              </a:defRPr>
            </a:pPr>
            <a:r>
              <a:t>│ Authentication: OAuth2 client credentials           │</a:t>
            </a:r>
          </a:p>
          <a:p>
            <a:pPr>
              <a:defRPr sz="1400">
                <a:solidFill>
                  <a:srgbClr val="000000"/>
                </a:solidFill>
              </a:defRPr>
            </a:pPr>
            <a:r>
              <a:t>│ HTTP Client: Factory pattern (proper DI)            │</a:t>
            </a:r>
          </a:p>
          <a:p>
            <a:pPr>
              <a:defRPr sz="1400">
                <a:solidFill>
                  <a:srgbClr val="000000"/>
                </a:solidFill>
              </a:defRPr>
            </a:pPr>
            <a:r>
              <a:t>│ Error Handling: Try-catch with logging              │</a:t>
            </a:r>
          </a:p>
          <a:p>
            <a:pPr>
              <a:defRPr sz="1400">
                <a:solidFill>
                  <a:srgbClr val="000000"/>
                </a:solidFill>
              </a:defRPr>
            </a:pPr>
            <a:r>
              <a:t>│ Timeout Configuration: Configurable                 │</a:t>
            </a:r>
          </a:p>
          <a:p>
            <a:pPr>
              <a:defRPr sz="1400">
                <a:solidFill>
                  <a:srgbClr val="000000"/>
                </a:solidFill>
              </a:defRPr>
            </a:pPr>
            <a:r>
              <a:t>•────────────────────────────────────────────────────┘</a:t>
            </a:r>
          </a:p>
          <a:p>
            <a:pPr>
              <a:defRPr sz="1400">
                <a:solidFill>
                  <a:srgbClr val="000000"/>
                </a:solidFill>
              </a:defRPr>
            </a:pPr>
          </a:p>
          <a:p>
            <a:pPr>
              <a:defRPr sz="1800" b="1">
                <a:solidFill>
                  <a:srgbClr val="000000"/>
                </a:solidFill>
              </a:defRPr>
            </a:pPr>
            <a:r>
              <a:t>Assessment:</a:t>
            </a:r>
          </a:p>
          <a:p>
            <a:pPr>
              <a:defRPr sz="1600">
                <a:solidFill>
                  <a:srgbClr val="228B22"/>
                </a:solidFill>
              </a:defRPr>
            </a:pPr>
            <a:r>
              <a:t>✅ Professional implementation</a:t>
            </a:r>
          </a:p>
          <a:p>
            <a:pPr>
              <a:defRPr sz="1600">
                <a:solidFill>
                  <a:srgbClr val="228B22"/>
                </a:solidFill>
              </a:defRPr>
            </a:pPr>
            <a:r>
              <a:t>✅ Could be swapped for alternative (technically)</a:t>
            </a:r>
          </a:p>
          <a:p>
            <a:pPr>
              <a:defRPr sz="1600">
                <a:solidFill>
                  <a:srgbClr val="FF8C00"/>
                </a:solidFill>
              </a:defRPr>
            </a:pPr>
            <a:r>
              <a:t>⚠️  Synchronous calls = performance coupling</a:t>
            </a:r>
          </a:p>
          <a:p>
            <a:pPr>
              <a:defRPr sz="1600">
                <a:solidFill>
                  <a:srgbClr val="DC143C"/>
                </a:solidFill>
              </a:defRPr>
            </a:pPr>
            <a:r>
              <a:t>🔴 Unknown: Alternative matching engines available?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What We Can't Access - Visibility Gaps</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Access Status Matrix (as of Nov 24, 2025)</a:t>
            </a:r>
          </a:p>
          <a:p>
            <a:pPr>
              <a:defRPr sz="1400">
                <a:solidFill>
                  <a:srgbClr val="000000"/>
                </a:solidFill>
              </a:defRPr>
            </a:pPr>
          </a:p>
          <a:p>
            <a:pPr>
              <a:defRPr sz="1800" b="1">
                <a:solidFill>
                  <a:srgbClr val="000000"/>
                </a:solidFill>
              </a:defRPr>
            </a:pPr>
            <a:r>
              <a:t>Resource                           Status      Impact on Vendor Independence</a:t>
            </a:r>
          </a:p>
          <a:p>
            <a:pPr>
              <a:defRPr sz="1400">
                <a:solidFill>
                  <a:srgbClr val="000000"/>
                </a:solidFill>
              </a:defRPr>
            </a:pPr>
          </a:p>
          <a:p>
            <a:pPr>
              <a:defRPr sz="1600">
                <a:solidFill>
                  <a:srgbClr val="228B22"/>
                </a:solidFill>
              </a:defRPr>
            </a:pPr>
            <a:r>
              <a:t>✅ ISWC Application Source Code     GRANTED    Can analyze architecture,</a:t>
            </a:r>
          </a:p>
          <a:p>
            <a:pPr>
              <a:defRPr sz="1400">
                <a:solidFill>
                  <a:srgbClr val="000000"/>
                </a:solidFill>
              </a:defRPr>
            </a:pPr>
            <a:r>
              <a:t>(.NET 8)                                    code quality, integration</a:t>
            </a:r>
          </a:p>
          <a:p>
            <a:pPr>
              <a:defRPr sz="1400">
                <a:solidFill>
                  <a:srgbClr val="000000"/>
                </a:solidFill>
              </a:defRPr>
            </a:pPr>
            <a:r>
              <a:t>patterns</a:t>
            </a:r>
          </a:p>
          <a:p>
            <a:pPr>
              <a:defRPr sz="1400">
                <a:solidFill>
                  <a:srgbClr val="000000"/>
                </a:solidFill>
              </a:defRPr>
            </a:pPr>
          </a:p>
          <a:p>
            <a:pPr>
              <a:defRPr sz="1600">
                <a:solidFill>
                  <a:srgbClr val="FF8C00"/>
                </a:solidFill>
              </a:defRPr>
            </a:pPr>
            <a:r>
              <a:t>⚠️  Git Commit History              PENDING    Cannot analyze evolution,</a:t>
            </a:r>
          </a:p>
          <a:p>
            <a:pPr>
              <a:defRPr sz="1400">
                <a:solidFill>
                  <a:srgbClr val="000000"/>
                </a:solidFill>
              </a:defRPr>
            </a:pPr>
            <a:r>
              <a:t>(3+ weeks)  developer turnover, knowledge</a:t>
            </a:r>
          </a:p>
          <a:p>
            <a:pPr>
              <a:defRPr sz="1400">
                <a:solidFill>
                  <a:srgbClr val="000000"/>
                </a:solidFill>
              </a:defRPr>
            </a:pPr>
            <a:r>
              <a:t>concentration (bus factor)</a:t>
            </a:r>
          </a:p>
          <a:p>
            <a:pPr>
              <a:defRPr sz="1400">
                <a:solidFill>
                  <a:srgbClr val="000000"/>
                </a:solidFill>
              </a:defRPr>
            </a:pPr>
          </a:p>
          <a:p>
            <a:pPr>
              <a:defRPr sz="1600">
                <a:solidFill>
                  <a:srgbClr val="DC143C"/>
                </a:solidFill>
              </a:defRPr>
            </a:pPr>
            <a:r>
              <a:t>🔴 Matching Engine Source Code      BLOCKED    Cannot assess replacement</a:t>
            </a:r>
          </a:p>
          <a:p>
            <a:pPr>
              <a:defRPr sz="1400">
                <a:solidFill>
                  <a:srgbClr val="000000"/>
                </a:solidFill>
              </a:defRPr>
            </a:pPr>
            <a:r>
              <a:t>(Contract)  feasibility, build alternative,</a:t>
            </a:r>
          </a:p>
          <a:p>
            <a:pPr>
              <a:defRPr sz="1400">
                <a:solidFill>
                  <a:srgbClr val="000000"/>
                </a:solidFill>
              </a:defRPr>
            </a:pPr>
            <a:r>
              <a:t>or evaluate IP constraints</a:t>
            </a:r>
          </a:p>
          <a:p>
            <a:pPr>
              <a:defRPr sz="1400">
                <a:solidFill>
                  <a:srgbClr val="000000"/>
                </a:solidFill>
              </a:defRPr>
            </a:pPr>
          </a:p>
          <a:p>
            <a:pPr>
              <a:defRPr sz="1600">
                <a:solidFill>
                  <a:srgbClr val="DC143C"/>
                </a:solidFill>
              </a:defRPr>
            </a:pPr>
            <a:r>
              <a:t>🔴 IaC Templates &amp; CI/CD Pipeline   EXCLUDED   Cannot reproduce environments,</a:t>
            </a:r>
          </a:p>
          <a:p>
            <a:pPr>
              <a:defRPr sz="1400">
                <a:solidFill>
                  <a:srgbClr val="000000"/>
                </a:solidFill>
              </a:defRPr>
            </a:pPr>
            <a:r>
              <a:t>(Proprietary) understand deployment process,</a:t>
            </a:r>
          </a:p>
          <a:p>
            <a:pPr>
              <a:defRPr sz="1400">
                <a:solidFill>
                  <a:srgbClr val="000000"/>
                </a:solidFill>
              </a:defRPr>
            </a:pPr>
            <a:r>
              <a:t>or enable new vendor</a:t>
            </a:r>
          </a:p>
          <a:p>
            <a:pPr>
              <a:defRPr sz="1400">
                <a:solidFill>
                  <a:srgbClr val="000000"/>
                </a:solidFill>
              </a:defRPr>
            </a:pPr>
          </a:p>
          <a:p>
            <a:pPr>
              <a:defRPr sz="1400">
                <a:solidFill>
                  <a:srgbClr val="000000"/>
                </a:solidFill>
              </a:defRPr>
            </a:pPr>
            <a:r>
              <a:t>🟡 Azure DevOps Board (Task Mgmt)   PENDING    Cannot assess velocity,</a:t>
            </a:r>
          </a:p>
          <a:p>
            <a:pPr>
              <a:defRPr sz="1400">
                <a:solidFill>
                  <a:srgbClr val="000000"/>
                </a:solidFill>
              </a:defRPr>
            </a:pPr>
            <a:r>
              <a:t>(CISAC auth) sprint planning, agile</a:t>
            </a:r>
          </a:p>
          <a:p>
            <a:pPr>
              <a:defRPr sz="1400">
                <a:solidFill>
                  <a:srgbClr val="000000"/>
                </a:solidFill>
              </a:defRPr>
            </a:pPr>
            <a:r>
              <a:t>maturity</a:t>
            </a:r>
          </a:p>
          <a:p>
            <a:pPr>
              <a:defRPr sz="1400">
                <a:solidFill>
                  <a:srgbClr val="000000"/>
                </a:solidFill>
              </a:defRPr>
            </a:pPr>
          </a:p>
          <a:p>
            <a:pPr>
              <a:defRPr sz="1400">
                <a:solidFill>
                  <a:srgbClr val="000000"/>
                </a:solidFill>
              </a:defRPr>
            </a:pPr>
            <a:r>
              <a:t>🟡 Production Performance Metrics   LIMITED    Relies on Spanish Point claims</a:t>
            </a:r>
          </a:p>
          <a:p>
            <a:pPr>
              <a:defRPr sz="1400">
                <a:solidFill>
                  <a:srgbClr val="000000"/>
                </a:solidFill>
              </a:defRPr>
            </a:pPr>
            <a:r>
              <a:t>rather than shared dashboards</a:t>
            </a:r>
          </a:p>
          <a:p>
            <a:pPr>
              <a:defRPr sz="1400">
                <a:solidFill>
                  <a:srgbClr val="000000"/>
                </a:solidFill>
              </a:defRPr>
            </a:pPr>
          </a:p>
          <a:p>
            <a:pPr>
              <a:defRPr sz="1400">
                <a:solidFill>
                  <a:srgbClr val="000000"/>
                </a:solidFill>
              </a:defRPr>
            </a:pPr>
            <a:r>
              <a:t>🟡 Cost Correlation Data            MANUAL     No automated tooling,</a:t>
            </a:r>
          </a:p>
          <a:p>
            <a:pPr>
              <a:defRPr sz="1400">
                <a:solidFill>
                  <a:srgbClr val="000000"/>
                </a:solidFill>
              </a:defRPr>
            </a:pPr>
            <a:r>
              <a:t>support ticket required</a:t>
            </a:r>
          </a:p>
          <a:p>
            <a:pPr>
              <a:defRPr sz="1800" b="1">
                <a:solidFill>
                  <a:srgbClr val="000000"/>
                </a:solidFill>
              </a:defRPr>
            </a:pPr>
            <a:r>
              <a:t>Access Request → Question "Why?" → Multiple Objections → Reluctant Sharing</a:t>
            </a:r>
          </a:p>
          <a:p>
            <a:pPr>
              <a:defRPr sz="1400">
                <a:solidFill>
                  <a:srgbClr val="000000"/>
                </a:solidFill>
              </a:defRPr>
            </a:pPr>
          </a:p>
          <a:p>
            <a:pPr>
              <a:defRPr sz="1800" b="1">
                <a:solidFill>
                  <a:srgbClr val="000000"/>
                </a:solidFill>
              </a:defRPr>
            </a:pPr>
            <a:r>
              <a:t>Examples:</a:t>
            </a:r>
          </a:p>
          <a:p>
            <a:pPr>
              <a:defRPr sz="1400">
                <a:solidFill>
                  <a:srgbClr val="000000"/>
                </a:solidFill>
              </a:defRPr>
            </a:pPr>
            <a:r>
              <a:t>• Code access: Legal → Technical → Proprietary → Compliance review</a:t>
            </a:r>
          </a:p>
          <a:p>
            <a:pPr>
              <a:defRPr sz="1400">
                <a:solidFill>
                  <a:srgbClr val="000000"/>
                </a:solidFill>
              </a:defRPr>
            </a:pPr>
            <a:r>
              <a:t>• Git history: "Internal working process" → Compliance review (3+ weeks)</a:t>
            </a:r>
          </a:p>
          <a:p>
            <a:pPr>
              <a:defRPr sz="1400">
                <a:solidFill>
                  <a:srgbClr val="000000"/>
                </a:solidFill>
              </a:defRPr>
            </a:pPr>
            <a:r>
              <a:t>• IaC templates: "Proprietary library" → Not included in delivery</a:t>
            </a:r>
          </a:p>
          <a:p>
            <a:pPr>
              <a:defRPr sz="1400">
                <a:solidFill>
                  <a:srgbClr val="000000"/>
                </a:solidFill>
              </a:defRPr>
            </a:pPr>
            <a:r>
              <a:t>• Cost data: No tooling → Manual investigation → Limited history</a:t>
            </a:r>
          </a:p>
          <a:p>
            <a:pPr>
              <a:defRPr sz="1800" b="1">
                <a:solidFill>
                  <a:srgbClr val="000000"/>
                </a:solidFill>
              </a:defRPr>
            </a:pPr>
            <a:r>
              <a:t>HIGH IMPACT (Vendor Independence)</a:t>
            </a:r>
          </a:p>
          <a:p>
            <a:pPr>
              <a:defRPr sz="1400">
                <a:solidFill>
                  <a:srgbClr val="000000"/>
                </a:solidFill>
              </a:defRPr>
            </a:pPr>
            <a:r>
              <a:t>• IaC Templates: Critical blocker for vendor switch</a:t>
            </a:r>
          </a:p>
          <a:p>
            <a:pPr>
              <a:defRPr sz="1400">
                <a:solidFill>
                  <a:srgbClr val="000000"/>
                </a:solidFill>
              </a:defRPr>
            </a:pPr>
            <a:r>
              <a:t>• Matching Engine: Cannot assess alternatives</a:t>
            </a:r>
          </a:p>
          <a:p>
            <a:pPr>
              <a:defRPr sz="1400">
                <a:solidFill>
                  <a:srgbClr val="000000"/>
                </a:solidFill>
              </a:defRPr>
            </a:pPr>
            <a:r>
              <a:t>• Git History: Cannot analyze evolution patterns</a:t>
            </a:r>
          </a:p>
          <a:p>
            <a:pPr>
              <a:defRPr sz="1400">
                <a:solidFill>
                  <a:srgbClr val="000000"/>
                </a:solidFill>
              </a:defRPr>
            </a:pPr>
          </a:p>
          <a:p>
            <a:pPr>
              <a:defRPr sz="1800" b="1">
                <a:solidFill>
                  <a:srgbClr val="000000"/>
                </a:solidFill>
              </a:defRPr>
            </a:pPr>
            <a:r>
              <a:t>MEDIUM IMPACT (Operational Visibility)</a:t>
            </a:r>
          </a:p>
          <a:p>
            <a:pPr>
              <a:defRPr sz="1400">
                <a:solidFill>
                  <a:srgbClr val="000000"/>
                </a:solidFill>
              </a:defRPr>
            </a:pPr>
            <a:r>
              <a:t>• Performance Metrics: Cannot validate claims</a:t>
            </a:r>
          </a:p>
          <a:p>
            <a:pPr>
              <a:defRPr sz="1400">
                <a:solidFill>
                  <a:srgbClr val="000000"/>
                </a:solidFill>
              </a:defRPr>
            </a:pPr>
            <a:r>
              <a:t>• Cost Correlation: Cannot explain spending</a:t>
            </a:r>
          </a:p>
          <a:p>
            <a:pPr>
              <a:defRPr sz="1400">
                <a:solidFill>
                  <a:srgbClr val="000000"/>
                </a:solidFill>
              </a:defRPr>
            </a:pPr>
            <a:r>
              <a:t>• DevOps Board: Cannot assess delivery velocity</a:t>
            </a:r>
          </a:p>
          <a:p>
            <a:pPr>
              <a:defRPr sz="1400">
                <a:solidFill>
                  <a:srgbClr val="000000"/>
                </a:solidFill>
              </a:defRPr>
            </a:pPr>
          </a:p>
          <a:p>
            <a:pPr>
              <a:defRPr sz="1800" b="1">
                <a:solidFill>
                  <a:srgbClr val="000000"/>
                </a:solidFill>
              </a:defRPr>
            </a:pPr>
            <a:r>
              <a:t>LOW IMPACT (Audit Depth)</a:t>
            </a:r>
          </a:p>
          <a:p>
            <a:pPr>
              <a:defRPr sz="1400">
                <a:solidFill>
                  <a:srgbClr val="000000"/>
                </a:solidFill>
              </a:defRPr>
            </a:pPr>
            <a:r>
              <a:t>• Limited access reduced audit depth but sufficient for strategic assessment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Vendor Switch Effort Estimate - Preliminary Assessment</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Vendor Switch Effort Estimate (Preliminary, LOW Confidence)</a:t>
            </a:r>
          </a:p>
          <a:p>
            <a:pPr>
              <a:defRPr sz="1400">
                <a:solidFill>
                  <a:srgbClr val="000000"/>
                </a:solidFill>
              </a:defRPr>
            </a:pPr>
          </a:p>
          <a:p>
            <a:pPr>
              <a:defRPr sz="1800" b="1">
                <a:solidFill>
                  <a:srgbClr val="000000"/>
                </a:solidFill>
              </a:defRPr>
            </a:pPr>
            <a:r>
              <a:t>Component                    Effort Estimate    Dependencies &amp; Risks</a:t>
            </a:r>
          </a:p>
          <a:p>
            <a:pPr>
              <a:defRPr sz="1400">
                <a:solidFill>
                  <a:srgbClr val="000000"/>
                </a:solidFill>
              </a:defRPr>
            </a:pPr>
          </a:p>
          <a:p>
            <a:pPr>
              <a:defRPr sz="1800" b="1">
                <a:solidFill>
                  <a:srgbClr val="000000"/>
                </a:solidFill>
              </a:defRPr>
            </a:pPr>
            <a:r>
              <a:t>Application Code Handover    3-6 months        • Knowledge transfer viability UNKNOWN</a:t>
            </a:r>
          </a:p>
          <a:p>
            <a:pPr lvl="1">
              <a:defRPr sz="1400">
                <a:solidFill>
                  <a:srgbClr val="000000"/>
                </a:solidFill>
              </a:defRPr>
            </a:pPr>
            <a:r>
              <a:t>• Minimal documentation</a:t>
            </a:r>
          </a:p>
          <a:p>
            <a:pPr lvl="1">
              <a:defRPr sz="1400">
                <a:solidFill>
                  <a:srgbClr val="000000"/>
                </a:solidFill>
              </a:defRPr>
            </a:pPr>
            <a:r>
              <a:t>• No onboarding process</a:t>
            </a:r>
          </a:p>
          <a:p>
            <a:pPr lvl="1">
              <a:defRPr sz="1400">
                <a:solidFill>
                  <a:srgbClr val="000000"/>
                </a:solidFill>
              </a:defRPr>
            </a:pPr>
            <a:r>
              <a:t>• Recommend: Pilot test first</a:t>
            </a:r>
          </a:p>
          <a:p>
            <a:pPr>
              <a:defRPr sz="1400">
                <a:solidFill>
                  <a:srgbClr val="000000"/>
                </a:solidFill>
              </a:defRPr>
            </a:pPr>
          </a:p>
          <a:p>
            <a:pPr>
              <a:defRPr sz="1800" b="1">
                <a:solidFill>
                  <a:srgbClr val="000000"/>
                </a:solidFill>
              </a:defRPr>
            </a:pPr>
            <a:r>
              <a:t>IaC Reconstruction          1-2 months        • 343 Azure resources</a:t>
            </a:r>
          </a:p>
          <a:p>
            <a:pPr lvl="1">
              <a:defRPr sz="1400">
                <a:solidFill>
                  <a:srgbClr val="000000"/>
                </a:solidFill>
              </a:defRPr>
            </a:pPr>
            <a:r>
              <a:t>• Reverse-engineer from portal</a:t>
            </a:r>
          </a:p>
          <a:p>
            <a:pPr lvl="1">
              <a:defRPr sz="1400">
                <a:solidFill>
                  <a:srgbClr val="000000"/>
                </a:solidFill>
              </a:defRPr>
            </a:pPr>
            <a:r>
              <a:t>• OR license Smart AIM library (cost unknown)</a:t>
            </a:r>
          </a:p>
          <a:p>
            <a:pPr>
              <a:defRPr sz="1400">
                <a:solidFill>
                  <a:srgbClr val="000000"/>
                </a:solidFill>
              </a:defRPr>
            </a:pPr>
          </a:p>
          <a:p>
            <a:pPr>
              <a:defRPr sz="1800" b="1">
                <a:solidFill>
                  <a:srgbClr val="000000"/>
                </a:solidFill>
              </a:defRPr>
            </a:pPr>
            <a:r>
              <a:t>Matching Engine             6-12 months       • Alternative vendors UNKNOWN</a:t>
            </a:r>
          </a:p>
          <a:p>
            <a:pPr>
              <a:defRPr sz="1800" b="1">
                <a:solidFill>
                  <a:srgbClr val="000000"/>
                </a:solidFill>
              </a:defRPr>
            </a:pPr>
            <a:r>
              <a:t>Replacement                 (if required)     • Substantial refactoring likely</a:t>
            </a:r>
          </a:p>
          <a:p>
            <a:pPr lvl="1">
              <a:defRPr sz="1400">
                <a:solidFill>
                  <a:srgbClr val="000000"/>
                </a:solidFill>
              </a:defRPr>
            </a:pPr>
            <a:r>
              <a:t>• OR accept ongoing lock-in</a:t>
            </a:r>
          </a:p>
          <a:p>
            <a:pPr>
              <a:defRPr sz="1400">
                <a:solidFill>
                  <a:srgbClr val="000000"/>
                </a:solidFill>
              </a:defRPr>
            </a:pPr>
          </a:p>
          <a:p>
            <a:pPr>
              <a:defRPr sz="1800" b="1">
                <a:solidFill>
                  <a:srgbClr val="000000"/>
                </a:solidFill>
              </a:defRPr>
            </a:pPr>
            <a:r>
              <a:t>Knowledge Transfer          6-12 months       • Parallel vendor overlap recommended</a:t>
            </a:r>
          </a:p>
          <a:p>
            <a:pPr>
              <a:defRPr sz="1400">
                <a:solidFill>
                  <a:srgbClr val="000000"/>
                </a:solidFill>
              </a:defRPr>
            </a:pPr>
            <a:r>
              <a:t>(Overlap Period)           (parallel run)    • Gradual transition reduces risk</a:t>
            </a:r>
          </a:p>
          <a:p>
            <a:pPr>
              <a:defRPr sz="1400">
                <a:solidFill>
                  <a:srgbClr val="000000"/>
                </a:solidFill>
              </a:defRPr>
            </a:pPr>
          </a:p>
          <a:p>
            <a:pPr>
              <a:defRPr sz="1400">
                <a:solidFill>
                  <a:srgbClr val="000000"/>
                </a:solidFill>
              </a:defRPr>
            </a:pPr>
            <a:r>
              <a:t>───────────────────────────────────────────────────────────────────────────</a:t>
            </a:r>
          </a:p>
          <a:p>
            <a:pPr>
              <a:defRPr sz="1800" b="1">
                <a:solidFill>
                  <a:srgbClr val="000000"/>
                </a:solidFill>
              </a:defRPr>
            </a:pPr>
            <a:r>
              <a:t>TOTAL TIMELINE              12-24 months      HIGH uncertainty due to unknowns</a:t>
            </a:r>
          </a:p>
          <a:p>
            <a:pPr>
              <a:defRPr sz="1400">
                <a:solidFill>
                  <a:srgbClr val="000000"/>
                </a:solidFill>
              </a:defRPr>
            </a:pPr>
          </a:p>
          <a:p>
            <a:pPr>
              <a:defRPr sz="1800" b="1">
                <a:solidFill>
                  <a:srgbClr val="000000"/>
                </a:solidFill>
              </a:defRPr>
            </a:pPr>
            <a:r>
              <a:t>ESTIMATED COST              €300K - €600K     VERY LOW confidence</a:t>
            </a:r>
          </a:p>
          <a:p>
            <a:pPr>
              <a:defRPr sz="1400">
                <a:solidFill>
                  <a:srgbClr val="000000"/>
                </a:solidFill>
              </a:defRPr>
            </a:pPr>
            <a:r>
              <a:t>(educated guess, not scoped)</a:t>
            </a:r>
          </a:p>
          <a:p>
            <a:pPr>
              <a:defRPr sz="1400">
                <a:solidFill>
                  <a:srgbClr val="000000"/>
                </a:solidFill>
              </a:defRPr>
            </a:pPr>
          </a:p>
          <a:p>
            <a:pPr>
              <a:defRPr sz="1800" b="1">
                <a:solidFill>
                  <a:srgbClr val="000000"/>
                </a:solidFill>
              </a:defRPr>
            </a:pPr>
            <a:r>
              <a:t>CRITICAL UNKNOWNS:</a:t>
            </a:r>
          </a:p>
          <a:p>
            <a:pPr>
              <a:defRPr sz="1600">
                <a:solidFill>
                  <a:srgbClr val="DC143C"/>
                </a:solidFill>
              </a:defRPr>
            </a:pPr>
            <a:r>
              <a:t>🔴 Can independent vendor maintain the code? (Knowledge transfer pilot needed)</a:t>
            </a:r>
          </a:p>
          <a:p>
            <a:pPr>
              <a:defRPr sz="1600">
                <a:solidFill>
                  <a:srgbClr val="DC143C"/>
                </a:solidFill>
              </a:defRPr>
            </a:pPr>
            <a:r>
              <a:t>🔴 Do alternative matching engines exist? (Market research needed)</a:t>
            </a:r>
          </a:p>
          <a:p>
            <a:pPr>
              <a:defRPr sz="1600">
                <a:solidFill>
                  <a:srgbClr val="DC143C"/>
                </a:solidFill>
              </a:defRPr>
            </a:pPr>
            <a:r>
              <a:t>🔴 What does Smart AIM library license cost? (Negotiate with Spanish Point)</a:t>
            </a:r>
          </a:p>
          <a:p>
            <a:pPr>
              <a:defRPr sz="1800" b="1">
                <a:solidFill>
                  <a:srgbClr val="000000"/>
                </a:solidFill>
              </a:defRPr>
            </a:pPr>
            <a:r>
              <a:t>HIGHEST RISK: Knowledge Transfer Viability</a:t>
            </a:r>
          </a:p>
          <a:p>
            <a:pPr>
              <a:defRPr sz="1400">
                <a:solidFill>
                  <a:srgbClr val="000000"/>
                </a:solidFill>
              </a:defRPr>
            </a:pPr>
            <a:r>
              <a:t>• Cannot confirm another vendor could deliver</a:t>
            </a:r>
          </a:p>
          <a:p>
            <a:pPr>
              <a:defRPr sz="1400">
                <a:solidFill>
                  <a:srgbClr val="000000"/>
                </a:solidFill>
              </a:defRPr>
            </a:pPr>
            <a:r>
              <a:t>• Minimal documentation, implicit knowledge</a:t>
            </a:r>
          </a:p>
          <a:p>
            <a:pPr>
              <a:defRPr sz="1400">
                <a:solidFill>
                  <a:srgbClr val="000000"/>
                </a:solidFill>
              </a:defRPr>
            </a:pPr>
            <a:r>
              <a:t>• MITIGATION: €10-20K pilot test (assign small feature to independent vendor)</a:t>
            </a:r>
          </a:p>
          <a:p>
            <a:pPr>
              <a:defRPr sz="1400">
                <a:solidFill>
                  <a:srgbClr val="000000"/>
                </a:solidFill>
              </a:defRPr>
            </a:pPr>
          </a:p>
          <a:p>
            <a:pPr>
              <a:defRPr sz="1800" b="1">
                <a:solidFill>
                  <a:srgbClr val="000000"/>
                </a:solidFill>
              </a:defRPr>
            </a:pPr>
            <a:r>
              <a:t>HIGH RISK: Matching Engine Alternatives</a:t>
            </a:r>
          </a:p>
          <a:p>
            <a:pPr>
              <a:defRPr sz="1400">
                <a:solidFill>
                  <a:srgbClr val="000000"/>
                </a:solidFill>
              </a:defRPr>
            </a:pPr>
            <a:r>
              <a:t>• Market unknown, replacement feasibility uncertain</a:t>
            </a:r>
          </a:p>
          <a:p>
            <a:pPr>
              <a:defRPr sz="1400">
                <a:solidFill>
                  <a:srgbClr val="000000"/>
                </a:solidFill>
              </a:defRPr>
            </a:pPr>
            <a:r>
              <a:t>• MITIGATION: Market research, vendor RFP process</a:t>
            </a:r>
          </a:p>
          <a:p>
            <a:pPr>
              <a:defRPr sz="1400">
                <a:solidFill>
                  <a:srgbClr val="000000"/>
                </a:solidFill>
              </a:defRPr>
            </a:pPr>
          </a:p>
          <a:p>
            <a:pPr>
              <a:defRPr sz="1800" b="1">
                <a:solidFill>
                  <a:srgbClr val="000000"/>
                </a:solidFill>
              </a:defRPr>
            </a:pPr>
            <a:r>
              <a:t>MEDIUM RISK: IaC Reconstruction</a:t>
            </a:r>
          </a:p>
          <a:p>
            <a:pPr>
              <a:defRPr sz="1400">
                <a:solidFill>
                  <a:srgbClr val="000000"/>
                </a:solidFill>
              </a:defRPr>
            </a:pPr>
            <a:r>
              <a:t>• Technically feasible but time-intensive</a:t>
            </a:r>
          </a:p>
          <a:p>
            <a:pPr>
              <a:defRPr sz="1400">
                <a:solidFill>
                  <a:srgbClr val="000000"/>
                </a:solidFill>
              </a:defRPr>
            </a:pPr>
            <a:r>
              <a:t>• MITIGATION: Negotiate IaC inclusion or Smart AIM licensing terms</a:t>
            </a:r>
          </a:p>
          <a:p>
            <a:pPr>
              <a:defRPr sz="1400">
                <a:solidFill>
                  <a:srgbClr val="000000"/>
                </a:solidFill>
              </a:defRPr>
            </a:pPr>
          </a:p>
          <a:p>
            <a:pPr>
              <a:defRPr sz="1800" b="1">
                <a:solidFill>
                  <a:srgbClr val="000000"/>
                </a:solidFill>
              </a:defRPr>
            </a:pPr>
            <a:r>
              <a:t>MEDIUM RISK: Timeline Overruns</a:t>
            </a:r>
          </a:p>
          <a:p>
            <a:pPr>
              <a:defRPr sz="1400">
                <a:solidFill>
                  <a:srgbClr val="000000"/>
                </a:solidFill>
              </a:defRPr>
            </a:pPr>
            <a:r>
              <a:t>• 12-24 month estimate has HIGH uncertainty</a:t>
            </a:r>
          </a:p>
          <a:p>
            <a:pPr>
              <a:defRPr sz="1400">
                <a:solidFill>
                  <a:srgbClr val="000000"/>
                </a:solidFill>
              </a:defRPr>
            </a:pPr>
            <a:r>
              <a:t>• MITIGATION: Phased approach, pilot testing, parallel overlap</a:t>
            </a:r>
          </a:p>
          <a:p>
            <a:pPr>
              <a:defRPr sz="1800" b="1">
                <a:solidFill>
                  <a:srgbClr val="000000"/>
                </a:solidFill>
              </a:defRPr>
            </a:pPr>
            <a:r>
              <a:t>Option A: Vendor Switch            Option B: Improve Current Relationship</a:t>
            </a:r>
          </a:p>
          <a:p>
            <a:pPr>
              <a:defRPr sz="1400">
                <a:solidFill>
                  <a:srgbClr val="000000"/>
                </a:solidFill>
              </a:defRPr>
            </a:pPr>
            <a:r>
              <a:t>• 12-24 months timeline • Immediate (contract renegotiation)</a:t>
            </a:r>
          </a:p>
          <a:p>
            <a:pPr>
              <a:defRPr sz="1400">
                <a:solidFill>
                  <a:srgbClr val="000000"/>
                </a:solidFill>
              </a:defRPr>
            </a:pPr>
            <a:r>
              <a:t>• €300-600K cost• Minimal cost (leverage existing contract)</a:t>
            </a:r>
          </a:p>
          <a:p>
            <a:pPr>
              <a:defRPr sz="1400">
                <a:solidFill>
                  <a:srgbClr val="000000"/>
                </a:solidFill>
              </a:defRPr>
            </a:pPr>
            <a:r>
              <a:t>• HIGH risk (knowledge transfer)• MEDIUM risk (dependency continues)</a:t>
            </a:r>
          </a:p>
          <a:p>
            <a:pPr>
              <a:defRPr sz="1400">
                <a:solidFill>
                  <a:srgbClr val="000000"/>
                </a:solidFill>
              </a:defRPr>
            </a:pPr>
            <a:r>
              <a:t>• Uncertain outcome • Proven platform (already works)</a:t>
            </a:r>
          </a:p>
          <a:p>
            <a:pPr>
              <a:defRPr sz="1400">
                <a:solidFill>
                  <a:srgbClr val="000000"/>
                </a:solidFill>
              </a:defRPr>
            </a:pPr>
            <a:r>
              <a:t>• Full independence (if successful)• Better terms, more transparency</a:t>
            </a:r>
          </a:p>
          <a:p>
            <a:pPr>
              <a:defRPr sz="1400">
                <a:solidFill>
                  <a:srgbClr val="000000"/>
                </a:solidFill>
              </a:defRPr>
            </a:pPr>
          </a:p>
          <a:p>
            <a:pPr>
              <a:defRPr sz="1800" b="1">
                <a:solidFill>
                  <a:srgbClr val="000000"/>
                </a:solidFill>
              </a:defRPr>
            </a:pPr>
            <a:r>
              <a:t>RECOMMENDATION: Test knowledge transfer BEFORE committing to switch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