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Thank you for your time today. Over the past six weeks, we've conducted a comprehensive audit of your ISWC system. What started as a technical assessment evolved into something much more strategic - an evaluation of vendor independence and governance.</a:t>
            </a:r>
          </a:p>
          <a:p/>
          <a:p>
            <a:r>
              <a:t>Today we'll share what we found, what it means, and most importantly, what we recommend CISAC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audit journey has been revealing. We started October 7 with what seemed like a straightforward technical assessment - validate the infrastructure upgrade proposal, assess the architecture, identify technical debt.</a:t>
            </a:r>
          </a:p>
          <a:p/>
          <a:p>
            <a:r>
              <a:t>But in our very first conversation with Yann, something became clear: the real question wasn't "is this system technically sound?" The question was "does CISAC control this system?"</a:t>
            </a:r>
          </a:p>
          <a:p/>
          <a:p>
            <a:r>
              <a:t>This shifted everything. By October 21, after our first workshops with Spanish Point, we had a frank discussion about what CISAC actually needs from this audit. Yann stated it directly: "My medium-term vision is to get rid of them."</a:t>
            </a:r>
          </a:p>
          <a:p/>
          <a:p>
            <a:r>
              <a:t>Not because the system is bad - but because CISAC cannot manage a strategic information system without control.</a:t>
            </a:r>
          </a:p>
          <a:p/>
          <a:p>
            <a:r>
              <a:t>We spent 25% of our audit duration waiting for code access. We encountered systematic questions about "for what purpose?" when requesting information. We documented governance gaps and transparency issues.</a:t>
            </a:r>
          </a:p>
          <a:p/>
          <a:p>
            <a:r>
              <a:t>By November 6, we completed the investigation phase with high confidence in our findings. Today, we share those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we learned: the ISWC platform is technically sound. The architecture is well-designed. The code quality is reasonable. Auto-scaling is working correctly. Spanish Point upgraded you to .NET 8 just before this audit.</a:t>
            </a:r>
          </a:p>
          <a:p/>
          <a:p>
            <a:r>
              <a:t>These are not the problems.</a:t>
            </a:r>
          </a:p>
          <a:p/>
          <a:p>
            <a:r>
              <a:t>The problems are:</a:t>
            </a:r>
          </a:p>
          <a:p/>
          <a:p>
            <a:r>
              <a:t>1. Governance gaps - A May 2024 production incident that took 6 months to recover from, caused by POC code accidentally merged to production. No deployment tracking existed until Yann established a CAB in response.</a:t>
            </a:r>
          </a:p>
          <a:p/>
          <a:p>
            <a:r>
              <a:t>2. Cost control gap - €50,000/month cloud spending with no automated correlation between usage and costs. Financial stakeholders cannot explain monthly variations.</a:t>
            </a:r>
          </a:p>
          <a:p/>
          <a:p>
            <a:r>
              <a:t>3. Vendor transparency - Systematic defensive posture, access requests questioned, information shared reluctantly.</a:t>
            </a:r>
          </a:p>
          <a:p/>
          <a:p>
            <a:r>
              <a:t>4. Knowledge transfer viability - Unknown whether another vendor could maintain this system. Minimal code comments, significant duplication, "knowledge locked in people's heads."</a:t>
            </a:r>
          </a:p>
          <a:p/>
          <a:p>
            <a:r>
              <a:t>5. Vendor lock-in mechanisms - Matching Engine (contractual restriction), IaC templates (proprietary library), implicit knowledge (no onboarding process).</a:t>
            </a:r>
          </a:p>
          <a:p/>
          <a:p>
            <a:r>
              <a:t>This audit became an assessment of CISAC's ability to control its own strategic infrastructure. Everything we found must be evaluated through that lens.</a:t>
            </a:r>
          </a:p>
          <a:p/>
          <a:p>
            <a:r>
              <a:t>Discussion Prompt: Does this evolution match CISAC's understanding of the situation?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ISWC System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44444"/>
                </a:solidFill>
              </a:defRPr>
            </a:pPr>
            <a:r>
              <a:t>First Conclusions &amp;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Teragone-Factory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Guillaume Jay &amp; Bastien Gallay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8888"/>
                </a:solidFill>
              </a:defRPr>
            </a:pPr>
            <a:r>
              <a:t>November 24,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Audit Journey - How We Got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The Audit Evolution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October 7, 2025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Relaunch meeting with Yann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Scope: vendor independence focus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Budget: 20 man-days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October 20-21, 2025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Initial workshops with Spanish Point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Access challenges revealed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Strategic pivot discussion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October 30, 2025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Checkpoint meeting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Accept constraints, focus on value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12/20 days consumed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November 5-6, 2025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Technical deep-dive workshops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Code access granted (.NET 8)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Investigation phase complete (75%)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November 24, 2025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/>
            </a:pPr>
            <a:r>
              <a:t>  • First restitution (today)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Key Statistics</a:t>
            </a:r>
          </a:p>
          <a:p>
            <a:pPr>
              <a:spcAft>
                <a:spcPts val="800"/>
              </a:spcAft>
              <a:defRPr sz="1600"/>
            </a:pPr>
            <a:r>
              <a:t>• 20 man-days budget</a:t>
            </a:r>
            <a:br/>
            <a:r>
              <a:t>  (12 investigation, 8 synthesis)</a:t>
            </a:r>
          </a:p>
          <a:p>
            <a:pPr>
              <a:spcAft>
                <a:spcPts val="800"/>
              </a:spcAft>
              <a:defRPr sz="1600"/>
            </a:pPr>
            <a:r>
              <a:t>• 6+ workshops with Spanish Point</a:t>
            </a:r>
          </a:p>
          <a:p>
            <a:pPr>
              <a:spcAft>
                <a:spcPts val="800"/>
              </a:spcAft>
              <a:defRPr sz="1600"/>
            </a:pPr>
            <a:r>
              <a:t>• 343 Azure resources analyzed</a:t>
            </a:r>
          </a:p>
          <a:p>
            <a:pPr>
              <a:spcAft>
                <a:spcPts val="800"/>
              </a:spcAft>
              <a:defRPr sz="1600"/>
            </a:pPr>
            <a:r>
              <a:t>• 42+ source code files reviewed</a:t>
            </a:r>
            <a:br/>
            <a:r>
              <a:t>  (Matching Engine integration)</a:t>
            </a:r>
          </a:p>
          <a:p>
            <a:pPr>
              <a:spcAft>
                <a:spcPts val="800"/>
              </a:spcAft>
              <a:defRPr sz="1600"/>
            </a:pPr>
            <a:r>
              <a:t>• 95+ validation rules documented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Strategic Pivot - What This Audit Became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6633"/>
                </a:solidFill>
              </a:defRPr>
            </a:pPr>
            <a:r>
              <a:t>What We Were Asked To Do</a:t>
            </a:r>
          </a:p>
          <a:p>
            <a:pPr>
              <a:spcAft>
                <a:spcPts val="800"/>
              </a:spcAft>
              <a:defRPr sz="1800"/>
            </a:pPr>
            <a:r>
              <a:t>✓ Validate Hyperscale proposal</a:t>
            </a:r>
          </a:p>
          <a:p>
            <a:pPr>
              <a:spcAft>
                <a:spcPts val="800"/>
              </a:spcAft>
              <a:defRPr sz="1800"/>
            </a:pPr>
            <a:r>
              <a:t>✓ Assess architecture quality</a:t>
            </a:r>
          </a:p>
          <a:p>
            <a:pPr>
              <a:spcAft>
                <a:spcPts val="800"/>
              </a:spcAft>
              <a:defRPr sz="1800"/>
            </a:pPr>
            <a:r>
              <a:t>✓ Identify technical debt</a:t>
            </a:r>
          </a:p>
          <a:p>
            <a:pPr>
              <a:spcAft>
                <a:spcPts val="800"/>
              </a:spcAft>
              <a:defRPr sz="1800"/>
            </a:pPr>
            <a:r>
              <a:t>✓ Migration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C0000"/>
                </a:solidFill>
              </a:defRPr>
            </a:pPr>
            <a:r>
              <a:t>What We Actually Discovered</a:t>
            </a:r>
          </a:p>
          <a:p>
            <a:pPr>
              <a:spcAft>
                <a:spcPts val="800"/>
              </a:spcAft>
              <a:defRPr sz="1800">
                <a:solidFill>
                  <a:srgbClr val="FF9900"/>
                </a:solidFill>
              </a:defRPr>
            </a:pPr>
            <a:r>
              <a:t>⚠️  Cost control gap (€600K/year)</a:t>
            </a:r>
          </a:p>
          <a:p>
            <a:pPr>
              <a:spcAft>
                <a:spcPts val="800"/>
              </a:spcAft>
              <a:defRPr sz="1800">
                <a:solidFill>
                  <a:srgbClr val="009900"/>
                </a:solidFill>
              </a:defRPr>
            </a:pPr>
            <a:r>
              <a:t>✓  Platform technically sound</a:t>
            </a:r>
          </a:p>
          <a:p>
            <a:pPr>
              <a:spcAft>
                <a:spcPts val="800"/>
              </a:spcAft>
              <a:defRPr sz="1800">
                <a:solidFill>
                  <a:srgbClr val="009900"/>
                </a:solidFill>
              </a:defRPr>
            </a:pPr>
            <a:r>
              <a:t>✓  Recently upgraded, well-maintained</a:t>
            </a:r>
          </a:p>
          <a:p>
            <a:pPr>
              <a:spcAft>
                <a:spcPts val="800"/>
              </a:spcAft>
              <a:defRPr sz="1800">
                <a:solidFill>
                  <a:srgbClr val="FF9900"/>
                </a:solidFill>
              </a:defRPr>
            </a:pPr>
            <a:r>
              <a:t>⚠️  Governance gaps are the real issue</a:t>
            </a:r>
          </a:p>
          <a:p>
            <a:pPr>
              <a:spcAft>
                <a:spcPts val="800"/>
              </a:spcAft>
              <a:defRPr sz="1800">
                <a:solidFill>
                  <a:srgbClr val="CC0000"/>
                </a:solidFill>
              </a:defRPr>
            </a:pPr>
            <a:r>
              <a:t>🔴 Vendor independence unknown</a:t>
            </a:r>
          </a:p>
          <a:p>
            <a:pPr>
              <a:spcAft>
                <a:spcPts val="800"/>
              </a:spcAft>
              <a:defRPr sz="1800">
                <a:solidFill>
                  <a:srgbClr val="CC0000"/>
                </a:solidFill>
              </a:defRPr>
            </a:pPr>
            <a:r>
              <a:t>🔴 Knowledge transfer HIGH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Key Insight:</a:t>
            </a:r>
          </a:p>
          <a:p>
            <a:pPr algn="ctr">
              <a:defRPr sz="2400" i="1">
                <a:solidFill>
                  <a:srgbClr val="CC0000"/>
                </a:solidFill>
              </a:defRPr>
            </a:pPr>
            <a:r>
              <a:t>"The platform is solid. Control is the problem."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